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0e1234-7945-1eaa-6eb9-9b46fe800e7b}">
          <p14:sldIdLst>
            <p14:sldId id="256"/>
            <p14:sldId id="257"/>
            <p14:sldId id="258"/>
          </p14:sldIdLst>
        </p14:section>
        <p14:section name="Product and orientation" id="{8fb75230-6e2f-f959-a7ac-da242feedb08}">
          <p14:sldIdLst>
            <p14:sldId id="259"/>
            <p14:sldId id="260"/>
            <p14:sldId id="261"/>
          </p14:sldIdLst>
        </p14:section>
        <p14:section name="Competition" id="{270d8069-4257-9cf2-e134-de6efba7cf2e}">
          <p14:sldIdLst>
            <p14:sldId id="262"/>
            <p14:sldId id="263"/>
          </p14:sldIdLst>
        </p14:section>
        <p14:section name="Segmentation" id="{83cb8377-30dc-9c0f-cebe-9620af01cad3}">
          <p14:sldIdLst>
            <p14:sldId id="264"/>
          </p14:sldIdLst>
        </p14:section>
        <p14:section name="Target market" id="{62ce73b9-58d8-c2cf-03ca-b967d034782a}">
          <p14:sldIdLst>
            <p14:sldId id="265"/>
            <p14:sldId id="266"/>
          </p14:sldIdLst>
        </p14:section>
        <p14:section name="Marketing mix" id="{6e795088-af4c-a30d-328d-e72a514c39c3}">
          <p14:sldIdLst>
            <p14:sldId id="267"/>
            <p14:sldId id="268"/>
          </p14:sldIdLst>
        </p14:section>
        <p14:section name="Customer relationships" id="{9d0bd2dc-44fd-f7b1-24c1-636b786cfcd7}">
          <p14:sldIdLst>
            <p14:sldId id="269"/>
          </p14:sldIdLst>
        </p14:section>
        <p14:section name="Conclusion" id="{44a08be6-ca13-33eb-1bb2-7cadb4352ee6}">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E3B2E"/>
                </a:solidFill>
                <a:latin typeface="+mn-lt"/>
              </a:defRPr>
            </a:pPr>
            <a:r>
              <a:rPr sz="1600" b="0" i="0" u="none" strike="noStrike">
                <a:solidFill>
                  <a:srgbClr val="0E3B2E"/>
                </a:solidFill>
                <a:latin typeface="+mn-lt"/>
              </a:rPr>
              <a:t>Price per pack (SDG)</a:t>
            </a:r>
          </a:p>
        </c:rich>
      </c:tx>
      <c:layout/>
      <c:overlay val="0"/>
    </c:title>
    <c:autoTitleDeleted val="0"/>
    <c:plotArea>
      <c:layout/>
      <c:barChart>
        <c:barDir val="col"/>
        <c:grouping val="clustered"/>
        <c:varyColors val="0"/>
        <c:ser>
          <c:idx val="0"/>
          <c:order val="0"/>
          <c:tx>
            <c:strRef>
              <c:f>Sheet1!$B$1</c:f>
              <c:strCache>
                <c:ptCount val="1"/>
                <c:pt idx="0">
                  <c:v>Price per pack (SDG)</c:v>
                </c:pt>
              </c:strCache>
            </c:strRef>
          </c:tx>
          <c:spPr>
            <a:solidFill>
              <a:srgbClr val="FF7A1A"/>
            </a:solidFill>
            <a:effectLst/>
          </c:spPr>
          <c:invertIfNegative val="0"/>
          <c:dLbls>
            <c:numFmt formatCode="#,##0" sourceLinked="0"/>
            <c:txPr>
              <a:bodyPr/>
              <a:lstStyle/>
              <a:p>
                <a:pPr>
                  <a:defRPr b="1" i="0" strike="noStrike" sz="1600" u="none">
                    <a:solidFill>
                      <a:srgbClr val="0E3B2E"/>
                    </a:solidFill>
                    <a:latin typeface="+mn-lt"/>
                  </a:defRPr>
                </a:pPr>
              </a:p>
            </c:txPr>
            <c:showLegendKey val="0"/>
            <c:showVal val="1"/>
            <c:showCatName val="0"/>
            <c:showSerName val="0"/>
            <c:showPercent val="0"/>
            <c:showBubbleSize val="0"/>
            <c:showLeaderLines val="0"/>
          </c:dLbls>
          <c:dPt>
            <c:idx val="0"/>
            <c:invertIfNegative val="0"/>
            <c:bubble3D val="0"/>
            <c:spPr>
              <a:solidFill>
                <a:srgbClr val="FF7A1A"/>
              </a:solidFill>
              <a:effectLst/>
            </c:spPr>
          </c:dPt>
          <c:dPt>
            <c:idx val="1"/>
            <c:invertIfNegative val="0"/>
            <c:bubble3D val="0"/>
            <c:spPr>
              <a:solidFill>
                <a:srgbClr val="1A9A93"/>
              </a:solidFill>
              <a:effectLst/>
            </c:spPr>
          </c:dPt>
          <c:cat>
            <c:multiLvlStrRef>
              <c:f>Sheet1!$A$2:$A$3</c:f>
              <c:multiLvlStrCache>
                <c:ptCount val="2"/>
                <c:lvl>
                  <c:pt idx="0">
                    <c:v>FitBite</c:v>
                  </c:pt>
                  <c:pt idx="1">
                    <c:v>Competing products (est.)</c:v>
                  </c:pt>
                </c:lvl>
              </c:multiLvlStrCache>
            </c:multiLvlStrRef>
          </c:cat>
          <c:val>
            <c:numRef>
              <c:f>Sheet1!$B$2:$B$3</c:f>
              <c:numCache>
                <c:formatCode>General</c:formatCode>
                <c:ptCount val="2"/>
                <c:pt idx="0">
                  <c:v>1000</c:v>
                </c:pt>
                <c:pt idx="1">
                  <c:v>1500</c:v>
                </c:pt>
              </c:numCache>
            </c:numRef>
          </c:val>
        </c:ser>
        <c:dLbls>
          <c:numFmt formatCode="#,##0" sourceLinked="0"/>
          <c:txPr>
            <a:bodyPr/>
            <a:lstStyle/>
            <a:p>
              <a:pPr>
                <a:defRPr b="1" i="0" strike="noStrike" sz="1600" u="none">
                  <a:solidFill>
                    <a:srgbClr val="0E3B2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E2B25"/>
                </a:solidFill>
                <a:latin typeface="+mn-lt"/>
              </a:defRPr>
            </a:pPr>
            <a:endParaRPr lang="en-US"/>
          </a:p>
        </c:txPr>
        <c:crossAx val="2094734552"/>
        <c:crosses val="autoZero"/>
        <c:auto val="1"/>
        <c:lblAlgn val="ctr"/>
        <c:noMultiLvlLbl val="1"/>
      </c:catAx>
      <c:valAx>
        <c:axId val="2094734552"/>
        <c:scaling>
          <c:orientation val="minMax"/>
          <c:max val="18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2F6F3"/>
        </a:solidFill>
        <a:ln>
          <a:noFill/>
        </a:ln>
        <a:effectLst/>
      </c:spPr>
    </c:plotArea>
    <c:plotVisOnly val="1"/>
    <c:dispBlanksAs val="span"/>
  </c:chart>
  <c:spPr>
    <a:solidFill>
      <a:srgbClr val="F2F6F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briefing walks through the FitBite marketing strategy: what the product is, who it is for, how we will price, place and promote it, and how we will keep customers coming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FitBite is a low-cost, locally familiar snack for students and young employees. It enters at 1,000 Sudanese pounds against roughly 1,500 for competitors, which is about a third cheaper. We start in Khartoum, Omdurman and Bahri. We win by building around customer needs, pricing for penetration, sampling heavily, and rewarding repeat purchases.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then the plan on one page. Each section has its own colour, and the dot next to each slide's label tells you which section you are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FitBite is made from dates, peanuts, oats and sesame seeds: ingredients that are familiar and nutritious. The pack is small and practical. The core value combines great taste, convenience and affordability at 1,000 Sudanese 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is simple. Customers pay money and receive energy, nutrition and taste. The company receives revenue and, just as important, customer feedback that shapes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the Marketing Concept: start from what customers need and want. FitBite came out of a real need, represented by our persona Ahmed. The alternatives each carry a risk: the Production Concept can ignore preferences, the Product Concept can push prices too high, and the Selling Concept leans on aggressive promotion rather than loyalty.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competitors offer similar benefits for the same purpose: Tiger Bar, Break Bar, Abu Auf and Datto. Indirect competitors are anything else people buy to satisfy hunger: Royal biscuits, Captain Majid chips, Cadbury chocolate, bakery products and fresh fruit.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three advantages: ingredients Sudanese consumers already know and like, a pack that is easy to carry, and a price of 1,000 pounds versus about 1,500 for many competitors. That is roughly a third cheaper. The competitor price is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segment on four dimensions. Demographic: 16 to 35, students and employees on low to middle incomes. Geographic: Khartoum, Omdurman and Bahri, near universities and gyms. Psychographic: people who want convenient, familiar, affordable snacks for an active life. Behavioral: regular snack buyers who need quick refreshment and respond to discounts and multipacks.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target is university students aged 18 to 30. Secondary: gym members and busy professionals. Students buy snacks regularly, which means repeat sales, and they are cheap to reach through TikTok, Instagram and word of mouth. One caution: the idea that this market is more than 40 percent of the total is an assumption and must be checked with market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is 22, a university student on a limited budget. He needs a snack that is affordable, tasty and nutritious, that fits in his backpack and that he can eat between lectures. FitBite was designed for exactly this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local ingredients, a small pack that carries product information, expiry date and allergen warnings, and a brand built around an active lifestyle. The message is: Great Taste, Convenient Energy, Ready for Your Day. Price: market penetration. We enter at 1,000 pounds against an estimated 1,500, with student and multipack discounts, to drive first purchases and build share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grocery stores and supermarkets, university cafeterias, gyms and fitness centers, and direct online sales through Facebook, Instagram and TikTok. Promotion: social media ads, free samples at universities and gyms, influencer reviews, point-of-sale posters, and word of mouth from satisfied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relationships run as a cycle. Good quality at affordable prices drives satisfaction. Special offers drive repeat purchases. A loyalty program, buy nine packs and get one free, builds trust. And we listen to feedback to improve the product and add new flavors, which feeds back into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bring it together, five moves. Launch where students are. Enter at 1,000 pounds with discounts. Drive trial through free samples, influencers and social media. Reward loyalty with buy nine, get one free. And validate the market-size assumption with research while using feedback to develop new flavors.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B 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B Content">
    <p:bg>
      <p:bgPr>
        <a:solidFill>
          <a:schemeClr val="bg1"/>
        </a:solidFill>
      </p:bgPr>
    </p:bg>
    <p:spTree>
      <p:nvGrpSpPr>
        <p:cNvPr id="1" name=""/>
        <p:cNvGrpSpPr/>
        <p:nvPr/>
      </p:nvGrpSpPr>
      <p:grpSpPr>
        <a:xfrm>
          <a:off x="0" y="0"/>
          <a:ext cx="0" cy="0"/>
          <a:chOff x="0" y="0"/>
          <a:chExt cx="0" cy="0"/>
        </a:xfrm>
      </p:grpSpPr>
      <p:pic>
        <p:nvPicPr>
          <p:cNvPr id="2" name="Image 0" descr="/home/user/Other/fitbite/logo/fitbite-icon.png">    </p:cNvPr>
          <p:cNvPicPr>
            <a:picLocks noChangeAspect="1"/>
          </p:cNvPicPr>
          <p:nvPr/>
        </p:nvPicPr>
        <p:blipFill>
          <a:blip r:embed="rId1"/>
          <a:stretch>
            <a:fillRect/>
          </a:stretch>
        </p:blipFill>
        <p:spPr>
          <a:xfrm>
            <a:off x="548640" y="6382512"/>
            <a:ext cx="274320" cy="274320"/>
          </a:xfrm>
          <a:prstGeom prst="rect">
            <a:avLst/>
          </a:prstGeom>
        </p:spPr>
      </p:pic>
      <p:sp>
        <p:nvSpPr>
          <p:cNvPr id="3" name="Text 0"/>
          <p:cNvSpPr/>
          <p:nvPr/>
        </p:nvSpPr>
        <p:spPr>
          <a:xfrm>
            <a:off x="932688" y="6364224"/>
            <a:ext cx="3657600" cy="310896"/>
          </a:xfrm>
          <a:prstGeom prst="rect">
            <a:avLst/>
          </a:prstGeom>
          <a:noFill/>
          <a:ln/>
        </p:spPr>
        <p:txBody>
          <a:bodyPr wrap="square" lIns="0" tIns="0" rIns="0" bIns="0" rtlCol="0" anchor="ctr"/>
          <a:lstStyle/>
          <a:p>
            <a:pPr indent="0" marL="0">
              <a:buNone/>
            </a:pPr>
            <a:r>
              <a:rPr lang="en-US" sz="1100" dirty="0">
                <a:solidFill>
                  <a:schemeClr val="accent6"/>
                </a:solidFill>
              </a:rPr>
              <a:t>FitBite  ·  Marketing Strategy</a:t>
            </a:r>
            <a:endParaRPr lang="en-US" sz="1100" dirty="0"/>
          </a:p>
        </p:txBody>
      </p:sp>
      <p:sp>
        <p:nvSpPr>
          <p:cNvPr id="4" name="Text 1"/>
          <p:cNvSpPr/>
          <p:nvPr>
            <p:ph idx="102" type="body" hasCustomPrompt="1"/>
          </p:nvPr>
        </p:nvSpPr>
        <p:spPr>
          <a:xfrm>
            <a:off x="804672" y="402336"/>
            <a:ext cx="8229600" cy="310896"/>
          </a:xfrm>
          <a:prstGeom prst="rect">
            <a:avLst/>
          </a:prstGeom>
          <a:noFill/>
          <a:ln/>
        </p:spPr>
        <p:txBody>
          <a:bodyPr wrap="square" rtlCol="0"/>
          <a:lstStyle>
            <a:lvl1pPr indent="0" marL="0">
              <a:buNone/>
              <a:defRPr lang="en-US" sz="1200" b="1" spc="200" kern="0" dirty="0">
                <a:solidFill>
                  <a:schemeClr val="tx2"/>
                </a:solidFill>
              </a:defRPr>
            </a:lvl1pPr>
          </a:lstStyle>
          <a:p>
            <a:pPr indent="0" marL="0">
              <a:buNone/>
            </a:pPr>
            <a:endParaRPr lang="en-US" sz="1200" dirty="0"/>
          </a:p>
        </p:txBody>
      </p:sp>
      <p:sp>
        <p:nvSpPr>
          <p:cNvPr id="5" name="Text 1"/>
          <p:cNvSpPr/>
          <p:nvPr>
            <p:ph idx="103" type="title" hasCustomPrompt="1"/>
          </p:nvPr>
        </p:nvSpPr>
        <p:spPr>
          <a:xfrm>
            <a:off x="548640" y="749808"/>
            <a:ext cx="11094415" cy="749808"/>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B Dark">
    <p:bg>
      <p:bgPr>
        <a:solidFill>
          <a:schemeClr val="tx2"/>
        </a:solidFill>
      </p:bgPr>
    </p:bg>
    <p:spTree>
      <p:nvGrpSpPr>
        <p:cNvPr id="1" name=""/>
        <p:cNvGrpSpPr/>
        <p:nvPr/>
      </p:nvGrpSpPr>
      <p:grpSpPr>
        <a:xfrm>
          <a:off x="0" y="0"/>
          <a:ext cx="0" cy="0"/>
          <a:chOff x="0" y="0"/>
          <a:chExt cx="0" cy="0"/>
        </a:xfrm>
      </p:grpSpPr>
      <p:pic>
        <p:nvPicPr>
          <p:cNvPr id="2" name="Image 0" descr="/home/user/Other/fitbite/logo/fitbite-icon.png">    </p:cNvPr>
          <p:cNvPicPr>
            <a:picLocks noChangeAspect="1"/>
          </p:cNvPicPr>
          <p:nvPr/>
        </p:nvPicPr>
        <p:blipFill>
          <a:blip r:embed="rId1"/>
          <a:stretch>
            <a:fillRect/>
          </a:stretch>
        </p:blipFill>
        <p:spPr>
          <a:xfrm>
            <a:off x="548640" y="6382512"/>
            <a:ext cx="274320" cy="274320"/>
          </a:xfrm>
          <a:prstGeom prst="rect">
            <a:avLst/>
          </a:prstGeom>
        </p:spPr>
      </p:pic>
      <p:sp>
        <p:nvSpPr>
          <p:cNvPr id="3" name="Text 0"/>
          <p:cNvSpPr/>
          <p:nvPr/>
        </p:nvSpPr>
        <p:spPr>
          <a:xfrm>
            <a:off x="932688" y="6364224"/>
            <a:ext cx="3657600" cy="310896"/>
          </a:xfrm>
          <a:prstGeom prst="rect">
            <a:avLst/>
          </a:prstGeom>
          <a:noFill/>
          <a:ln/>
        </p:spPr>
        <p:txBody>
          <a:bodyPr wrap="square" lIns="0" tIns="0" rIns="0" bIns="0" rtlCol="0" anchor="ctr"/>
          <a:lstStyle/>
          <a:p>
            <a:pPr indent="0" marL="0">
              <a:buNone/>
            </a:pPr>
            <a:r>
              <a:rPr lang="en-US" sz="1100" dirty="0">
                <a:solidFill>
                  <a:schemeClr val="bg1"/>
                </a:solidFill>
              </a:rPr>
              <a:t>FitBite  ·  Marketing Strategy</a:t>
            </a:r>
            <a:endParaRPr lang="en-US" sz="1100" dirty="0"/>
          </a:p>
        </p:txBody>
      </p:sp>
      <p:sp>
        <p:nvSpPr>
          <p:cNvPr id="4" name="Text 1"/>
          <p:cNvSpPr/>
          <p:nvPr>
            <p:ph idx="102" type="body" hasCustomPrompt="1"/>
          </p:nvPr>
        </p:nvSpPr>
        <p:spPr>
          <a:xfrm>
            <a:off x="804672" y="402336"/>
            <a:ext cx="8229600" cy="310896"/>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5" name="Text 1"/>
          <p:cNvSpPr/>
          <p:nvPr>
            <p:ph idx="103" type="title" hasCustomPrompt="1"/>
          </p:nvPr>
        </p:nvSpPr>
        <p:spPr>
          <a:xfrm>
            <a:off x="548640" y="749808"/>
            <a:ext cx="11094415" cy="749808"/>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3.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slideLayout" Target="../slideLayouts/slideLayout3.xml"/><Relationship Id="rId1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yellow"/>
          <p:cNvSpPr/>
          <p:nvPr/>
        </p:nvSpPr>
        <p:spPr>
          <a:xfrm>
            <a:off x="10881360" y="502920"/>
            <a:ext cx="640080" cy="640080"/>
          </a:xfrm>
          <a:prstGeom prst="ellipse">
            <a:avLst/>
          </a:prstGeom>
          <a:solidFill>
            <a:schemeClr val="accent3"/>
          </a:solidFill>
          <a:ln/>
        </p:spPr>
      </p:sp>
      <p:sp>
        <p:nvSpPr>
          <p:cNvPr id="3" name="Decor berry"/>
          <p:cNvSpPr/>
          <p:nvPr/>
        </p:nvSpPr>
        <p:spPr>
          <a:xfrm>
            <a:off x="6720840" y="5440680"/>
            <a:ext cx="384048" cy="384048"/>
          </a:xfrm>
          <a:prstGeom prst="ellipse">
            <a:avLst/>
          </a:prstGeom>
          <a:solidFill>
            <a:schemeClr val="accent4"/>
          </a:solidFill>
          <a:ln/>
        </p:spPr>
      </p:sp>
      <p:sp>
        <p:nvSpPr>
          <p:cNvPr id="4" name="Decor green"/>
          <p:cNvSpPr/>
          <p:nvPr/>
        </p:nvSpPr>
        <p:spPr>
          <a:xfrm>
            <a:off x="11155680" y="5349240"/>
            <a:ext cx="914400" cy="914400"/>
          </a:xfrm>
          <a:prstGeom prst="ellipse">
            <a:avLst/>
          </a:prstGeom>
          <a:solidFill>
            <a:schemeClr val="accent2"/>
          </a:solidFill>
          <a:ln/>
        </p:spPr>
      </p:sp>
      <p:sp>
        <p:nvSpPr>
          <p:cNvPr id="5" name="Decor orange"/>
          <p:cNvSpPr/>
          <p:nvPr/>
        </p:nvSpPr>
        <p:spPr>
          <a:xfrm>
            <a:off x="6309360" y="914400"/>
            <a:ext cx="237744" cy="237744"/>
          </a:xfrm>
          <a:prstGeom prst="ellipse">
            <a:avLst/>
          </a:prstGeom>
          <a:solidFill>
            <a:schemeClr val="accent1"/>
          </a:solidFill>
          <a:ln/>
        </p:spPr>
      </p:sp>
      <p:pic>
        <p:nvPicPr>
          <p:cNvPr id="6" name="FitBite logo" descr="FitBite healthy snack logo">    </p:cNvPr>
          <p:cNvPicPr>
            <a:picLocks noChangeAspect="1"/>
          </p:cNvPicPr>
          <p:nvPr/>
        </p:nvPicPr>
        <p:blipFill>
          <a:blip r:embed="rId1"/>
          <a:stretch>
            <a:fillRect/>
          </a:stretch>
        </p:blipFill>
        <p:spPr>
          <a:xfrm>
            <a:off x="7086600" y="1325880"/>
            <a:ext cx="4297680" cy="3781958"/>
          </a:xfrm>
          <a:prstGeom prst="rect">
            <a:avLst/>
          </a:prstGeom>
        </p:spPr>
      </p:pic>
      <p:sp>
        <p:nvSpPr>
          <p:cNvPr id="7" name="Cover label"/>
          <p:cNvSpPr txBox="1"/>
          <p:nvPr/>
        </p:nvSpPr>
        <p:spPr>
          <a:xfrm>
            <a:off x="640080" y="1417320"/>
            <a:ext cx="5486400" cy="365760"/>
          </a:xfrm>
          <a:prstGeom prst="rect">
            <a:avLst/>
          </a:prstGeom>
          <a:noFill/>
          <a:ln/>
        </p:spPr>
        <p:txBody>
          <a:bodyPr wrap="square" lIns="0" tIns="0" rIns="0" bIns="0" rtlCol="0" anchor="t"/>
          <a:lstStyle/>
          <a:p>
            <a:pPr indent="0" marL="0">
              <a:buNone/>
            </a:pPr>
            <a:r>
              <a:rPr lang="en-US" sz="1400" b="1" spc="300" kern="0" dirty="0">
                <a:solidFill>
                  <a:schemeClr val="accent3"/>
                </a:solidFill>
              </a:rPr>
              <a:t>EXECUTIVE BRIEFING</a:t>
            </a:r>
            <a:endParaRPr lang="en-US" sz="1400" dirty="0"/>
          </a:p>
        </p:txBody>
      </p:sp>
      <p:sp>
        <p:nvSpPr>
          <p:cNvPr id="8" name="Cover title"/>
          <p:cNvSpPr txBox="1"/>
          <p:nvPr/>
        </p:nvSpPr>
        <p:spPr>
          <a:xfrm>
            <a:off x="640080" y="1874520"/>
            <a:ext cx="6035040" cy="1737360"/>
          </a:xfrm>
          <a:prstGeom prst="rect">
            <a:avLst/>
          </a:prstGeom>
          <a:noFill/>
          <a:ln/>
        </p:spPr>
        <p:txBody>
          <a:bodyPr wrap="square" lIns="0" tIns="0" rIns="0" bIns="0" rtlCol="0" anchor="t"/>
          <a:lstStyle/>
          <a:p>
            <a:pPr indent="0" marL="0">
              <a:buNone/>
            </a:pPr>
            <a:r>
              <a:rPr lang="en-US" sz="6000" b="1" dirty="0">
                <a:solidFill>
                  <a:schemeClr val="bg1"/>
                </a:solidFill>
                <a:latin typeface="Calibri" pitchFamily="34" charset="0"/>
                <a:ea typeface="Calibri" pitchFamily="34" charset="-122"/>
                <a:cs typeface="Calibri" pitchFamily="34" charset="-120"/>
              </a:rPr>
              <a:t>Marketing Strategy</a:t>
            </a:r>
            <a:endParaRPr lang="en-US" sz="6000" dirty="0"/>
          </a:p>
        </p:txBody>
      </p:sp>
      <p:sp>
        <p:nvSpPr>
          <p:cNvPr id="9" name="Cover subtitle"/>
          <p:cNvSpPr txBox="1"/>
          <p:nvPr/>
        </p:nvSpPr>
        <p:spPr>
          <a:xfrm>
            <a:off x="640080" y="3611880"/>
            <a:ext cx="6035040" cy="548640"/>
          </a:xfrm>
          <a:prstGeom prst="rect">
            <a:avLst/>
          </a:prstGeom>
          <a:noFill/>
          <a:ln/>
        </p:spPr>
        <p:txBody>
          <a:bodyPr wrap="square" lIns="0" tIns="0" rIns="0" bIns="0" rtlCol="0" anchor="t"/>
          <a:lstStyle/>
          <a:p>
            <a:pPr indent="0" marL="0">
              <a:buNone/>
            </a:pPr>
            <a:r>
              <a:rPr lang="en-US" sz="2800" b="1" dirty="0">
                <a:solidFill>
                  <a:schemeClr val="accent1"/>
                </a:solidFill>
              </a:rPr>
              <a:t>FitBite Healthy Snack</a:t>
            </a:r>
            <a:endParaRPr lang="en-US" sz="2800" dirty="0"/>
          </a:p>
        </p:txBody>
      </p:sp>
      <p:sp>
        <p:nvSpPr>
          <p:cNvPr id="10" name="Cover tagline"/>
          <p:cNvSpPr txBox="1"/>
          <p:nvPr/>
        </p:nvSpPr>
        <p:spPr>
          <a:xfrm>
            <a:off x="640080" y="4343400"/>
            <a:ext cx="5852160" cy="822960"/>
          </a:xfrm>
          <a:prstGeom prst="rect">
            <a:avLst/>
          </a:prstGeom>
          <a:noFill/>
          <a:ln/>
        </p:spPr>
        <p:txBody>
          <a:bodyPr wrap="square" lIns="0" tIns="0" rIns="0" bIns="0" rtlCol="0" anchor="t"/>
          <a:lstStyle/>
          <a:p>
            <a:pPr indent="0" marL="0">
              <a:buNone/>
            </a:pPr>
            <a:r>
              <a:rPr lang="en-US" sz="2000" i="1" dirty="0">
                <a:solidFill>
                  <a:schemeClr val="bg1"/>
                </a:solidFill>
              </a:rPr>
              <a:t>“Great Taste, Convenient Energy, Ready for Your Day!”</a:t>
            </a:r>
            <a:endParaRPr lang="en-US" sz="20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1"/>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EXECUTIVE SUMMARY</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FitBite at a glance</a:t>
            </a:r>
            <a:endParaRPr lang="en-US" sz="3400" dirty="0"/>
          </a:p>
        </p:txBody>
      </p:sp>
      <p:sp>
        <p:nvSpPr>
          <p:cNvPr id="5" name="Summary line"/>
          <p:cNvSpPr txBox="1"/>
          <p:nvPr/>
        </p:nvSpPr>
        <p:spPr>
          <a:xfrm>
            <a:off x="548640" y="1536192"/>
            <a:ext cx="11094415" cy="640080"/>
          </a:xfrm>
          <a:prstGeom prst="rect">
            <a:avLst/>
          </a:prstGeom>
          <a:noFill/>
          <a:ln/>
        </p:spPr>
        <p:txBody>
          <a:bodyPr wrap="square" lIns="0" tIns="0" rIns="0" bIns="0" rtlCol="0" anchor="t"/>
          <a:lstStyle/>
          <a:p>
            <a:pPr indent="0" marL="0">
              <a:buNone/>
            </a:pPr>
            <a:r>
              <a:rPr lang="en-US" sz="1700" dirty="0">
                <a:solidFill>
                  <a:schemeClr val="accent6"/>
                </a:solidFill>
              </a:rPr>
              <a:t>A locally made, affordable snack designed around a real customer need, and launched with penetration pricing, free sampling and a loyalty program.</a:t>
            </a:r>
            <a:endParaRPr lang="en-US" sz="1700" dirty="0"/>
          </a:p>
        </p:txBody>
      </p:sp>
      <p:sp>
        <p:nvSpPr>
          <p:cNvPr id="6" name="Stat card 1"/>
          <p:cNvSpPr/>
          <p:nvPr/>
        </p:nvSpPr>
        <p:spPr>
          <a:xfrm>
            <a:off x="548640" y="2377440"/>
            <a:ext cx="2567864" cy="2057400"/>
          </a:xfrm>
          <a:prstGeom prst="roundRect">
            <a:avLst>
              <a:gd name="adj" fmla="val 8000"/>
            </a:avLst>
          </a:prstGeom>
          <a:solidFill>
            <a:schemeClr val="accent1">
              <a:alpha val="14000"/>
            </a:schemeClr>
          </a:solidFill>
          <a:ln/>
        </p:spPr>
      </p:sp>
      <p:sp>
        <p:nvSpPr>
          <p:cNvPr id="7" name="Stat 1 circle"/>
          <p:cNvSpPr/>
          <p:nvPr/>
        </p:nvSpPr>
        <p:spPr>
          <a:xfrm>
            <a:off x="822960" y="2651760"/>
            <a:ext cx="640080" cy="640080"/>
          </a:xfrm>
          <a:prstGeom prst="ellipse">
            <a:avLst/>
          </a:prstGeom>
          <a:solidFill>
            <a:schemeClr val="accent1"/>
          </a:solidFill>
          <a:ln/>
        </p:spPr>
      </p:sp>
      <p:pic>
        <p:nvPicPr>
          <p:cNvPr id="8" name="Stat 1 icon" descr="Stat 1">    </p:cNvPr>
          <p:cNvPicPr>
            <a:picLocks noChangeAspect="1"/>
          </p:cNvPicPr>
          <p:nvPr/>
        </p:nvPicPr>
        <p:blipFill>
          <a:blip r:embed="rId1"/>
          <a:stretch>
            <a:fillRect/>
          </a:stretch>
        </p:blipFill>
        <p:spPr>
          <a:xfrm>
            <a:off x="976579" y="2805379"/>
            <a:ext cx="332842" cy="332842"/>
          </a:xfrm>
          <a:prstGeom prst="rect">
            <a:avLst/>
          </a:prstGeom>
        </p:spPr>
      </p:pic>
      <p:sp>
        <p:nvSpPr>
          <p:cNvPr id="9" name="Stat 1 value"/>
          <p:cNvSpPr txBox="1"/>
          <p:nvPr/>
        </p:nvSpPr>
        <p:spPr>
          <a:xfrm>
            <a:off x="822960" y="3383280"/>
            <a:ext cx="2110664" cy="502920"/>
          </a:xfrm>
          <a:prstGeom prst="rect">
            <a:avLst/>
          </a:prstGeom>
          <a:noFill/>
          <a:ln/>
        </p:spPr>
        <p:txBody>
          <a:bodyPr wrap="square" lIns="0" tIns="0" rIns="0" bIns="0" rtlCol="0" anchor="t"/>
          <a:lstStyle/>
          <a:p>
            <a:pPr indent="0" marL="0">
              <a:buNone/>
            </a:pPr>
            <a:r>
              <a:rPr lang="en-US" sz="2800" b="1" dirty="0">
                <a:solidFill>
                  <a:schemeClr val="tx2"/>
                </a:solidFill>
              </a:rPr>
              <a:t>1,000 SDG</a:t>
            </a:r>
            <a:endParaRPr lang="en-US" sz="2800" dirty="0"/>
          </a:p>
        </p:txBody>
      </p:sp>
      <p:sp>
        <p:nvSpPr>
          <p:cNvPr id="10" name="Stat 1 label"/>
          <p:cNvSpPr txBox="1"/>
          <p:nvPr/>
        </p:nvSpPr>
        <p:spPr>
          <a:xfrm>
            <a:off x="822960" y="3858768"/>
            <a:ext cx="2110664" cy="548640"/>
          </a:xfrm>
          <a:prstGeom prst="rect">
            <a:avLst/>
          </a:prstGeom>
          <a:noFill/>
          <a:ln/>
        </p:spPr>
        <p:txBody>
          <a:bodyPr wrap="square" lIns="0" tIns="0" rIns="0" bIns="0" rtlCol="0" anchor="t"/>
          <a:lstStyle/>
          <a:p>
            <a:pPr indent="0" marL="0">
              <a:buNone/>
            </a:pPr>
            <a:r>
              <a:rPr lang="en-US" sz="1400" dirty="0">
                <a:solidFill>
                  <a:schemeClr val="tx1"/>
                </a:solidFill>
              </a:rPr>
              <a:t>Introductory price per pack</a:t>
            </a:r>
            <a:endParaRPr lang="en-US" sz="1400" dirty="0"/>
          </a:p>
        </p:txBody>
      </p:sp>
      <p:sp>
        <p:nvSpPr>
          <p:cNvPr id="11" name="Stat card 2"/>
          <p:cNvSpPr/>
          <p:nvPr/>
        </p:nvSpPr>
        <p:spPr>
          <a:xfrm>
            <a:off x="3390824" y="2377440"/>
            <a:ext cx="2567864" cy="2057400"/>
          </a:xfrm>
          <a:prstGeom prst="roundRect">
            <a:avLst>
              <a:gd name="adj" fmla="val 8000"/>
            </a:avLst>
          </a:prstGeom>
          <a:solidFill>
            <a:schemeClr val="accent2">
              <a:alpha val="14000"/>
            </a:schemeClr>
          </a:solidFill>
          <a:ln/>
        </p:spPr>
      </p:sp>
      <p:sp>
        <p:nvSpPr>
          <p:cNvPr id="12" name="Stat 2 circle"/>
          <p:cNvSpPr/>
          <p:nvPr/>
        </p:nvSpPr>
        <p:spPr>
          <a:xfrm>
            <a:off x="3665144" y="2651760"/>
            <a:ext cx="640080" cy="640080"/>
          </a:xfrm>
          <a:prstGeom prst="ellipse">
            <a:avLst/>
          </a:prstGeom>
          <a:solidFill>
            <a:schemeClr val="accent2"/>
          </a:solidFill>
          <a:ln/>
        </p:spPr>
      </p:sp>
      <p:pic>
        <p:nvPicPr>
          <p:cNvPr id="13" name="Stat 2 icon" descr="Stat 2">    </p:cNvPr>
          <p:cNvPicPr>
            <a:picLocks noChangeAspect="1"/>
          </p:cNvPicPr>
          <p:nvPr/>
        </p:nvPicPr>
        <p:blipFill>
          <a:blip r:embed="rId2"/>
          <a:stretch>
            <a:fillRect/>
          </a:stretch>
        </p:blipFill>
        <p:spPr>
          <a:xfrm>
            <a:off x="3818763" y="2805379"/>
            <a:ext cx="332842" cy="332842"/>
          </a:xfrm>
          <a:prstGeom prst="rect">
            <a:avLst/>
          </a:prstGeom>
        </p:spPr>
      </p:pic>
      <p:sp>
        <p:nvSpPr>
          <p:cNvPr id="14" name="Stat 2 value"/>
          <p:cNvSpPr txBox="1"/>
          <p:nvPr/>
        </p:nvSpPr>
        <p:spPr>
          <a:xfrm>
            <a:off x="3665144" y="3383280"/>
            <a:ext cx="2110664" cy="502920"/>
          </a:xfrm>
          <a:prstGeom prst="rect">
            <a:avLst/>
          </a:prstGeom>
          <a:noFill/>
          <a:ln/>
        </p:spPr>
        <p:txBody>
          <a:bodyPr wrap="square" lIns="0" tIns="0" rIns="0" bIns="0" rtlCol="0" anchor="t"/>
          <a:lstStyle/>
          <a:p>
            <a:pPr indent="0" marL="0">
              <a:buNone/>
            </a:pPr>
            <a:r>
              <a:rPr lang="en-US" sz="2800" b="1" dirty="0">
                <a:solidFill>
                  <a:schemeClr val="tx2"/>
                </a:solidFill>
              </a:rPr>
              <a:t>≈ 33% lower</a:t>
            </a:r>
            <a:endParaRPr lang="en-US" sz="2800" dirty="0"/>
          </a:p>
        </p:txBody>
      </p:sp>
      <p:sp>
        <p:nvSpPr>
          <p:cNvPr id="15" name="Stat 2 label"/>
          <p:cNvSpPr txBox="1"/>
          <p:nvPr/>
        </p:nvSpPr>
        <p:spPr>
          <a:xfrm>
            <a:off x="3665144" y="3858768"/>
            <a:ext cx="2110664" cy="548640"/>
          </a:xfrm>
          <a:prstGeom prst="rect">
            <a:avLst/>
          </a:prstGeom>
          <a:noFill/>
          <a:ln/>
        </p:spPr>
        <p:txBody>
          <a:bodyPr wrap="square" lIns="0" tIns="0" rIns="0" bIns="0" rtlCol="0" anchor="t"/>
          <a:lstStyle/>
          <a:p>
            <a:pPr indent="0" marL="0">
              <a:buNone/>
            </a:pPr>
            <a:r>
              <a:rPr lang="en-US" sz="1400" dirty="0">
                <a:solidFill>
                  <a:schemeClr val="tx1"/>
                </a:solidFill>
              </a:rPr>
              <a:t>Than the estimated 1,500 SDG competitor price</a:t>
            </a:r>
            <a:endParaRPr lang="en-US" sz="1400" dirty="0"/>
          </a:p>
        </p:txBody>
      </p:sp>
      <p:sp>
        <p:nvSpPr>
          <p:cNvPr id="16" name="Stat card 3"/>
          <p:cNvSpPr/>
          <p:nvPr/>
        </p:nvSpPr>
        <p:spPr>
          <a:xfrm>
            <a:off x="6233008" y="2377440"/>
            <a:ext cx="2567864" cy="2057400"/>
          </a:xfrm>
          <a:prstGeom prst="roundRect">
            <a:avLst>
              <a:gd name="adj" fmla="val 8000"/>
            </a:avLst>
          </a:prstGeom>
          <a:solidFill>
            <a:schemeClr val="accent3">
              <a:alpha val="14000"/>
            </a:schemeClr>
          </a:solidFill>
          <a:ln/>
        </p:spPr>
      </p:sp>
      <p:sp>
        <p:nvSpPr>
          <p:cNvPr id="17" name="Stat 3 circle"/>
          <p:cNvSpPr/>
          <p:nvPr/>
        </p:nvSpPr>
        <p:spPr>
          <a:xfrm>
            <a:off x="6507328" y="2651760"/>
            <a:ext cx="640080" cy="640080"/>
          </a:xfrm>
          <a:prstGeom prst="ellipse">
            <a:avLst/>
          </a:prstGeom>
          <a:solidFill>
            <a:schemeClr val="accent3"/>
          </a:solidFill>
          <a:ln/>
        </p:spPr>
      </p:sp>
      <p:pic>
        <p:nvPicPr>
          <p:cNvPr id="18" name="Stat 3 icon" descr="Stat 3">    </p:cNvPr>
          <p:cNvPicPr>
            <a:picLocks noChangeAspect="1"/>
          </p:cNvPicPr>
          <p:nvPr/>
        </p:nvPicPr>
        <p:blipFill>
          <a:blip r:embed="rId3"/>
          <a:stretch>
            <a:fillRect/>
          </a:stretch>
        </p:blipFill>
        <p:spPr>
          <a:xfrm>
            <a:off x="6660947" y="2805379"/>
            <a:ext cx="332842" cy="332842"/>
          </a:xfrm>
          <a:prstGeom prst="rect">
            <a:avLst/>
          </a:prstGeom>
        </p:spPr>
      </p:pic>
      <p:sp>
        <p:nvSpPr>
          <p:cNvPr id="19" name="Stat 3 value"/>
          <p:cNvSpPr txBox="1"/>
          <p:nvPr/>
        </p:nvSpPr>
        <p:spPr>
          <a:xfrm>
            <a:off x="6507328" y="3383280"/>
            <a:ext cx="2110664" cy="502920"/>
          </a:xfrm>
          <a:prstGeom prst="rect">
            <a:avLst/>
          </a:prstGeom>
          <a:noFill/>
          <a:ln/>
        </p:spPr>
        <p:txBody>
          <a:bodyPr wrap="square" lIns="0" tIns="0" rIns="0" bIns="0" rtlCol="0" anchor="t"/>
          <a:lstStyle/>
          <a:p>
            <a:pPr indent="0" marL="0">
              <a:buNone/>
            </a:pPr>
            <a:r>
              <a:rPr lang="en-US" sz="2800" b="1" dirty="0">
                <a:solidFill>
                  <a:schemeClr val="tx2"/>
                </a:solidFill>
              </a:rPr>
              <a:t>Ages 16–35</a:t>
            </a:r>
            <a:endParaRPr lang="en-US" sz="2800" dirty="0"/>
          </a:p>
        </p:txBody>
      </p:sp>
      <p:sp>
        <p:nvSpPr>
          <p:cNvPr id="20" name="Stat 3 label"/>
          <p:cNvSpPr txBox="1"/>
          <p:nvPr/>
        </p:nvSpPr>
        <p:spPr>
          <a:xfrm>
            <a:off x="6507328" y="3858768"/>
            <a:ext cx="2110664" cy="548640"/>
          </a:xfrm>
          <a:prstGeom prst="rect">
            <a:avLst/>
          </a:prstGeom>
          <a:noFill/>
          <a:ln/>
        </p:spPr>
        <p:txBody>
          <a:bodyPr wrap="square" lIns="0" tIns="0" rIns="0" bIns="0" rtlCol="0" anchor="t"/>
          <a:lstStyle/>
          <a:p>
            <a:pPr indent="0" marL="0">
              <a:buNone/>
            </a:pPr>
            <a:r>
              <a:rPr lang="en-US" sz="1400" dirty="0">
                <a:solidFill>
                  <a:schemeClr val="tx1"/>
                </a:solidFill>
              </a:rPr>
              <a:t>Students and employees with low to middle incomes</a:t>
            </a:r>
            <a:endParaRPr lang="en-US" sz="1400" dirty="0"/>
          </a:p>
        </p:txBody>
      </p:sp>
      <p:sp>
        <p:nvSpPr>
          <p:cNvPr id="21" name="Stat card 4"/>
          <p:cNvSpPr/>
          <p:nvPr/>
        </p:nvSpPr>
        <p:spPr>
          <a:xfrm>
            <a:off x="9075191" y="2377440"/>
            <a:ext cx="2567864" cy="2057400"/>
          </a:xfrm>
          <a:prstGeom prst="roundRect">
            <a:avLst>
              <a:gd name="adj" fmla="val 8000"/>
            </a:avLst>
          </a:prstGeom>
          <a:solidFill>
            <a:schemeClr val="accent4">
              <a:alpha val="14000"/>
            </a:schemeClr>
          </a:solidFill>
          <a:ln/>
        </p:spPr>
      </p:sp>
      <p:sp>
        <p:nvSpPr>
          <p:cNvPr id="22" name="Stat 4 circle"/>
          <p:cNvSpPr/>
          <p:nvPr/>
        </p:nvSpPr>
        <p:spPr>
          <a:xfrm>
            <a:off x="9349511" y="2651760"/>
            <a:ext cx="640080" cy="640080"/>
          </a:xfrm>
          <a:prstGeom prst="ellipse">
            <a:avLst/>
          </a:prstGeom>
          <a:solidFill>
            <a:schemeClr val="accent4"/>
          </a:solidFill>
          <a:ln/>
        </p:spPr>
      </p:sp>
      <p:pic>
        <p:nvPicPr>
          <p:cNvPr id="23" name="Stat 4 icon" descr="Stat 4">    </p:cNvPr>
          <p:cNvPicPr>
            <a:picLocks noChangeAspect="1"/>
          </p:cNvPicPr>
          <p:nvPr/>
        </p:nvPicPr>
        <p:blipFill>
          <a:blip r:embed="rId4"/>
          <a:stretch>
            <a:fillRect/>
          </a:stretch>
        </p:blipFill>
        <p:spPr>
          <a:xfrm>
            <a:off x="9503131" y="2805379"/>
            <a:ext cx="332842" cy="332842"/>
          </a:xfrm>
          <a:prstGeom prst="rect">
            <a:avLst/>
          </a:prstGeom>
        </p:spPr>
      </p:pic>
      <p:sp>
        <p:nvSpPr>
          <p:cNvPr id="24" name="Stat 4 value"/>
          <p:cNvSpPr txBox="1"/>
          <p:nvPr/>
        </p:nvSpPr>
        <p:spPr>
          <a:xfrm>
            <a:off x="9349511" y="3383280"/>
            <a:ext cx="2110664" cy="502920"/>
          </a:xfrm>
          <a:prstGeom prst="rect">
            <a:avLst/>
          </a:prstGeom>
          <a:noFill/>
          <a:ln/>
        </p:spPr>
        <p:txBody>
          <a:bodyPr wrap="square" lIns="0" tIns="0" rIns="0" bIns="0" rtlCol="0" anchor="t"/>
          <a:lstStyle/>
          <a:p>
            <a:pPr indent="0" marL="0">
              <a:buNone/>
            </a:pPr>
            <a:r>
              <a:rPr lang="en-US" sz="2800" b="1" dirty="0">
                <a:solidFill>
                  <a:schemeClr val="tx2"/>
                </a:solidFill>
              </a:rPr>
              <a:t>3 cities</a:t>
            </a:r>
            <a:endParaRPr lang="en-US" sz="2800" dirty="0"/>
          </a:p>
        </p:txBody>
      </p:sp>
      <p:sp>
        <p:nvSpPr>
          <p:cNvPr id="25" name="Stat 4 label"/>
          <p:cNvSpPr txBox="1"/>
          <p:nvPr/>
        </p:nvSpPr>
        <p:spPr>
          <a:xfrm>
            <a:off x="9349511" y="3858768"/>
            <a:ext cx="2110664" cy="548640"/>
          </a:xfrm>
          <a:prstGeom prst="rect">
            <a:avLst/>
          </a:prstGeom>
          <a:noFill/>
          <a:ln/>
        </p:spPr>
        <p:txBody>
          <a:bodyPr wrap="square" lIns="0" tIns="0" rIns="0" bIns="0" rtlCol="0" anchor="t"/>
          <a:lstStyle/>
          <a:p>
            <a:pPr indent="0" marL="0">
              <a:buNone/>
            </a:pPr>
            <a:r>
              <a:rPr lang="en-US" sz="1400" dirty="0">
                <a:solidFill>
                  <a:schemeClr val="tx1"/>
                </a:solidFill>
              </a:rPr>
              <a:t>Khartoum, Omdurman and Bahri at launch</a:t>
            </a:r>
            <a:endParaRPr lang="en-US" sz="1400" dirty="0"/>
          </a:p>
        </p:txBody>
      </p:sp>
      <p:sp>
        <p:nvSpPr>
          <p:cNvPr id="26" name="How we win label"/>
          <p:cNvSpPr txBox="1"/>
          <p:nvPr/>
        </p:nvSpPr>
        <p:spPr>
          <a:xfrm>
            <a:off x="548640" y="4681728"/>
            <a:ext cx="3657600" cy="274320"/>
          </a:xfrm>
          <a:prstGeom prst="rect">
            <a:avLst/>
          </a:prstGeom>
          <a:noFill/>
          <a:ln/>
        </p:spPr>
        <p:txBody>
          <a:bodyPr wrap="square" lIns="0" tIns="0" rIns="0" bIns="0" rtlCol="0" anchor="t"/>
          <a:lstStyle/>
          <a:p>
            <a:pPr indent="0" marL="0">
              <a:buNone/>
            </a:pPr>
            <a:r>
              <a:rPr lang="en-US" sz="1200" b="1" spc="200" kern="0" dirty="0">
                <a:solidFill>
                  <a:schemeClr val="tx2"/>
                </a:solidFill>
              </a:rPr>
              <a:t>HOW WE WIN</a:t>
            </a:r>
            <a:endParaRPr lang="en-US" sz="1200" dirty="0"/>
          </a:p>
        </p:txBody>
      </p:sp>
      <p:sp>
        <p:nvSpPr>
          <p:cNvPr id="27" name="Win 1"/>
          <p:cNvSpPr/>
          <p:nvPr/>
        </p:nvSpPr>
        <p:spPr>
          <a:xfrm>
            <a:off x="548640" y="5029200"/>
            <a:ext cx="3515258" cy="960120"/>
          </a:xfrm>
          <a:prstGeom prst="roundRect">
            <a:avLst>
              <a:gd name="adj" fmla="val 17143"/>
            </a:avLst>
          </a:prstGeom>
          <a:solidFill>
            <a:schemeClr val="tx2"/>
          </a:solidFill>
          <a:ln/>
        </p:spPr>
      </p:sp>
      <p:sp>
        <p:nvSpPr>
          <p:cNvPr id="28" name="Win 1 dot"/>
          <p:cNvSpPr/>
          <p:nvPr/>
        </p:nvSpPr>
        <p:spPr>
          <a:xfrm>
            <a:off x="777240" y="5303520"/>
            <a:ext cx="411480" cy="411480"/>
          </a:xfrm>
          <a:prstGeom prst="ellipse">
            <a:avLst/>
          </a:prstGeom>
          <a:solidFill>
            <a:schemeClr val="accent1"/>
          </a:solidFill>
          <a:ln/>
        </p:spPr>
      </p:sp>
      <p:sp>
        <p:nvSpPr>
          <p:cNvPr id="29" name="Win 1 number"/>
          <p:cNvSpPr txBox="1"/>
          <p:nvPr/>
        </p:nvSpPr>
        <p:spPr>
          <a:xfrm>
            <a:off x="777240" y="530352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30" name="Win 1 text"/>
          <p:cNvSpPr txBox="1"/>
          <p:nvPr/>
        </p:nvSpPr>
        <p:spPr>
          <a:xfrm>
            <a:off x="1353312" y="5138928"/>
            <a:ext cx="2555138" cy="740664"/>
          </a:xfrm>
          <a:prstGeom prst="rect">
            <a:avLst/>
          </a:prstGeom>
          <a:noFill/>
          <a:ln/>
        </p:spPr>
        <p:txBody>
          <a:bodyPr wrap="square" lIns="0" tIns="0" rIns="0" bIns="0" rtlCol="0" anchor="ctr"/>
          <a:lstStyle/>
          <a:p>
            <a:pPr indent="0" marL="0">
              <a:buNone/>
            </a:pPr>
            <a:r>
              <a:rPr lang="en-US" sz="1500" b="1" dirty="0">
                <a:solidFill>
                  <a:schemeClr val="bg1"/>
                </a:solidFill>
              </a:rPr>
              <a:t>Built on real customer needs: the Marketing Concept</a:t>
            </a:r>
            <a:endParaRPr lang="en-US" sz="1500" dirty="0"/>
          </a:p>
        </p:txBody>
      </p:sp>
      <p:sp>
        <p:nvSpPr>
          <p:cNvPr id="31" name="Win 2"/>
          <p:cNvSpPr/>
          <p:nvPr/>
        </p:nvSpPr>
        <p:spPr>
          <a:xfrm>
            <a:off x="4338218" y="5029200"/>
            <a:ext cx="3515258" cy="960120"/>
          </a:xfrm>
          <a:prstGeom prst="roundRect">
            <a:avLst>
              <a:gd name="adj" fmla="val 17143"/>
            </a:avLst>
          </a:prstGeom>
          <a:solidFill>
            <a:schemeClr val="tx2"/>
          </a:solidFill>
          <a:ln/>
        </p:spPr>
      </p:sp>
      <p:sp>
        <p:nvSpPr>
          <p:cNvPr id="32" name="Win 2 dot"/>
          <p:cNvSpPr/>
          <p:nvPr/>
        </p:nvSpPr>
        <p:spPr>
          <a:xfrm>
            <a:off x="4566818" y="5303520"/>
            <a:ext cx="411480" cy="411480"/>
          </a:xfrm>
          <a:prstGeom prst="ellipse">
            <a:avLst/>
          </a:prstGeom>
          <a:solidFill>
            <a:schemeClr val="accent1"/>
          </a:solidFill>
          <a:ln/>
        </p:spPr>
      </p:sp>
      <p:sp>
        <p:nvSpPr>
          <p:cNvPr id="33" name="Win 2 number"/>
          <p:cNvSpPr txBox="1"/>
          <p:nvPr/>
        </p:nvSpPr>
        <p:spPr>
          <a:xfrm>
            <a:off x="4566818" y="530352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34" name="Win 2 text"/>
          <p:cNvSpPr txBox="1"/>
          <p:nvPr/>
        </p:nvSpPr>
        <p:spPr>
          <a:xfrm>
            <a:off x="5142890" y="5138928"/>
            <a:ext cx="2555138" cy="740664"/>
          </a:xfrm>
          <a:prstGeom prst="rect">
            <a:avLst/>
          </a:prstGeom>
          <a:noFill/>
          <a:ln/>
        </p:spPr>
        <p:txBody>
          <a:bodyPr wrap="square" lIns="0" tIns="0" rIns="0" bIns="0" rtlCol="0" anchor="ctr"/>
          <a:lstStyle/>
          <a:p>
            <a:pPr indent="0" marL="0">
              <a:buNone/>
            </a:pPr>
            <a:r>
              <a:rPr lang="en-US" sz="1500" b="1" dirty="0">
                <a:solidFill>
                  <a:schemeClr val="bg1"/>
                </a:solidFill>
              </a:rPr>
              <a:t>Penetration pricing plus free samples on campus and at gyms</a:t>
            </a:r>
            <a:endParaRPr lang="en-US" sz="1500" dirty="0"/>
          </a:p>
        </p:txBody>
      </p:sp>
      <p:sp>
        <p:nvSpPr>
          <p:cNvPr id="35" name="Win 3"/>
          <p:cNvSpPr/>
          <p:nvPr/>
        </p:nvSpPr>
        <p:spPr>
          <a:xfrm>
            <a:off x="8127797" y="5029200"/>
            <a:ext cx="3515258" cy="960120"/>
          </a:xfrm>
          <a:prstGeom prst="roundRect">
            <a:avLst>
              <a:gd name="adj" fmla="val 17143"/>
            </a:avLst>
          </a:prstGeom>
          <a:solidFill>
            <a:schemeClr val="tx2"/>
          </a:solidFill>
          <a:ln/>
        </p:spPr>
      </p:sp>
      <p:sp>
        <p:nvSpPr>
          <p:cNvPr id="36" name="Win 3 dot"/>
          <p:cNvSpPr/>
          <p:nvPr/>
        </p:nvSpPr>
        <p:spPr>
          <a:xfrm>
            <a:off x="8356397" y="5303520"/>
            <a:ext cx="411480" cy="411480"/>
          </a:xfrm>
          <a:prstGeom prst="ellipse">
            <a:avLst/>
          </a:prstGeom>
          <a:solidFill>
            <a:schemeClr val="accent1"/>
          </a:solidFill>
          <a:ln/>
        </p:spPr>
      </p:sp>
      <p:sp>
        <p:nvSpPr>
          <p:cNvPr id="37" name="Win 3 number"/>
          <p:cNvSpPr txBox="1"/>
          <p:nvPr/>
        </p:nvSpPr>
        <p:spPr>
          <a:xfrm>
            <a:off x="8356397" y="530352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38" name="Win 3 text"/>
          <p:cNvSpPr txBox="1"/>
          <p:nvPr/>
        </p:nvSpPr>
        <p:spPr>
          <a:xfrm>
            <a:off x="8932469" y="5138928"/>
            <a:ext cx="2555138" cy="740664"/>
          </a:xfrm>
          <a:prstGeom prst="rect">
            <a:avLst/>
          </a:prstGeom>
          <a:noFill/>
          <a:ln/>
        </p:spPr>
        <p:txBody>
          <a:bodyPr wrap="square" lIns="0" tIns="0" rIns="0" bIns="0" rtlCol="0" anchor="ctr"/>
          <a:lstStyle/>
          <a:p>
            <a:pPr indent="0" marL="0">
              <a:buNone/>
            </a:pPr>
            <a:r>
              <a:rPr lang="en-US" sz="1500" b="1" dirty="0">
                <a:solidFill>
                  <a:schemeClr val="bg1"/>
                </a:solidFill>
              </a:rPr>
              <a:t>Loyalty that rewards habit: buy 9 packs, get 1 free</a:t>
            </a:r>
            <a:endParaRPr lang="en-US" sz="15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2"/>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AGENDA</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What we will cover</a:t>
            </a:r>
            <a:endParaRPr lang="en-US" sz="3400" dirty="0"/>
          </a:p>
        </p:txBody>
      </p:sp>
      <p:sp>
        <p:nvSpPr>
          <p:cNvPr id="5" name="Agenda 01"/>
          <p:cNvSpPr/>
          <p:nvPr/>
        </p:nvSpPr>
        <p:spPr>
          <a:xfrm>
            <a:off x="548640" y="1737360"/>
            <a:ext cx="3515258" cy="2057400"/>
          </a:xfrm>
          <a:prstGeom prst="roundRect">
            <a:avLst>
              <a:gd name="adj" fmla="val 8000"/>
            </a:avLst>
          </a:prstGeom>
          <a:solidFill>
            <a:schemeClr val="bg2"/>
          </a:solidFill>
          <a:ln/>
        </p:spPr>
      </p:sp>
      <p:sp>
        <p:nvSpPr>
          <p:cNvPr id="6" name="Agenda 01 circle"/>
          <p:cNvSpPr/>
          <p:nvPr/>
        </p:nvSpPr>
        <p:spPr>
          <a:xfrm>
            <a:off x="822960" y="2011680"/>
            <a:ext cx="731520" cy="731520"/>
          </a:xfrm>
          <a:prstGeom prst="ellipse">
            <a:avLst/>
          </a:prstGeom>
          <a:solidFill>
            <a:schemeClr val="accent1"/>
          </a:solidFill>
          <a:ln/>
        </p:spPr>
      </p:sp>
      <p:sp>
        <p:nvSpPr>
          <p:cNvPr id="7" name="Agenda 01 number"/>
          <p:cNvSpPr txBox="1"/>
          <p:nvPr/>
        </p:nvSpPr>
        <p:spPr>
          <a:xfrm>
            <a:off x="822960" y="2011680"/>
            <a:ext cx="731520" cy="731520"/>
          </a:xfrm>
          <a:prstGeom prst="rect">
            <a:avLst/>
          </a:prstGeom>
          <a:noFill/>
          <a:ln/>
        </p:spPr>
        <p:txBody>
          <a:bodyPr wrap="square" lIns="0" tIns="0" rIns="0" bIns="0" rtlCol="0" anchor="ctr"/>
          <a:lstStyle/>
          <a:p>
            <a:pPr algn="ctr" indent="0" marL="0">
              <a:buNone/>
            </a:pPr>
            <a:r>
              <a:rPr lang="en-US" sz="2000" b="1" dirty="0">
                <a:solidFill>
                  <a:schemeClr val="tx2"/>
                </a:solidFill>
              </a:rPr>
              <a:t>01</a:t>
            </a:r>
            <a:endParaRPr lang="en-US" sz="2000" dirty="0"/>
          </a:p>
        </p:txBody>
      </p:sp>
      <p:sp>
        <p:nvSpPr>
          <p:cNvPr id="8" name="Agenda 01 title"/>
          <p:cNvSpPr txBox="1"/>
          <p:nvPr/>
        </p:nvSpPr>
        <p:spPr>
          <a:xfrm>
            <a:off x="822960" y="2834640"/>
            <a:ext cx="2966618" cy="365760"/>
          </a:xfrm>
          <a:prstGeom prst="rect">
            <a:avLst/>
          </a:prstGeom>
          <a:noFill/>
          <a:ln/>
        </p:spPr>
        <p:txBody>
          <a:bodyPr wrap="square" lIns="0" tIns="0" rIns="0" bIns="0" rtlCol="0" anchor="t"/>
          <a:lstStyle/>
          <a:p>
            <a:pPr indent="0" marL="0">
              <a:buNone/>
            </a:pPr>
            <a:r>
              <a:rPr lang="en-US" sz="1900" b="1" dirty="0">
                <a:solidFill>
                  <a:schemeClr val="tx2"/>
                </a:solidFill>
              </a:rPr>
              <a:t>Product and orientation</a:t>
            </a:r>
            <a:endParaRPr lang="en-US" sz="1900" dirty="0"/>
          </a:p>
        </p:txBody>
      </p:sp>
      <p:sp>
        <p:nvSpPr>
          <p:cNvPr id="9" name="Agenda 01 detail"/>
          <p:cNvSpPr txBox="1"/>
          <p:nvPr/>
        </p:nvSpPr>
        <p:spPr>
          <a:xfrm>
            <a:off x="822960" y="320040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What FitBite is and why we lead with customer needs</a:t>
            </a:r>
            <a:endParaRPr lang="en-US" sz="1400" dirty="0"/>
          </a:p>
        </p:txBody>
      </p:sp>
      <p:sp>
        <p:nvSpPr>
          <p:cNvPr id="10" name="Agenda 02"/>
          <p:cNvSpPr/>
          <p:nvPr/>
        </p:nvSpPr>
        <p:spPr>
          <a:xfrm>
            <a:off x="4338218" y="1737360"/>
            <a:ext cx="3515258" cy="2057400"/>
          </a:xfrm>
          <a:prstGeom prst="roundRect">
            <a:avLst>
              <a:gd name="adj" fmla="val 8000"/>
            </a:avLst>
          </a:prstGeom>
          <a:solidFill>
            <a:schemeClr val="bg2"/>
          </a:solidFill>
          <a:ln/>
        </p:spPr>
      </p:sp>
      <p:sp>
        <p:nvSpPr>
          <p:cNvPr id="11" name="Agenda 02 circle"/>
          <p:cNvSpPr/>
          <p:nvPr/>
        </p:nvSpPr>
        <p:spPr>
          <a:xfrm>
            <a:off x="4612538" y="2011680"/>
            <a:ext cx="731520" cy="731520"/>
          </a:xfrm>
          <a:prstGeom prst="ellipse">
            <a:avLst/>
          </a:prstGeom>
          <a:solidFill>
            <a:schemeClr val="accent2"/>
          </a:solidFill>
          <a:ln/>
        </p:spPr>
      </p:sp>
      <p:sp>
        <p:nvSpPr>
          <p:cNvPr id="12" name="Agenda 02 number"/>
          <p:cNvSpPr txBox="1"/>
          <p:nvPr/>
        </p:nvSpPr>
        <p:spPr>
          <a:xfrm>
            <a:off x="4612538" y="201168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02</a:t>
            </a:r>
            <a:endParaRPr lang="en-US" sz="2000" dirty="0"/>
          </a:p>
        </p:txBody>
      </p:sp>
      <p:sp>
        <p:nvSpPr>
          <p:cNvPr id="13" name="Agenda 02 title"/>
          <p:cNvSpPr txBox="1"/>
          <p:nvPr/>
        </p:nvSpPr>
        <p:spPr>
          <a:xfrm>
            <a:off x="4612538" y="2834640"/>
            <a:ext cx="2966618" cy="365760"/>
          </a:xfrm>
          <a:prstGeom prst="rect">
            <a:avLst/>
          </a:prstGeom>
          <a:noFill/>
          <a:ln/>
        </p:spPr>
        <p:txBody>
          <a:bodyPr wrap="square" lIns="0" tIns="0" rIns="0" bIns="0" rtlCol="0" anchor="t"/>
          <a:lstStyle/>
          <a:p>
            <a:pPr indent="0" marL="0">
              <a:buNone/>
            </a:pPr>
            <a:r>
              <a:rPr lang="en-US" sz="1900" b="1" dirty="0">
                <a:solidFill>
                  <a:schemeClr val="tx2"/>
                </a:solidFill>
              </a:rPr>
              <a:t>Competition</a:t>
            </a:r>
            <a:endParaRPr lang="en-US" sz="1900" dirty="0"/>
          </a:p>
        </p:txBody>
      </p:sp>
      <p:sp>
        <p:nvSpPr>
          <p:cNvPr id="14" name="Agenda 02 detail"/>
          <p:cNvSpPr txBox="1"/>
          <p:nvPr/>
        </p:nvSpPr>
        <p:spPr>
          <a:xfrm>
            <a:off x="4612538" y="320040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Who we compete with and where we win</a:t>
            </a:r>
            <a:endParaRPr lang="en-US" sz="1400" dirty="0"/>
          </a:p>
        </p:txBody>
      </p:sp>
      <p:sp>
        <p:nvSpPr>
          <p:cNvPr id="15" name="Agenda 03"/>
          <p:cNvSpPr/>
          <p:nvPr/>
        </p:nvSpPr>
        <p:spPr>
          <a:xfrm>
            <a:off x="8127797" y="1737360"/>
            <a:ext cx="3515258" cy="2057400"/>
          </a:xfrm>
          <a:prstGeom prst="roundRect">
            <a:avLst>
              <a:gd name="adj" fmla="val 8000"/>
            </a:avLst>
          </a:prstGeom>
          <a:solidFill>
            <a:schemeClr val="bg2"/>
          </a:solidFill>
          <a:ln/>
        </p:spPr>
      </p:sp>
      <p:sp>
        <p:nvSpPr>
          <p:cNvPr id="16" name="Agenda 03 circle"/>
          <p:cNvSpPr/>
          <p:nvPr/>
        </p:nvSpPr>
        <p:spPr>
          <a:xfrm>
            <a:off x="8402117" y="2011680"/>
            <a:ext cx="731520" cy="731520"/>
          </a:xfrm>
          <a:prstGeom prst="ellipse">
            <a:avLst/>
          </a:prstGeom>
          <a:solidFill>
            <a:schemeClr val="accent3"/>
          </a:solidFill>
          <a:ln/>
        </p:spPr>
      </p:sp>
      <p:sp>
        <p:nvSpPr>
          <p:cNvPr id="17" name="Agenda 03 number"/>
          <p:cNvSpPr txBox="1"/>
          <p:nvPr/>
        </p:nvSpPr>
        <p:spPr>
          <a:xfrm>
            <a:off x="8402117" y="2011680"/>
            <a:ext cx="731520" cy="731520"/>
          </a:xfrm>
          <a:prstGeom prst="rect">
            <a:avLst/>
          </a:prstGeom>
          <a:noFill/>
          <a:ln/>
        </p:spPr>
        <p:txBody>
          <a:bodyPr wrap="square" lIns="0" tIns="0" rIns="0" bIns="0" rtlCol="0" anchor="ctr"/>
          <a:lstStyle/>
          <a:p>
            <a:pPr algn="ctr" indent="0" marL="0">
              <a:buNone/>
            </a:pPr>
            <a:r>
              <a:rPr lang="en-US" sz="2000" b="1" dirty="0">
                <a:solidFill>
                  <a:schemeClr val="tx2"/>
                </a:solidFill>
              </a:rPr>
              <a:t>03</a:t>
            </a:r>
            <a:endParaRPr lang="en-US" sz="2000" dirty="0"/>
          </a:p>
        </p:txBody>
      </p:sp>
      <p:sp>
        <p:nvSpPr>
          <p:cNvPr id="18" name="Agenda 03 title"/>
          <p:cNvSpPr txBox="1"/>
          <p:nvPr/>
        </p:nvSpPr>
        <p:spPr>
          <a:xfrm>
            <a:off x="8402117" y="2834640"/>
            <a:ext cx="2966618" cy="365760"/>
          </a:xfrm>
          <a:prstGeom prst="rect">
            <a:avLst/>
          </a:prstGeom>
          <a:noFill/>
          <a:ln/>
        </p:spPr>
        <p:txBody>
          <a:bodyPr wrap="square" lIns="0" tIns="0" rIns="0" bIns="0" rtlCol="0" anchor="t"/>
          <a:lstStyle/>
          <a:p>
            <a:pPr indent="0" marL="0">
              <a:buNone/>
            </a:pPr>
            <a:r>
              <a:rPr lang="en-US" sz="1900" b="1" dirty="0">
                <a:solidFill>
                  <a:schemeClr val="tx2"/>
                </a:solidFill>
              </a:rPr>
              <a:t>Segmentation</a:t>
            </a:r>
            <a:endParaRPr lang="en-US" sz="1900" dirty="0"/>
          </a:p>
        </p:txBody>
      </p:sp>
      <p:sp>
        <p:nvSpPr>
          <p:cNvPr id="19" name="Agenda 03 detail"/>
          <p:cNvSpPr txBox="1"/>
          <p:nvPr/>
        </p:nvSpPr>
        <p:spPr>
          <a:xfrm>
            <a:off x="8402117" y="320040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Four ways we divide the market</a:t>
            </a:r>
            <a:endParaRPr lang="en-US" sz="1400" dirty="0"/>
          </a:p>
        </p:txBody>
      </p:sp>
      <p:sp>
        <p:nvSpPr>
          <p:cNvPr id="20" name="Agenda 04"/>
          <p:cNvSpPr/>
          <p:nvPr/>
        </p:nvSpPr>
        <p:spPr>
          <a:xfrm>
            <a:off x="548640" y="4069080"/>
            <a:ext cx="3515258" cy="2057400"/>
          </a:xfrm>
          <a:prstGeom prst="roundRect">
            <a:avLst>
              <a:gd name="adj" fmla="val 8000"/>
            </a:avLst>
          </a:prstGeom>
          <a:solidFill>
            <a:schemeClr val="bg2"/>
          </a:solidFill>
          <a:ln/>
        </p:spPr>
      </p:sp>
      <p:sp>
        <p:nvSpPr>
          <p:cNvPr id="21" name="Agenda 04 circle"/>
          <p:cNvSpPr/>
          <p:nvPr/>
        </p:nvSpPr>
        <p:spPr>
          <a:xfrm>
            <a:off x="822960" y="4343400"/>
            <a:ext cx="731520" cy="731520"/>
          </a:xfrm>
          <a:prstGeom prst="ellipse">
            <a:avLst/>
          </a:prstGeom>
          <a:solidFill>
            <a:schemeClr val="accent4"/>
          </a:solidFill>
          <a:ln/>
        </p:spPr>
      </p:sp>
      <p:sp>
        <p:nvSpPr>
          <p:cNvPr id="22" name="Agenda 04 number"/>
          <p:cNvSpPr txBox="1"/>
          <p:nvPr/>
        </p:nvSpPr>
        <p:spPr>
          <a:xfrm>
            <a:off x="822960" y="434340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04</a:t>
            </a:r>
            <a:endParaRPr lang="en-US" sz="2000" dirty="0"/>
          </a:p>
        </p:txBody>
      </p:sp>
      <p:sp>
        <p:nvSpPr>
          <p:cNvPr id="23" name="Agenda 04 title"/>
          <p:cNvSpPr txBox="1"/>
          <p:nvPr/>
        </p:nvSpPr>
        <p:spPr>
          <a:xfrm>
            <a:off x="822960" y="5166360"/>
            <a:ext cx="2966618" cy="365760"/>
          </a:xfrm>
          <a:prstGeom prst="rect">
            <a:avLst/>
          </a:prstGeom>
          <a:noFill/>
          <a:ln/>
        </p:spPr>
        <p:txBody>
          <a:bodyPr wrap="square" lIns="0" tIns="0" rIns="0" bIns="0" rtlCol="0" anchor="t"/>
          <a:lstStyle/>
          <a:p>
            <a:pPr indent="0" marL="0">
              <a:buNone/>
            </a:pPr>
            <a:r>
              <a:rPr lang="en-US" sz="1900" b="1" dirty="0">
                <a:solidFill>
                  <a:schemeClr val="tx2"/>
                </a:solidFill>
              </a:rPr>
              <a:t>Target market</a:t>
            </a:r>
            <a:endParaRPr lang="en-US" sz="1900" dirty="0"/>
          </a:p>
        </p:txBody>
      </p:sp>
      <p:sp>
        <p:nvSpPr>
          <p:cNvPr id="24" name="Agenda 04 detail"/>
          <p:cNvSpPr txBox="1"/>
          <p:nvPr/>
        </p:nvSpPr>
        <p:spPr>
          <a:xfrm>
            <a:off x="822960" y="553212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Who we serve first, and meet Ahmed</a:t>
            </a:r>
            <a:endParaRPr lang="en-US" sz="1400" dirty="0"/>
          </a:p>
        </p:txBody>
      </p:sp>
      <p:sp>
        <p:nvSpPr>
          <p:cNvPr id="25" name="Agenda 05"/>
          <p:cNvSpPr/>
          <p:nvPr/>
        </p:nvSpPr>
        <p:spPr>
          <a:xfrm>
            <a:off x="4338218" y="4069080"/>
            <a:ext cx="3515258" cy="2057400"/>
          </a:xfrm>
          <a:prstGeom prst="roundRect">
            <a:avLst>
              <a:gd name="adj" fmla="val 8000"/>
            </a:avLst>
          </a:prstGeom>
          <a:solidFill>
            <a:schemeClr val="bg2"/>
          </a:solidFill>
          <a:ln/>
        </p:spPr>
      </p:sp>
      <p:sp>
        <p:nvSpPr>
          <p:cNvPr id="26" name="Agenda 05 circle"/>
          <p:cNvSpPr/>
          <p:nvPr/>
        </p:nvSpPr>
        <p:spPr>
          <a:xfrm>
            <a:off x="4612538" y="4343400"/>
            <a:ext cx="731520" cy="731520"/>
          </a:xfrm>
          <a:prstGeom prst="ellipse">
            <a:avLst/>
          </a:prstGeom>
          <a:solidFill>
            <a:schemeClr val="accent5"/>
          </a:solidFill>
          <a:ln/>
        </p:spPr>
      </p:sp>
      <p:sp>
        <p:nvSpPr>
          <p:cNvPr id="27" name="Agenda 05 number"/>
          <p:cNvSpPr txBox="1"/>
          <p:nvPr/>
        </p:nvSpPr>
        <p:spPr>
          <a:xfrm>
            <a:off x="4612538" y="434340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05</a:t>
            </a:r>
            <a:endParaRPr lang="en-US" sz="2000" dirty="0"/>
          </a:p>
        </p:txBody>
      </p:sp>
      <p:sp>
        <p:nvSpPr>
          <p:cNvPr id="28" name="Agenda 05 title"/>
          <p:cNvSpPr txBox="1"/>
          <p:nvPr/>
        </p:nvSpPr>
        <p:spPr>
          <a:xfrm>
            <a:off x="4612538" y="5166360"/>
            <a:ext cx="2966618" cy="365760"/>
          </a:xfrm>
          <a:prstGeom prst="rect">
            <a:avLst/>
          </a:prstGeom>
          <a:noFill/>
          <a:ln/>
        </p:spPr>
        <p:txBody>
          <a:bodyPr wrap="square" lIns="0" tIns="0" rIns="0" bIns="0" rtlCol="0" anchor="t"/>
          <a:lstStyle/>
          <a:p>
            <a:pPr indent="0" marL="0">
              <a:buNone/>
            </a:pPr>
            <a:r>
              <a:rPr lang="en-US" sz="1900" b="1" dirty="0">
                <a:solidFill>
                  <a:schemeClr val="tx2"/>
                </a:solidFill>
              </a:rPr>
              <a:t>Marketing mix</a:t>
            </a:r>
            <a:endParaRPr lang="en-US" sz="1900" dirty="0"/>
          </a:p>
        </p:txBody>
      </p:sp>
      <p:sp>
        <p:nvSpPr>
          <p:cNvPr id="29" name="Agenda 05 detail"/>
          <p:cNvSpPr txBox="1"/>
          <p:nvPr/>
        </p:nvSpPr>
        <p:spPr>
          <a:xfrm>
            <a:off x="4612538" y="553212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Product, Price, Place and Promotion</a:t>
            </a:r>
            <a:endParaRPr lang="en-US" sz="1400" dirty="0"/>
          </a:p>
        </p:txBody>
      </p:sp>
      <p:sp>
        <p:nvSpPr>
          <p:cNvPr id="30" name="Agenda 06"/>
          <p:cNvSpPr/>
          <p:nvPr/>
        </p:nvSpPr>
        <p:spPr>
          <a:xfrm>
            <a:off x="8127797" y="4069080"/>
            <a:ext cx="3515258" cy="2057400"/>
          </a:xfrm>
          <a:prstGeom prst="roundRect">
            <a:avLst>
              <a:gd name="adj" fmla="val 8000"/>
            </a:avLst>
          </a:prstGeom>
          <a:solidFill>
            <a:schemeClr val="bg2"/>
          </a:solidFill>
          <a:ln/>
        </p:spPr>
      </p:sp>
      <p:sp>
        <p:nvSpPr>
          <p:cNvPr id="31" name="Agenda 06 circle"/>
          <p:cNvSpPr/>
          <p:nvPr/>
        </p:nvSpPr>
        <p:spPr>
          <a:xfrm>
            <a:off x="8402117" y="4343400"/>
            <a:ext cx="731520" cy="731520"/>
          </a:xfrm>
          <a:prstGeom prst="ellipse">
            <a:avLst/>
          </a:prstGeom>
          <a:solidFill>
            <a:schemeClr val="tx2"/>
          </a:solidFill>
          <a:ln/>
        </p:spPr>
      </p:sp>
      <p:sp>
        <p:nvSpPr>
          <p:cNvPr id="32" name="Agenda 06 number"/>
          <p:cNvSpPr txBox="1"/>
          <p:nvPr/>
        </p:nvSpPr>
        <p:spPr>
          <a:xfrm>
            <a:off x="8402117" y="434340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06</a:t>
            </a:r>
            <a:endParaRPr lang="en-US" sz="2000" dirty="0"/>
          </a:p>
        </p:txBody>
      </p:sp>
      <p:sp>
        <p:nvSpPr>
          <p:cNvPr id="33" name="Agenda 06 title"/>
          <p:cNvSpPr txBox="1"/>
          <p:nvPr/>
        </p:nvSpPr>
        <p:spPr>
          <a:xfrm>
            <a:off x="8402117" y="5166360"/>
            <a:ext cx="2966618" cy="365760"/>
          </a:xfrm>
          <a:prstGeom prst="rect">
            <a:avLst/>
          </a:prstGeom>
          <a:noFill/>
          <a:ln/>
        </p:spPr>
        <p:txBody>
          <a:bodyPr wrap="square" lIns="0" tIns="0" rIns="0" bIns="0" rtlCol="0" anchor="t"/>
          <a:lstStyle/>
          <a:p>
            <a:pPr indent="0" marL="0">
              <a:buNone/>
            </a:pPr>
            <a:r>
              <a:rPr lang="en-US" sz="1900" b="1" dirty="0">
                <a:solidFill>
                  <a:schemeClr val="tx2"/>
                </a:solidFill>
              </a:rPr>
              <a:t>Customer relationships</a:t>
            </a:r>
            <a:endParaRPr lang="en-US" sz="1900" dirty="0"/>
          </a:p>
        </p:txBody>
      </p:sp>
      <p:sp>
        <p:nvSpPr>
          <p:cNvPr id="34" name="Agenda 06 detail"/>
          <p:cNvSpPr txBox="1"/>
          <p:nvPr/>
        </p:nvSpPr>
        <p:spPr>
          <a:xfrm>
            <a:off x="8402117" y="553212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How we turn first bites into loyalty</a:t>
            </a:r>
            <a:endParaRPr lang="en-US" sz="14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1"/>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01  ·  PRODUCT AND ORIENTATION</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 familiar snack built for busy days</a:t>
            </a:r>
            <a:endParaRPr lang="en-US" sz="3400" dirty="0"/>
          </a:p>
        </p:txBody>
      </p:sp>
      <p:sp>
        <p:nvSpPr>
          <p:cNvPr id="5" name="Product summary"/>
          <p:cNvSpPr txBox="1"/>
          <p:nvPr/>
        </p:nvSpPr>
        <p:spPr>
          <a:xfrm>
            <a:off x="548640" y="1536192"/>
            <a:ext cx="6126480" cy="640080"/>
          </a:xfrm>
          <a:prstGeom prst="rect">
            <a:avLst/>
          </a:prstGeom>
          <a:noFill/>
          <a:ln/>
        </p:spPr>
        <p:txBody>
          <a:bodyPr wrap="square" lIns="0" tIns="0" rIns="0" bIns="0" rtlCol="0" anchor="t"/>
          <a:lstStyle/>
          <a:p>
            <a:pPr indent="0" marL="0">
              <a:buNone/>
            </a:pPr>
            <a:r>
              <a:rPr lang="en-US" sz="1700" dirty="0">
                <a:solidFill>
                  <a:schemeClr val="accent6"/>
                </a:solidFill>
              </a:rPr>
              <a:t>Nutritious local ingredients in a small, easy-to-carry pack, designed for busy students and employees.</a:t>
            </a:r>
            <a:endParaRPr lang="en-US" sz="1700" dirty="0"/>
          </a:p>
        </p:txBody>
      </p:sp>
      <p:sp>
        <p:nvSpPr>
          <p:cNvPr id="6" name="Ingredients label"/>
          <p:cNvSpPr txBox="1"/>
          <p:nvPr/>
        </p:nvSpPr>
        <p:spPr>
          <a:xfrm>
            <a:off x="548640" y="2377440"/>
            <a:ext cx="3657600" cy="274320"/>
          </a:xfrm>
          <a:prstGeom prst="rect">
            <a:avLst/>
          </a:prstGeom>
          <a:noFill/>
          <a:ln/>
        </p:spPr>
        <p:txBody>
          <a:bodyPr wrap="square" lIns="0" tIns="0" rIns="0" bIns="0" rtlCol="0" anchor="t"/>
          <a:lstStyle/>
          <a:p>
            <a:pPr indent="0" marL="0">
              <a:buNone/>
            </a:pPr>
            <a:r>
              <a:rPr lang="en-US" sz="1200" b="1" spc="200" kern="0" dirty="0">
                <a:solidFill>
                  <a:schemeClr val="tx2"/>
                </a:solidFill>
              </a:rPr>
              <a:t>WHAT'S INSIDE</a:t>
            </a:r>
            <a:endParaRPr lang="en-US" sz="1200" dirty="0"/>
          </a:p>
        </p:txBody>
      </p:sp>
      <p:sp>
        <p:nvSpPr>
          <p:cNvPr id="7" name="Dates circle"/>
          <p:cNvSpPr/>
          <p:nvPr/>
        </p:nvSpPr>
        <p:spPr>
          <a:xfrm>
            <a:off x="548640" y="2743200"/>
            <a:ext cx="1188720" cy="1188720"/>
          </a:xfrm>
          <a:prstGeom prst="ellipse">
            <a:avLst/>
          </a:prstGeom>
          <a:solidFill>
            <a:schemeClr val="accent1"/>
          </a:solidFill>
          <a:ln/>
        </p:spPr>
      </p:sp>
      <p:pic>
        <p:nvPicPr>
          <p:cNvPr id="8" name="Dates icon" descr="Dates">    </p:cNvPr>
          <p:cNvPicPr>
            <a:picLocks noChangeAspect="1"/>
          </p:cNvPicPr>
          <p:nvPr/>
        </p:nvPicPr>
        <p:blipFill>
          <a:blip r:embed="rId1"/>
          <a:stretch>
            <a:fillRect/>
          </a:stretch>
        </p:blipFill>
        <p:spPr>
          <a:xfrm>
            <a:off x="833933" y="3028493"/>
            <a:ext cx="618134" cy="618134"/>
          </a:xfrm>
          <a:prstGeom prst="rect">
            <a:avLst/>
          </a:prstGeom>
        </p:spPr>
      </p:pic>
      <p:sp>
        <p:nvSpPr>
          <p:cNvPr id="9" name="Dates label"/>
          <p:cNvSpPr txBox="1"/>
          <p:nvPr/>
        </p:nvSpPr>
        <p:spPr>
          <a:xfrm>
            <a:off x="411480" y="4023360"/>
            <a:ext cx="1463040" cy="365760"/>
          </a:xfrm>
          <a:prstGeom prst="rect">
            <a:avLst/>
          </a:prstGeom>
          <a:noFill/>
          <a:ln/>
        </p:spPr>
        <p:txBody>
          <a:bodyPr wrap="square" lIns="0" tIns="0" rIns="0" bIns="0" rtlCol="0" anchor="t"/>
          <a:lstStyle/>
          <a:p>
            <a:pPr algn="ctr" indent="0" marL="0">
              <a:buNone/>
            </a:pPr>
            <a:r>
              <a:rPr lang="en-US" sz="1800" b="1" dirty="0">
                <a:solidFill>
                  <a:schemeClr val="tx2"/>
                </a:solidFill>
              </a:rPr>
              <a:t>Dates</a:t>
            </a:r>
            <a:endParaRPr lang="en-US" sz="1800" dirty="0"/>
          </a:p>
        </p:txBody>
      </p:sp>
      <p:sp>
        <p:nvSpPr>
          <p:cNvPr id="10" name="Peanuts circle"/>
          <p:cNvSpPr/>
          <p:nvPr/>
        </p:nvSpPr>
        <p:spPr>
          <a:xfrm>
            <a:off x="2084832" y="2743200"/>
            <a:ext cx="1188720" cy="1188720"/>
          </a:xfrm>
          <a:prstGeom prst="ellipse">
            <a:avLst/>
          </a:prstGeom>
          <a:solidFill>
            <a:schemeClr val="accent3"/>
          </a:solidFill>
          <a:ln/>
        </p:spPr>
      </p:sp>
      <p:pic>
        <p:nvPicPr>
          <p:cNvPr id="11" name="Peanuts icon" descr="Peanuts">    </p:cNvPr>
          <p:cNvPicPr>
            <a:picLocks noChangeAspect="1"/>
          </p:cNvPicPr>
          <p:nvPr/>
        </p:nvPicPr>
        <p:blipFill>
          <a:blip r:embed="rId2"/>
          <a:stretch>
            <a:fillRect/>
          </a:stretch>
        </p:blipFill>
        <p:spPr>
          <a:xfrm>
            <a:off x="2370125" y="3028493"/>
            <a:ext cx="618134" cy="618134"/>
          </a:xfrm>
          <a:prstGeom prst="rect">
            <a:avLst/>
          </a:prstGeom>
        </p:spPr>
      </p:pic>
      <p:sp>
        <p:nvSpPr>
          <p:cNvPr id="12" name="Peanuts label"/>
          <p:cNvSpPr txBox="1"/>
          <p:nvPr/>
        </p:nvSpPr>
        <p:spPr>
          <a:xfrm>
            <a:off x="1947672" y="4023360"/>
            <a:ext cx="1463040" cy="365760"/>
          </a:xfrm>
          <a:prstGeom prst="rect">
            <a:avLst/>
          </a:prstGeom>
          <a:noFill/>
          <a:ln/>
        </p:spPr>
        <p:txBody>
          <a:bodyPr wrap="square" lIns="0" tIns="0" rIns="0" bIns="0" rtlCol="0" anchor="t"/>
          <a:lstStyle/>
          <a:p>
            <a:pPr algn="ctr" indent="0" marL="0">
              <a:buNone/>
            </a:pPr>
            <a:r>
              <a:rPr lang="en-US" sz="1800" b="1" dirty="0">
                <a:solidFill>
                  <a:schemeClr val="tx2"/>
                </a:solidFill>
              </a:rPr>
              <a:t>Peanuts</a:t>
            </a:r>
            <a:endParaRPr lang="en-US" sz="1800" dirty="0"/>
          </a:p>
        </p:txBody>
      </p:sp>
      <p:sp>
        <p:nvSpPr>
          <p:cNvPr id="13" name="Oats circle"/>
          <p:cNvSpPr/>
          <p:nvPr/>
        </p:nvSpPr>
        <p:spPr>
          <a:xfrm>
            <a:off x="3621024" y="2743200"/>
            <a:ext cx="1188720" cy="1188720"/>
          </a:xfrm>
          <a:prstGeom prst="ellipse">
            <a:avLst/>
          </a:prstGeom>
          <a:solidFill>
            <a:schemeClr val="accent2"/>
          </a:solidFill>
          <a:ln/>
        </p:spPr>
      </p:sp>
      <p:pic>
        <p:nvPicPr>
          <p:cNvPr id="14" name="Oats icon" descr="Oats">    </p:cNvPr>
          <p:cNvPicPr>
            <a:picLocks noChangeAspect="1"/>
          </p:cNvPicPr>
          <p:nvPr/>
        </p:nvPicPr>
        <p:blipFill>
          <a:blip r:embed="rId3"/>
          <a:stretch>
            <a:fillRect/>
          </a:stretch>
        </p:blipFill>
        <p:spPr>
          <a:xfrm>
            <a:off x="3906317" y="3028493"/>
            <a:ext cx="618134" cy="618134"/>
          </a:xfrm>
          <a:prstGeom prst="rect">
            <a:avLst/>
          </a:prstGeom>
        </p:spPr>
      </p:pic>
      <p:sp>
        <p:nvSpPr>
          <p:cNvPr id="15" name="Oats label"/>
          <p:cNvSpPr txBox="1"/>
          <p:nvPr/>
        </p:nvSpPr>
        <p:spPr>
          <a:xfrm>
            <a:off x="3483864" y="4023360"/>
            <a:ext cx="1463040" cy="365760"/>
          </a:xfrm>
          <a:prstGeom prst="rect">
            <a:avLst/>
          </a:prstGeom>
          <a:noFill/>
          <a:ln/>
        </p:spPr>
        <p:txBody>
          <a:bodyPr wrap="square" lIns="0" tIns="0" rIns="0" bIns="0" rtlCol="0" anchor="t"/>
          <a:lstStyle/>
          <a:p>
            <a:pPr algn="ctr" indent="0" marL="0">
              <a:buNone/>
            </a:pPr>
            <a:r>
              <a:rPr lang="en-US" sz="1800" b="1" dirty="0">
                <a:solidFill>
                  <a:schemeClr val="tx2"/>
                </a:solidFill>
              </a:rPr>
              <a:t>Oats</a:t>
            </a:r>
            <a:endParaRPr lang="en-US" sz="1800" dirty="0"/>
          </a:p>
        </p:txBody>
      </p:sp>
      <p:sp>
        <p:nvSpPr>
          <p:cNvPr id="16" name="Sesame circle"/>
          <p:cNvSpPr/>
          <p:nvPr/>
        </p:nvSpPr>
        <p:spPr>
          <a:xfrm>
            <a:off x="5157216" y="2743200"/>
            <a:ext cx="1188720" cy="1188720"/>
          </a:xfrm>
          <a:prstGeom prst="ellipse">
            <a:avLst/>
          </a:prstGeom>
          <a:solidFill>
            <a:schemeClr val="accent5"/>
          </a:solidFill>
          <a:ln/>
        </p:spPr>
      </p:sp>
      <p:pic>
        <p:nvPicPr>
          <p:cNvPr id="17" name="Sesame icon" descr="Sesame">    </p:cNvPr>
          <p:cNvPicPr>
            <a:picLocks noChangeAspect="1"/>
          </p:cNvPicPr>
          <p:nvPr/>
        </p:nvPicPr>
        <p:blipFill>
          <a:blip r:embed="rId4"/>
          <a:stretch>
            <a:fillRect/>
          </a:stretch>
        </p:blipFill>
        <p:spPr>
          <a:xfrm>
            <a:off x="5442509" y="3028493"/>
            <a:ext cx="618134" cy="618134"/>
          </a:xfrm>
          <a:prstGeom prst="rect">
            <a:avLst/>
          </a:prstGeom>
        </p:spPr>
      </p:pic>
      <p:sp>
        <p:nvSpPr>
          <p:cNvPr id="18" name="Sesame label"/>
          <p:cNvSpPr txBox="1"/>
          <p:nvPr/>
        </p:nvSpPr>
        <p:spPr>
          <a:xfrm>
            <a:off x="5020056" y="4023360"/>
            <a:ext cx="1463040" cy="365760"/>
          </a:xfrm>
          <a:prstGeom prst="rect">
            <a:avLst/>
          </a:prstGeom>
          <a:noFill/>
          <a:ln/>
        </p:spPr>
        <p:txBody>
          <a:bodyPr wrap="square" lIns="0" tIns="0" rIns="0" bIns="0" rtlCol="0" anchor="t"/>
          <a:lstStyle/>
          <a:p>
            <a:pPr algn="ctr" indent="0" marL="0">
              <a:buNone/>
            </a:pPr>
            <a:r>
              <a:rPr lang="en-US" sz="1800" b="1" dirty="0">
                <a:solidFill>
                  <a:schemeClr val="tx2"/>
                </a:solidFill>
              </a:rPr>
              <a:t>Sesame</a:t>
            </a:r>
            <a:endParaRPr lang="en-US" sz="1800" dirty="0"/>
          </a:p>
        </p:txBody>
      </p:sp>
      <p:sp>
        <p:nvSpPr>
          <p:cNvPr id="19" name="Product fact 1 circle"/>
          <p:cNvSpPr/>
          <p:nvPr/>
        </p:nvSpPr>
        <p:spPr>
          <a:xfrm>
            <a:off x="548640" y="4663440"/>
            <a:ext cx="457200" cy="457200"/>
          </a:xfrm>
          <a:prstGeom prst="ellipse">
            <a:avLst/>
          </a:prstGeom>
          <a:solidFill>
            <a:schemeClr val="tx2"/>
          </a:solidFill>
          <a:ln/>
        </p:spPr>
      </p:sp>
      <p:pic>
        <p:nvPicPr>
          <p:cNvPr id="20" name="Product fact 1 icon" descr="Product fact 1">    </p:cNvPr>
          <p:cNvPicPr>
            <a:picLocks noChangeAspect="1"/>
          </p:cNvPicPr>
          <p:nvPr/>
        </p:nvPicPr>
        <p:blipFill>
          <a:blip r:embed="rId5"/>
          <a:stretch>
            <a:fillRect/>
          </a:stretch>
        </p:blipFill>
        <p:spPr>
          <a:xfrm>
            <a:off x="658368" y="4773168"/>
            <a:ext cx="237744" cy="237744"/>
          </a:xfrm>
          <a:prstGeom prst="rect">
            <a:avLst/>
          </a:prstGeom>
        </p:spPr>
      </p:pic>
      <p:sp>
        <p:nvSpPr>
          <p:cNvPr id="21" name="Product fact 1 text"/>
          <p:cNvSpPr txBox="1"/>
          <p:nvPr/>
        </p:nvSpPr>
        <p:spPr>
          <a:xfrm>
            <a:off x="1188720" y="4626864"/>
            <a:ext cx="5669280" cy="548640"/>
          </a:xfrm>
          <a:prstGeom prst="rect">
            <a:avLst/>
          </a:prstGeom>
          <a:noFill/>
          <a:ln/>
        </p:spPr>
        <p:txBody>
          <a:bodyPr wrap="square" lIns="0" tIns="0" rIns="0" bIns="0" rtlCol="0" anchor="ctr"/>
          <a:lstStyle/>
          <a:p>
            <a:pPr indent="0" marL="0">
              <a:buNone/>
            </a:pPr>
            <a:r>
              <a:rPr lang="en-US" sz="1500" dirty="0">
                <a:solidFill>
                  <a:schemeClr val="tx1"/>
                </a:solidFill>
              </a:rPr>
              <a:t>Small, convenient pack with product information, expiry date and allergen warnings</a:t>
            </a:r>
            <a:endParaRPr lang="en-US" sz="1500" dirty="0"/>
          </a:p>
        </p:txBody>
      </p:sp>
      <p:sp>
        <p:nvSpPr>
          <p:cNvPr id="22" name="Product fact 2 circle"/>
          <p:cNvSpPr/>
          <p:nvPr/>
        </p:nvSpPr>
        <p:spPr>
          <a:xfrm>
            <a:off x="548640" y="5349240"/>
            <a:ext cx="457200" cy="457200"/>
          </a:xfrm>
          <a:prstGeom prst="ellipse">
            <a:avLst/>
          </a:prstGeom>
          <a:solidFill>
            <a:schemeClr val="tx2"/>
          </a:solidFill>
          <a:ln/>
        </p:spPr>
      </p:sp>
      <p:pic>
        <p:nvPicPr>
          <p:cNvPr id="23" name="Product fact 2 icon" descr="Product fact 2">    </p:cNvPr>
          <p:cNvPicPr>
            <a:picLocks noChangeAspect="1"/>
          </p:cNvPicPr>
          <p:nvPr/>
        </p:nvPicPr>
        <p:blipFill>
          <a:blip r:embed="rId6"/>
          <a:stretch>
            <a:fillRect/>
          </a:stretch>
        </p:blipFill>
        <p:spPr>
          <a:xfrm>
            <a:off x="658368" y="5458968"/>
            <a:ext cx="237744" cy="237744"/>
          </a:xfrm>
          <a:prstGeom prst="rect">
            <a:avLst/>
          </a:prstGeom>
        </p:spPr>
      </p:pic>
      <p:sp>
        <p:nvSpPr>
          <p:cNvPr id="24" name="Product fact 2 text"/>
          <p:cNvSpPr txBox="1"/>
          <p:nvPr/>
        </p:nvSpPr>
        <p:spPr>
          <a:xfrm>
            <a:off x="1188720" y="5312664"/>
            <a:ext cx="5669280" cy="548640"/>
          </a:xfrm>
          <a:prstGeom prst="rect">
            <a:avLst/>
          </a:prstGeom>
          <a:noFill/>
          <a:ln/>
        </p:spPr>
        <p:txBody>
          <a:bodyPr wrap="square" lIns="0" tIns="0" rIns="0" bIns="0" rtlCol="0" anchor="ctr"/>
          <a:lstStyle/>
          <a:p>
            <a:pPr indent="0" marL="0">
              <a:buNone/>
            </a:pPr>
            <a:r>
              <a:rPr lang="en-US" sz="1500" dirty="0">
                <a:solidFill>
                  <a:schemeClr val="tx1"/>
                </a:solidFill>
              </a:rPr>
              <a:t>A brand that reflects an active, convenient lifestyle</a:t>
            </a:r>
            <a:endParaRPr lang="en-US" sz="1500" dirty="0"/>
          </a:p>
        </p:txBody>
      </p:sp>
      <p:sp>
        <p:nvSpPr>
          <p:cNvPr id="25" name="Core value card"/>
          <p:cNvSpPr/>
          <p:nvPr/>
        </p:nvSpPr>
        <p:spPr>
          <a:xfrm>
            <a:off x="7086600" y="1600200"/>
            <a:ext cx="4556455" cy="4434840"/>
          </a:xfrm>
          <a:prstGeom prst="roundRect">
            <a:avLst>
              <a:gd name="adj" fmla="val 3711"/>
            </a:avLst>
          </a:prstGeom>
          <a:solidFill>
            <a:schemeClr val="tx2"/>
          </a:solidFill>
          <a:ln/>
        </p:spPr>
      </p:sp>
      <p:sp>
        <p:nvSpPr>
          <p:cNvPr id="26" name="Core value label"/>
          <p:cNvSpPr txBox="1"/>
          <p:nvPr/>
        </p:nvSpPr>
        <p:spPr>
          <a:xfrm>
            <a:off x="7498080" y="1920240"/>
            <a:ext cx="3657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CORE VALUE</a:t>
            </a:r>
            <a:endParaRPr lang="en-US" sz="1200" dirty="0"/>
          </a:p>
        </p:txBody>
      </p:sp>
      <p:sp>
        <p:nvSpPr>
          <p:cNvPr id="27" name="Great taste circle"/>
          <p:cNvSpPr/>
          <p:nvPr/>
        </p:nvSpPr>
        <p:spPr>
          <a:xfrm>
            <a:off x="7498080" y="2377440"/>
            <a:ext cx="731520" cy="731520"/>
          </a:xfrm>
          <a:prstGeom prst="ellipse">
            <a:avLst/>
          </a:prstGeom>
          <a:solidFill>
            <a:schemeClr val="accent1"/>
          </a:solidFill>
          <a:ln/>
        </p:spPr>
      </p:sp>
      <p:pic>
        <p:nvPicPr>
          <p:cNvPr id="28" name="Great taste icon" descr="Great taste">    </p:cNvPr>
          <p:cNvPicPr>
            <a:picLocks noChangeAspect="1"/>
          </p:cNvPicPr>
          <p:nvPr/>
        </p:nvPicPr>
        <p:blipFill>
          <a:blip r:embed="rId7"/>
          <a:stretch>
            <a:fillRect/>
          </a:stretch>
        </p:blipFill>
        <p:spPr>
          <a:xfrm>
            <a:off x="7673645" y="2553005"/>
            <a:ext cx="380390" cy="380390"/>
          </a:xfrm>
          <a:prstGeom prst="rect">
            <a:avLst/>
          </a:prstGeom>
        </p:spPr>
      </p:pic>
      <p:sp>
        <p:nvSpPr>
          <p:cNvPr id="29" name="Great taste title"/>
          <p:cNvSpPr txBox="1"/>
          <p:nvPr/>
        </p:nvSpPr>
        <p:spPr>
          <a:xfrm>
            <a:off x="8458200" y="2395728"/>
            <a:ext cx="2819095" cy="411480"/>
          </a:xfrm>
          <a:prstGeom prst="rect">
            <a:avLst/>
          </a:prstGeom>
          <a:noFill/>
          <a:ln/>
        </p:spPr>
        <p:txBody>
          <a:bodyPr wrap="square" lIns="0" tIns="0" rIns="0" bIns="0" rtlCol="0" anchor="t"/>
          <a:lstStyle/>
          <a:p>
            <a:pPr indent="0" marL="0">
              <a:buNone/>
            </a:pPr>
            <a:r>
              <a:rPr lang="en-US" sz="2200" b="1" dirty="0">
                <a:solidFill>
                  <a:schemeClr val="bg1"/>
                </a:solidFill>
              </a:rPr>
              <a:t>Great taste</a:t>
            </a:r>
            <a:endParaRPr lang="en-US" sz="2200" dirty="0"/>
          </a:p>
        </p:txBody>
      </p:sp>
      <p:sp>
        <p:nvSpPr>
          <p:cNvPr id="30" name="Great taste detail"/>
          <p:cNvSpPr txBox="1"/>
          <p:nvPr/>
        </p:nvSpPr>
        <p:spPr>
          <a:xfrm>
            <a:off x="8458200" y="2788920"/>
            <a:ext cx="2819095" cy="365760"/>
          </a:xfrm>
          <a:prstGeom prst="rect">
            <a:avLst/>
          </a:prstGeom>
          <a:noFill/>
          <a:ln/>
        </p:spPr>
        <p:txBody>
          <a:bodyPr wrap="square" lIns="0" tIns="0" rIns="0" bIns="0" rtlCol="0" anchor="t"/>
          <a:lstStyle/>
          <a:p>
            <a:pPr indent="0" marL="0">
              <a:buNone/>
            </a:pPr>
            <a:r>
              <a:rPr lang="en-US" sz="1500" dirty="0">
                <a:solidFill>
                  <a:schemeClr val="bg1"/>
                </a:solidFill>
              </a:rPr>
              <a:t>Made from familiar, popular local ingredients</a:t>
            </a:r>
            <a:endParaRPr lang="en-US" sz="1500" dirty="0"/>
          </a:p>
        </p:txBody>
      </p:sp>
      <p:sp>
        <p:nvSpPr>
          <p:cNvPr id="31" name="Convenience circle"/>
          <p:cNvSpPr/>
          <p:nvPr/>
        </p:nvSpPr>
        <p:spPr>
          <a:xfrm>
            <a:off x="7498080" y="3547872"/>
            <a:ext cx="731520" cy="731520"/>
          </a:xfrm>
          <a:prstGeom prst="ellipse">
            <a:avLst/>
          </a:prstGeom>
          <a:solidFill>
            <a:schemeClr val="accent1"/>
          </a:solidFill>
          <a:ln/>
        </p:spPr>
      </p:sp>
      <p:pic>
        <p:nvPicPr>
          <p:cNvPr id="32" name="Convenience icon" descr="Convenience">    </p:cNvPr>
          <p:cNvPicPr>
            <a:picLocks noChangeAspect="1"/>
          </p:cNvPicPr>
          <p:nvPr/>
        </p:nvPicPr>
        <p:blipFill>
          <a:blip r:embed="rId8"/>
          <a:stretch>
            <a:fillRect/>
          </a:stretch>
        </p:blipFill>
        <p:spPr>
          <a:xfrm>
            <a:off x="7673645" y="3723437"/>
            <a:ext cx="380390" cy="380390"/>
          </a:xfrm>
          <a:prstGeom prst="rect">
            <a:avLst/>
          </a:prstGeom>
        </p:spPr>
      </p:pic>
      <p:sp>
        <p:nvSpPr>
          <p:cNvPr id="33" name="Convenience title"/>
          <p:cNvSpPr txBox="1"/>
          <p:nvPr/>
        </p:nvSpPr>
        <p:spPr>
          <a:xfrm>
            <a:off x="8458200" y="3566160"/>
            <a:ext cx="2819095" cy="411480"/>
          </a:xfrm>
          <a:prstGeom prst="rect">
            <a:avLst/>
          </a:prstGeom>
          <a:noFill/>
          <a:ln/>
        </p:spPr>
        <p:txBody>
          <a:bodyPr wrap="square" lIns="0" tIns="0" rIns="0" bIns="0" rtlCol="0" anchor="t"/>
          <a:lstStyle/>
          <a:p>
            <a:pPr indent="0" marL="0">
              <a:buNone/>
            </a:pPr>
            <a:r>
              <a:rPr lang="en-US" sz="2200" b="1" dirty="0">
                <a:solidFill>
                  <a:schemeClr val="bg1"/>
                </a:solidFill>
              </a:rPr>
              <a:t>Convenience</a:t>
            </a:r>
            <a:endParaRPr lang="en-US" sz="2200" dirty="0"/>
          </a:p>
        </p:txBody>
      </p:sp>
      <p:sp>
        <p:nvSpPr>
          <p:cNvPr id="34" name="Convenience detail"/>
          <p:cNvSpPr txBox="1"/>
          <p:nvPr/>
        </p:nvSpPr>
        <p:spPr>
          <a:xfrm>
            <a:off x="8458200" y="3959352"/>
            <a:ext cx="2819095" cy="365760"/>
          </a:xfrm>
          <a:prstGeom prst="rect">
            <a:avLst/>
          </a:prstGeom>
          <a:noFill/>
          <a:ln/>
        </p:spPr>
        <p:txBody>
          <a:bodyPr wrap="square" lIns="0" tIns="0" rIns="0" bIns="0" rtlCol="0" anchor="t"/>
          <a:lstStyle/>
          <a:p>
            <a:pPr indent="0" marL="0">
              <a:buNone/>
            </a:pPr>
            <a:r>
              <a:rPr lang="en-US" sz="1500" dirty="0">
                <a:solidFill>
                  <a:schemeClr val="bg1"/>
                </a:solidFill>
              </a:rPr>
              <a:t>A small pack that is easy to carry anywhere</a:t>
            </a:r>
            <a:endParaRPr lang="en-US" sz="1500" dirty="0"/>
          </a:p>
        </p:txBody>
      </p:sp>
      <p:sp>
        <p:nvSpPr>
          <p:cNvPr id="35" name="Affordability circle"/>
          <p:cNvSpPr/>
          <p:nvPr/>
        </p:nvSpPr>
        <p:spPr>
          <a:xfrm>
            <a:off x="7498080" y="4718304"/>
            <a:ext cx="731520" cy="731520"/>
          </a:xfrm>
          <a:prstGeom prst="ellipse">
            <a:avLst/>
          </a:prstGeom>
          <a:solidFill>
            <a:schemeClr val="accent1"/>
          </a:solidFill>
          <a:ln/>
        </p:spPr>
      </p:sp>
      <p:pic>
        <p:nvPicPr>
          <p:cNvPr id="36" name="Affordability icon" descr="Affordability">    </p:cNvPr>
          <p:cNvPicPr>
            <a:picLocks noChangeAspect="1"/>
          </p:cNvPicPr>
          <p:nvPr/>
        </p:nvPicPr>
        <p:blipFill>
          <a:blip r:embed="rId9"/>
          <a:stretch>
            <a:fillRect/>
          </a:stretch>
        </p:blipFill>
        <p:spPr>
          <a:xfrm>
            <a:off x="7673645" y="4893869"/>
            <a:ext cx="380390" cy="380390"/>
          </a:xfrm>
          <a:prstGeom prst="rect">
            <a:avLst/>
          </a:prstGeom>
        </p:spPr>
      </p:pic>
      <p:sp>
        <p:nvSpPr>
          <p:cNvPr id="37" name="Affordability title"/>
          <p:cNvSpPr txBox="1"/>
          <p:nvPr/>
        </p:nvSpPr>
        <p:spPr>
          <a:xfrm>
            <a:off x="8458200" y="4736592"/>
            <a:ext cx="2819095" cy="411480"/>
          </a:xfrm>
          <a:prstGeom prst="rect">
            <a:avLst/>
          </a:prstGeom>
          <a:noFill/>
          <a:ln/>
        </p:spPr>
        <p:txBody>
          <a:bodyPr wrap="square" lIns="0" tIns="0" rIns="0" bIns="0" rtlCol="0" anchor="t"/>
          <a:lstStyle/>
          <a:p>
            <a:pPr indent="0" marL="0">
              <a:buNone/>
            </a:pPr>
            <a:r>
              <a:rPr lang="en-US" sz="2200" b="1" dirty="0">
                <a:solidFill>
                  <a:schemeClr val="bg1"/>
                </a:solidFill>
              </a:rPr>
              <a:t>Affordability</a:t>
            </a:r>
            <a:endParaRPr lang="en-US" sz="2200" dirty="0"/>
          </a:p>
        </p:txBody>
      </p:sp>
      <p:sp>
        <p:nvSpPr>
          <p:cNvPr id="38" name="Affordability detail"/>
          <p:cNvSpPr txBox="1"/>
          <p:nvPr/>
        </p:nvSpPr>
        <p:spPr>
          <a:xfrm>
            <a:off x="8458200" y="5129784"/>
            <a:ext cx="2819095" cy="365760"/>
          </a:xfrm>
          <a:prstGeom prst="rect">
            <a:avLst/>
          </a:prstGeom>
          <a:noFill/>
          <a:ln/>
        </p:spPr>
        <p:txBody>
          <a:bodyPr wrap="square" lIns="0" tIns="0" rIns="0" bIns="0" rtlCol="0" anchor="t"/>
          <a:lstStyle/>
          <a:p>
            <a:pPr indent="0" marL="0">
              <a:buNone/>
            </a:pPr>
            <a:r>
              <a:rPr lang="en-US" sz="1500" dirty="0">
                <a:solidFill>
                  <a:schemeClr val="bg1"/>
                </a:solidFill>
              </a:rPr>
              <a:t>Only 1,000 SDG per pack</a:t>
            </a:r>
            <a:endParaRPr lang="en-US" sz="15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1"/>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01  ·  PRODUCT AND ORIENTATION</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 fair exchange that pays back twice</a:t>
            </a:r>
            <a:endParaRPr lang="en-US" sz="3400" dirty="0"/>
          </a:p>
        </p:txBody>
      </p:sp>
      <p:sp>
        <p:nvSpPr>
          <p:cNvPr id="5" name="Customer circle"/>
          <p:cNvSpPr/>
          <p:nvPr/>
        </p:nvSpPr>
        <p:spPr>
          <a:xfrm>
            <a:off x="914400" y="1874520"/>
            <a:ext cx="3017520" cy="3017520"/>
          </a:xfrm>
          <a:prstGeom prst="ellipse">
            <a:avLst/>
          </a:prstGeom>
          <a:solidFill>
            <a:schemeClr val="accent1">
              <a:alpha val="16000"/>
            </a:schemeClr>
          </a:solidFill>
          <a:ln/>
        </p:spPr>
      </p:sp>
      <p:sp>
        <p:nvSpPr>
          <p:cNvPr id="6" name="Customers circle"/>
          <p:cNvSpPr/>
          <p:nvPr/>
        </p:nvSpPr>
        <p:spPr>
          <a:xfrm>
            <a:off x="1965960" y="2377440"/>
            <a:ext cx="914400" cy="914400"/>
          </a:xfrm>
          <a:prstGeom prst="ellipse">
            <a:avLst/>
          </a:prstGeom>
          <a:solidFill>
            <a:schemeClr val="accent1"/>
          </a:solidFill>
          <a:ln/>
        </p:spPr>
      </p:sp>
      <p:pic>
        <p:nvPicPr>
          <p:cNvPr id="7" name="Customers icon" descr="Customers">    </p:cNvPr>
          <p:cNvPicPr>
            <a:picLocks noChangeAspect="1"/>
          </p:cNvPicPr>
          <p:nvPr/>
        </p:nvPicPr>
        <p:blipFill>
          <a:blip r:embed="rId1"/>
          <a:stretch>
            <a:fillRect/>
          </a:stretch>
        </p:blipFill>
        <p:spPr>
          <a:xfrm>
            <a:off x="2185416" y="2596896"/>
            <a:ext cx="475488" cy="475488"/>
          </a:xfrm>
          <a:prstGeom prst="rect">
            <a:avLst/>
          </a:prstGeom>
        </p:spPr>
      </p:pic>
      <p:sp>
        <p:nvSpPr>
          <p:cNvPr id="8" name="Customer label"/>
          <p:cNvSpPr txBox="1"/>
          <p:nvPr/>
        </p:nvSpPr>
        <p:spPr>
          <a:xfrm>
            <a:off x="914400" y="3429000"/>
            <a:ext cx="3017520" cy="457200"/>
          </a:xfrm>
          <a:prstGeom prst="rect">
            <a:avLst/>
          </a:prstGeom>
          <a:noFill/>
          <a:ln/>
        </p:spPr>
        <p:txBody>
          <a:bodyPr wrap="square" lIns="0" tIns="0" rIns="0" bIns="0" rtlCol="0" anchor="t"/>
          <a:lstStyle/>
          <a:p>
            <a:pPr algn="ctr" indent="0" marL="0">
              <a:buNone/>
            </a:pPr>
            <a:r>
              <a:rPr lang="en-US" sz="2400" b="1" dirty="0">
                <a:solidFill>
                  <a:schemeClr val="tx2"/>
                </a:solidFill>
              </a:rPr>
              <a:t>Customers</a:t>
            </a:r>
            <a:endParaRPr lang="en-US" sz="2400" dirty="0"/>
          </a:p>
        </p:txBody>
      </p:sp>
      <p:sp>
        <p:nvSpPr>
          <p:cNvPr id="9" name="Customer detail"/>
          <p:cNvSpPr txBox="1"/>
          <p:nvPr/>
        </p:nvSpPr>
        <p:spPr>
          <a:xfrm>
            <a:off x="914400" y="3886200"/>
            <a:ext cx="3017520" cy="365760"/>
          </a:xfrm>
          <a:prstGeom prst="rect">
            <a:avLst/>
          </a:prstGeom>
          <a:noFill/>
          <a:ln/>
        </p:spPr>
        <p:txBody>
          <a:bodyPr wrap="square" lIns="0" tIns="0" rIns="0" bIns="0" rtlCol="0" anchor="t"/>
          <a:lstStyle/>
          <a:p>
            <a:pPr algn="ctr" indent="0" marL="0">
              <a:buNone/>
            </a:pPr>
            <a:r>
              <a:rPr lang="en-US" sz="1500" dirty="0">
                <a:solidFill>
                  <a:schemeClr val="tx1"/>
                </a:solidFill>
              </a:rPr>
              <a:t>Students and employees</a:t>
            </a:r>
            <a:endParaRPr lang="en-US" sz="1500" dirty="0"/>
          </a:p>
        </p:txBody>
      </p:sp>
      <p:sp>
        <p:nvSpPr>
          <p:cNvPr id="10" name="FitBite circle"/>
          <p:cNvSpPr/>
          <p:nvPr/>
        </p:nvSpPr>
        <p:spPr>
          <a:xfrm>
            <a:off x="8259775" y="1874520"/>
            <a:ext cx="3017520" cy="3017520"/>
          </a:xfrm>
          <a:prstGeom prst="ellipse">
            <a:avLst/>
          </a:prstGeom>
          <a:solidFill>
            <a:schemeClr val="tx2"/>
          </a:solidFill>
          <a:ln/>
        </p:spPr>
      </p:sp>
      <p:pic>
        <p:nvPicPr>
          <p:cNvPr id="11" name="FitBite icon" descr="FitBite icon">    </p:cNvPr>
          <p:cNvPicPr>
            <a:picLocks noChangeAspect="1"/>
          </p:cNvPicPr>
          <p:nvPr/>
        </p:nvPicPr>
        <p:blipFill>
          <a:blip r:embed="rId2"/>
          <a:stretch>
            <a:fillRect/>
          </a:stretch>
        </p:blipFill>
        <p:spPr>
          <a:xfrm>
            <a:off x="9197035" y="2258568"/>
            <a:ext cx="1143000" cy="1143000"/>
          </a:xfrm>
          <a:prstGeom prst="rect">
            <a:avLst/>
          </a:prstGeom>
        </p:spPr>
      </p:pic>
      <p:sp>
        <p:nvSpPr>
          <p:cNvPr id="12" name="FitBite label"/>
          <p:cNvSpPr txBox="1"/>
          <p:nvPr/>
        </p:nvSpPr>
        <p:spPr>
          <a:xfrm>
            <a:off x="8259775" y="3429000"/>
            <a:ext cx="3017520" cy="457200"/>
          </a:xfrm>
          <a:prstGeom prst="rect">
            <a:avLst/>
          </a:prstGeom>
          <a:noFill/>
          <a:ln/>
        </p:spPr>
        <p:txBody>
          <a:bodyPr wrap="square" lIns="0" tIns="0" rIns="0" bIns="0" rtlCol="0" anchor="t"/>
          <a:lstStyle/>
          <a:p>
            <a:pPr algn="ctr" indent="0" marL="0">
              <a:buNone/>
            </a:pPr>
            <a:r>
              <a:rPr lang="en-US" sz="2400" b="1" dirty="0">
                <a:solidFill>
                  <a:schemeClr val="bg1"/>
                </a:solidFill>
              </a:rPr>
              <a:t>FitBite</a:t>
            </a:r>
            <a:endParaRPr lang="en-US" sz="2400" dirty="0"/>
          </a:p>
        </p:txBody>
      </p:sp>
      <p:sp>
        <p:nvSpPr>
          <p:cNvPr id="13" name="FitBite detail"/>
          <p:cNvSpPr txBox="1"/>
          <p:nvPr/>
        </p:nvSpPr>
        <p:spPr>
          <a:xfrm>
            <a:off x="8259775" y="3886200"/>
            <a:ext cx="3017520" cy="365760"/>
          </a:xfrm>
          <a:prstGeom prst="rect">
            <a:avLst/>
          </a:prstGeom>
          <a:noFill/>
          <a:ln/>
        </p:spPr>
        <p:txBody>
          <a:bodyPr wrap="square" lIns="0" tIns="0" rIns="0" bIns="0" rtlCol="0" anchor="t"/>
          <a:lstStyle/>
          <a:p>
            <a:pPr algn="ctr" indent="0" marL="0">
              <a:buNone/>
            </a:pPr>
            <a:r>
              <a:rPr lang="en-US" sz="1500" dirty="0">
                <a:solidFill>
                  <a:schemeClr val="bg1"/>
                </a:solidFill>
              </a:rPr>
              <a:t>The company</a:t>
            </a:r>
            <a:endParaRPr lang="en-US" sz="1500" dirty="0"/>
          </a:p>
        </p:txBody>
      </p:sp>
      <p:sp>
        <p:nvSpPr>
          <p:cNvPr id="14" name="Flow 1 label"/>
          <p:cNvSpPr txBox="1"/>
          <p:nvPr/>
        </p:nvSpPr>
        <p:spPr>
          <a:xfrm>
            <a:off x="4160520" y="2103120"/>
            <a:ext cx="3870655" cy="347472"/>
          </a:xfrm>
          <a:prstGeom prst="rect">
            <a:avLst/>
          </a:prstGeom>
          <a:noFill/>
          <a:ln/>
        </p:spPr>
        <p:txBody>
          <a:bodyPr wrap="square" lIns="0" tIns="0" rIns="0" bIns="0" rtlCol="0" anchor="t"/>
          <a:lstStyle/>
          <a:p>
            <a:pPr algn="ctr" indent="0" marL="0">
              <a:buNone/>
            </a:pPr>
            <a:r>
              <a:rPr lang="en-US" sz="1600" b="1" dirty="0">
                <a:solidFill>
                  <a:schemeClr val="tx2"/>
                </a:solidFill>
              </a:rPr>
              <a:t>Money: 1,000 SDG per pack</a:t>
            </a:r>
            <a:endParaRPr lang="en-US" sz="1600" dirty="0"/>
          </a:p>
        </p:txBody>
      </p:sp>
      <p:sp>
        <p:nvSpPr>
          <p:cNvPr id="15" name="Flow 1 arrow"/>
          <p:cNvSpPr/>
          <p:nvPr/>
        </p:nvSpPr>
        <p:spPr>
          <a:xfrm>
            <a:off x="4160520" y="2514600"/>
            <a:ext cx="3870655" cy="0"/>
          </a:xfrm>
          <a:prstGeom prst="line">
            <a:avLst/>
          </a:prstGeom>
          <a:noFill/>
          <a:ln w="50800">
            <a:solidFill>
              <a:schemeClr val="accent1"/>
            </a:solidFill>
            <a:prstDash val="solid"/>
            <a:tailEnd type="triangle"/>
          </a:ln>
        </p:spPr>
      </p:sp>
      <p:sp>
        <p:nvSpPr>
          <p:cNvPr id="16" name="Flow 2 label"/>
          <p:cNvSpPr txBox="1"/>
          <p:nvPr/>
        </p:nvSpPr>
        <p:spPr>
          <a:xfrm>
            <a:off x="4160520" y="3017520"/>
            <a:ext cx="3870655" cy="347472"/>
          </a:xfrm>
          <a:prstGeom prst="rect">
            <a:avLst/>
          </a:prstGeom>
          <a:noFill/>
          <a:ln/>
        </p:spPr>
        <p:txBody>
          <a:bodyPr wrap="square" lIns="0" tIns="0" rIns="0" bIns="0" rtlCol="0" anchor="t"/>
          <a:lstStyle/>
          <a:p>
            <a:pPr algn="ctr" indent="0" marL="0">
              <a:buNone/>
            </a:pPr>
            <a:r>
              <a:rPr lang="en-US" sz="1600" b="1" dirty="0">
                <a:solidFill>
                  <a:schemeClr val="tx2"/>
                </a:solidFill>
              </a:rPr>
              <a:t>Valuable customer feedback</a:t>
            </a:r>
            <a:endParaRPr lang="en-US" sz="1600" dirty="0"/>
          </a:p>
        </p:txBody>
      </p:sp>
      <p:sp>
        <p:nvSpPr>
          <p:cNvPr id="17" name="Flow 2 arrow"/>
          <p:cNvSpPr/>
          <p:nvPr/>
        </p:nvSpPr>
        <p:spPr>
          <a:xfrm>
            <a:off x="4160520" y="3429000"/>
            <a:ext cx="3870655" cy="0"/>
          </a:xfrm>
          <a:prstGeom prst="line">
            <a:avLst/>
          </a:prstGeom>
          <a:noFill/>
          <a:ln w="50800">
            <a:solidFill>
              <a:schemeClr val="accent5"/>
            </a:solidFill>
            <a:prstDash val="solid"/>
            <a:tailEnd type="triangle"/>
          </a:ln>
        </p:spPr>
      </p:sp>
      <p:sp>
        <p:nvSpPr>
          <p:cNvPr id="18" name="Flow 3 label"/>
          <p:cNvSpPr txBox="1"/>
          <p:nvPr/>
        </p:nvSpPr>
        <p:spPr>
          <a:xfrm>
            <a:off x="4160520" y="3931920"/>
            <a:ext cx="3870655" cy="347472"/>
          </a:xfrm>
          <a:prstGeom prst="rect">
            <a:avLst/>
          </a:prstGeom>
          <a:noFill/>
          <a:ln/>
        </p:spPr>
        <p:txBody>
          <a:bodyPr wrap="square" lIns="0" tIns="0" rIns="0" bIns="0" rtlCol="0" anchor="t"/>
          <a:lstStyle/>
          <a:p>
            <a:pPr algn="ctr" indent="0" marL="0">
              <a:buNone/>
            </a:pPr>
            <a:r>
              <a:rPr lang="en-US" sz="1600" b="1" dirty="0">
                <a:solidFill>
                  <a:schemeClr val="tx2"/>
                </a:solidFill>
              </a:rPr>
              <a:t>Energy, nutrition and taste</a:t>
            </a:r>
            <a:endParaRPr lang="en-US" sz="1600" dirty="0"/>
          </a:p>
        </p:txBody>
      </p:sp>
      <p:sp>
        <p:nvSpPr>
          <p:cNvPr id="19" name="Flow 3 arrow"/>
          <p:cNvSpPr/>
          <p:nvPr/>
        </p:nvSpPr>
        <p:spPr>
          <a:xfrm>
            <a:off x="4160520" y="4343400"/>
            <a:ext cx="3870655" cy="0"/>
          </a:xfrm>
          <a:prstGeom prst="line">
            <a:avLst/>
          </a:prstGeom>
          <a:noFill/>
          <a:ln w="50800">
            <a:solidFill>
              <a:schemeClr val="accent2"/>
            </a:solidFill>
            <a:prstDash val="solid"/>
            <a:headEnd type="triangle"/>
          </a:ln>
        </p:spPr>
      </p:sp>
      <p:sp>
        <p:nvSpPr>
          <p:cNvPr id="20" name="Exchange caption"/>
          <p:cNvSpPr txBox="1"/>
          <p:nvPr/>
        </p:nvSpPr>
        <p:spPr>
          <a:xfrm>
            <a:off x="548640" y="5349240"/>
            <a:ext cx="11094415" cy="640080"/>
          </a:xfrm>
          <a:prstGeom prst="rect">
            <a:avLst/>
          </a:prstGeom>
          <a:noFill/>
          <a:ln/>
        </p:spPr>
        <p:txBody>
          <a:bodyPr wrap="square" lIns="0" tIns="0" rIns="0" bIns="0" rtlCol="0" anchor="t"/>
          <a:lstStyle/>
          <a:p>
            <a:pPr algn="ctr" indent="0" marL="0">
              <a:buNone/>
            </a:pPr>
            <a:r>
              <a:rPr lang="en-US" sz="1600" dirty="0">
                <a:solidFill>
                  <a:schemeClr val="accent6"/>
                </a:solidFill>
              </a:rPr>
              <a:t>Customers get a snack that delivers on taste, energy and price. FitBite earns revenue and the feedback it needs to keep improving.</a:t>
            </a:r>
            <a:endParaRPr lang="en-US" sz="16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1"/>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01  ·  PRODUCT AND ORIENTATION</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We lead with the Marketing Concept</a:t>
            </a:r>
            <a:endParaRPr lang="en-US" sz="3400" dirty="0"/>
          </a:p>
        </p:txBody>
      </p:sp>
      <p:sp>
        <p:nvSpPr>
          <p:cNvPr id="5" name="Marketing Concept card"/>
          <p:cNvSpPr/>
          <p:nvPr/>
        </p:nvSpPr>
        <p:spPr>
          <a:xfrm>
            <a:off x="548640" y="1783080"/>
            <a:ext cx="4754880" cy="4206240"/>
          </a:xfrm>
          <a:prstGeom prst="roundRect">
            <a:avLst>
              <a:gd name="adj" fmla="val 3913"/>
            </a:avLst>
          </a:prstGeom>
          <a:solidFill>
            <a:schemeClr val="tx2"/>
          </a:solidFill>
          <a:ln/>
        </p:spPr>
      </p:sp>
      <p:sp>
        <p:nvSpPr>
          <p:cNvPr id="6" name="Marketing Concept circle"/>
          <p:cNvSpPr/>
          <p:nvPr/>
        </p:nvSpPr>
        <p:spPr>
          <a:xfrm>
            <a:off x="960120" y="2194560"/>
            <a:ext cx="914400" cy="914400"/>
          </a:xfrm>
          <a:prstGeom prst="ellipse">
            <a:avLst/>
          </a:prstGeom>
          <a:solidFill>
            <a:schemeClr val="accent1"/>
          </a:solidFill>
          <a:ln/>
        </p:spPr>
      </p:sp>
      <p:pic>
        <p:nvPicPr>
          <p:cNvPr id="7" name="Marketing Concept icon" descr="Marketing Concept">    </p:cNvPr>
          <p:cNvPicPr>
            <a:picLocks noChangeAspect="1"/>
          </p:cNvPicPr>
          <p:nvPr/>
        </p:nvPicPr>
        <p:blipFill>
          <a:blip r:embed="rId1"/>
          <a:stretch>
            <a:fillRect/>
          </a:stretch>
        </p:blipFill>
        <p:spPr>
          <a:xfrm>
            <a:off x="1179576" y="2414016"/>
            <a:ext cx="475488" cy="475488"/>
          </a:xfrm>
          <a:prstGeom prst="rect">
            <a:avLst/>
          </a:prstGeom>
        </p:spPr>
      </p:pic>
      <p:sp>
        <p:nvSpPr>
          <p:cNvPr id="8" name="Our choice badge"/>
          <p:cNvSpPr/>
          <p:nvPr/>
        </p:nvSpPr>
        <p:spPr>
          <a:xfrm>
            <a:off x="3611880" y="2331720"/>
            <a:ext cx="1280160" cy="402336"/>
          </a:xfrm>
          <a:prstGeom prst="roundRect">
            <a:avLst>
              <a:gd name="adj" fmla="val 50000"/>
            </a:avLst>
          </a:prstGeom>
          <a:solidFill>
            <a:schemeClr val="accent3"/>
          </a:solidFill>
          <a:ln/>
        </p:spPr>
      </p:sp>
      <p:sp>
        <p:nvSpPr>
          <p:cNvPr id="9" name="Our choice text"/>
          <p:cNvSpPr txBox="1"/>
          <p:nvPr/>
        </p:nvSpPr>
        <p:spPr>
          <a:xfrm>
            <a:off x="3611880" y="2331720"/>
            <a:ext cx="1280160" cy="402336"/>
          </a:xfrm>
          <a:prstGeom prst="rect">
            <a:avLst/>
          </a:prstGeom>
          <a:noFill/>
          <a:ln/>
        </p:spPr>
        <p:txBody>
          <a:bodyPr wrap="square" lIns="0" tIns="0" rIns="0" bIns="0" rtlCol="0" anchor="ctr"/>
          <a:lstStyle/>
          <a:p>
            <a:pPr algn="ctr" indent="0" marL="0">
              <a:buNone/>
            </a:pPr>
            <a:r>
              <a:rPr lang="en-US" sz="1200" b="1" spc="100" kern="0" dirty="0">
                <a:solidFill>
                  <a:schemeClr val="tx2"/>
                </a:solidFill>
              </a:rPr>
              <a:t>OUR CHOICE</a:t>
            </a:r>
            <a:endParaRPr lang="en-US" sz="1200" dirty="0"/>
          </a:p>
        </p:txBody>
      </p:sp>
      <p:sp>
        <p:nvSpPr>
          <p:cNvPr id="10" name="Marketing Concept title"/>
          <p:cNvSpPr txBox="1"/>
          <p:nvPr/>
        </p:nvSpPr>
        <p:spPr>
          <a:xfrm>
            <a:off x="960120" y="3337560"/>
            <a:ext cx="3931920" cy="548640"/>
          </a:xfrm>
          <a:prstGeom prst="rect">
            <a:avLst/>
          </a:prstGeom>
          <a:noFill/>
          <a:ln/>
        </p:spPr>
        <p:txBody>
          <a:bodyPr wrap="square" lIns="0" tIns="0" rIns="0" bIns="0" rtlCol="0" anchor="t"/>
          <a:lstStyle/>
          <a:p>
            <a:pPr indent="0" marL="0">
              <a:buNone/>
            </a:pPr>
            <a:r>
              <a:rPr lang="en-US" sz="2800" b="1" dirty="0">
                <a:solidFill>
                  <a:schemeClr val="bg1"/>
                </a:solidFill>
              </a:rPr>
              <a:t>Marketing Concept</a:t>
            </a:r>
            <a:endParaRPr lang="en-US" sz="2800" dirty="0"/>
          </a:p>
        </p:txBody>
      </p:sp>
      <p:sp>
        <p:nvSpPr>
          <p:cNvPr id="11" name="Marketing Concept focus"/>
          <p:cNvSpPr txBox="1"/>
          <p:nvPr/>
        </p:nvSpPr>
        <p:spPr>
          <a:xfrm>
            <a:off x="960120" y="3977640"/>
            <a:ext cx="3931920" cy="777240"/>
          </a:xfrm>
          <a:prstGeom prst="rect">
            <a:avLst/>
          </a:prstGeom>
          <a:noFill/>
          <a:ln/>
        </p:spPr>
        <p:txBody>
          <a:bodyPr wrap="square" lIns="0" tIns="0" rIns="0" bIns="0" rtlCol="0" anchor="t"/>
          <a:lstStyle/>
          <a:p>
            <a:pPr indent="0" marL="0">
              <a:buNone/>
            </a:pPr>
            <a:r>
              <a:rPr lang="en-US" sz="1600" b="1" dirty="0">
                <a:solidFill>
                  <a:schemeClr val="accent3"/>
                </a:solidFill>
              </a:rPr>
              <a:t>Focus</a:t>
            </a:r>
            <a:endParaRPr lang="en-US" sz="1600" dirty="0"/>
          </a:p>
          <a:p>
            <a:pPr indent="0" marL="0">
              <a:buNone/>
            </a:pPr>
            <a:r>
              <a:rPr lang="en-US" sz="1600" dirty="0">
                <a:solidFill>
                  <a:schemeClr val="bg1"/>
                </a:solidFill>
              </a:rPr>
              <a:t>Understand and satisfy customers' needs and wants.</a:t>
            </a:r>
            <a:endParaRPr lang="en-US" sz="1600" dirty="0"/>
          </a:p>
        </p:txBody>
      </p:sp>
      <p:sp>
        <p:nvSpPr>
          <p:cNvPr id="12" name="Marketing Concept fit"/>
          <p:cNvSpPr txBox="1"/>
          <p:nvPr/>
        </p:nvSpPr>
        <p:spPr>
          <a:xfrm>
            <a:off x="960120" y="4846320"/>
            <a:ext cx="3931920" cy="1005840"/>
          </a:xfrm>
          <a:prstGeom prst="rect">
            <a:avLst/>
          </a:prstGeom>
          <a:noFill/>
          <a:ln/>
        </p:spPr>
        <p:txBody>
          <a:bodyPr wrap="square" lIns="0" tIns="0" rIns="0" bIns="0" rtlCol="0" anchor="t"/>
          <a:lstStyle/>
          <a:p>
            <a:pPr indent="0" marL="0">
              <a:buNone/>
            </a:pPr>
            <a:r>
              <a:rPr lang="en-US" sz="1600" b="1" dirty="0">
                <a:solidFill>
                  <a:schemeClr val="accent3"/>
                </a:solidFill>
              </a:rPr>
              <a:t>Why it fits FitBite</a:t>
            </a:r>
            <a:endParaRPr lang="en-US" sz="1600" dirty="0"/>
          </a:p>
          <a:p>
            <a:pPr indent="0" marL="0">
              <a:buNone/>
            </a:pPr>
            <a:r>
              <a:rPr lang="en-US" sz="1600" dirty="0">
                <a:solidFill>
                  <a:schemeClr val="bg1"/>
                </a:solidFill>
              </a:rPr>
              <a:t>The product was developed after identifying a real need: Ahmed, a student who needs an affordable, nutritious snack.</a:t>
            </a:r>
            <a:endParaRPr lang="en-US" sz="1600" dirty="0"/>
          </a:p>
        </p:txBody>
      </p:sp>
      <p:sp>
        <p:nvSpPr>
          <p:cNvPr id="13" name="Alternatives label"/>
          <p:cNvSpPr txBox="1"/>
          <p:nvPr/>
        </p:nvSpPr>
        <p:spPr>
          <a:xfrm>
            <a:off x="5669280" y="1783080"/>
            <a:ext cx="5973775"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THE ALTERNATIVES WE SET ASIDE</a:t>
            </a:r>
            <a:endParaRPr lang="en-US" sz="1200" dirty="0"/>
          </a:p>
        </p:txBody>
      </p:sp>
      <p:sp>
        <p:nvSpPr>
          <p:cNvPr id="14" name="Production Concept card"/>
          <p:cNvSpPr/>
          <p:nvPr/>
        </p:nvSpPr>
        <p:spPr>
          <a:xfrm>
            <a:off x="5669280" y="2148840"/>
            <a:ext cx="5973775" cy="1188720"/>
          </a:xfrm>
          <a:prstGeom prst="roundRect">
            <a:avLst>
              <a:gd name="adj" fmla="val 13846"/>
            </a:avLst>
          </a:prstGeom>
          <a:solidFill>
            <a:schemeClr val="bg2"/>
          </a:solidFill>
          <a:ln/>
        </p:spPr>
      </p:sp>
      <p:sp>
        <p:nvSpPr>
          <p:cNvPr id="15" name="Production Concept circle"/>
          <p:cNvSpPr/>
          <p:nvPr/>
        </p:nvSpPr>
        <p:spPr>
          <a:xfrm>
            <a:off x="5943600" y="2404872"/>
            <a:ext cx="676656" cy="676656"/>
          </a:xfrm>
          <a:prstGeom prst="ellipse">
            <a:avLst/>
          </a:prstGeom>
          <a:solidFill>
            <a:schemeClr val="accent6"/>
          </a:solidFill>
          <a:ln/>
        </p:spPr>
      </p:sp>
      <p:pic>
        <p:nvPicPr>
          <p:cNvPr id="16" name="Production Concept icon" descr="Production Concept">    </p:cNvPr>
          <p:cNvPicPr>
            <a:picLocks noChangeAspect="1"/>
          </p:cNvPicPr>
          <p:nvPr/>
        </p:nvPicPr>
        <p:blipFill>
          <a:blip r:embed="rId2"/>
          <a:stretch>
            <a:fillRect/>
          </a:stretch>
        </p:blipFill>
        <p:spPr>
          <a:xfrm>
            <a:off x="6105997" y="2567269"/>
            <a:ext cx="351861" cy="351861"/>
          </a:xfrm>
          <a:prstGeom prst="rect">
            <a:avLst/>
          </a:prstGeom>
        </p:spPr>
      </p:pic>
      <p:sp>
        <p:nvSpPr>
          <p:cNvPr id="17" name="Production Concept title"/>
          <p:cNvSpPr txBox="1"/>
          <p:nvPr/>
        </p:nvSpPr>
        <p:spPr>
          <a:xfrm>
            <a:off x="6858000" y="2276856"/>
            <a:ext cx="4602175" cy="365760"/>
          </a:xfrm>
          <a:prstGeom prst="rect">
            <a:avLst/>
          </a:prstGeom>
          <a:noFill/>
          <a:ln/>
        </p:spPr>
        <p:txBody>
          <a:bodyPr wrap="square" lIns="0" tIns="0" rIns="0" bIns="0" rtlCol="0" anchor="t"/>
          <a:lstStyle/>
          <a:p>
            <a:pPr indent="0" marL="0">
              <a:buNone/>
            </a:pPr>
            <a:r>
              <a:rPr lang="en-US" sz="1900" b="1" dirty="0">
                <a:solidFill>
                  <a:schemeClr val="tx2"/>
                </a:solidFill>
              </a:rPr>
              <a:t>Production Concept</a:t>
            </a:r>
            <a:endParaRPr lang="en-US" sz="1900" dirty="0"/>
          </a:p>
        </p:txBody>
      </p:sp>
      <p:sp>
        <p:nvSpPr>
          <p:cNvPr id="18" name="Production Concept focus"/>
          <p:cNvSpPr txBox="1"/>
          <p:nvPr/>
        </p:nvSpPr>
        <p:spPr>
          <a:xfrm>
            <a:off x="6858000" y="2660904"/>
            <a:ext cx="2186788" cy="594360"/>
          </a:xfrm>
          <a:prstGeom prst="rect">
            <a:avLst/>
          </a:prstGeom>
          <a:noFill/>
          <a:ln/>
        </p:spPr>
        <p:txBody>
          <a:bodyPr wrap="square" lIns="0" tIns="0" rIns="0" bIns="0" rtlCol="0" anchor="t"/>
          <a:lstStyle/>
          <a:p>
            <a:pPr indent="0" marL="0">
              <a:buNone/>
            </a:pPr>
            <a:r>
              <a:rPr lang="en-US" sz="1400" b="1" dirty="0">
                <a:solidFill>
                  <a:schemeClr val="tx2"/>
                </a:solidFill>
              </a:rPr>
              <a:t>Focus  </a:t>
            </a:r>
            <a:pPr indent="0" marL="0">
              <a:buNone/>
            </a:pPr>
            <a:r>
              <a:rPr lang="en-US" sz="1400" dirty="0">
                <a:solidFill>
                  <a:schemeClr val="tx1"/>
                </a:solidFill>
              </a:rPr>
              <a:t>Efficiency and distribution.</a:t>
            </a:r>
            <a:endParaRPr lang="en-US" sz="1400" dirty="0"/>
          </a:p>
        </p:txBody>
      </p:sp>
      <p:sp>
        <p:nvSpPr>
          <p:cNvPr id="19" name="Production Concept risk"/>
          <p:cNvSpPr txBox="1"/>
          <p:nvPr/>
        </p:nvSpPr>
        <p:spPr>
          <a:xfrm>
            <a:off x="9273388" y="2660904"/>
            <a:ext cx="2186788" cy="594360"/>
          </a:xfrm>
          <a:prstGeom prst="rect">
            <a:avLst/>
          </a:prstGeom>
          <a:noFill/>
          <a:ln/>
        </p:spPr>
        <p:txBody>
          <a:bodyPr wrap="square" lIns="0" tIns="0" rIns="0" bIns="0" rtlCol="0" anchor="t"/>
          <a:lstStyle/>
          <a:p>
            <a:pPr indent="0" marL="0">
              <a:buNone/>
            </a:pPr>
            <a:r>
              <a:rPr lang="en-US" sz="1400" b="1" dirty="0">
                <a:solidFill>
                  <a:schemeClr val="accent4"/>
                </a:solidFill>
              </a:rPr>
              <a:t>Risk  </a:t>
            </a:r>
            <a:pPr indent="0" marL="0">
              <a:buNone/>
            </a:pPr>
            <a:r>
              <a:rPr lang="en-US" sz="1400" dirty="0">
                <a:solidFill>
                  <a:schemeClr val="tx1"/>
                </a:solidFill>
              </a:rPr>
              <a:t>May overlook customer preferences.</a:t>
            </a:r>
            <a:endParaRPr lang="en-US" sz="1400" dirty="0"/>
          </a:p>
        </p:txBody>
      </p:sp>
      <p:sp>
        <p:nvSpPr>
          <p:cNvPr id="20" name="Product Concept card"/>
          <p:cNvSpPr/>
          <p:nvPr/>
        </p:nvSpPr>
        <p:spPr>
          <a:xfrm>
            <a:off x="5669280" y="3474720"/>
            <a:ext cx="5973775" cy="1188720"/>
          </a:xfrm>
          <a:prstGeom prst="roundRect">
            <a:avLst>
              <a:gd name="adj" fmla="val 13846"/>
            </a:avLst>
          </a:prstGeom>
          <a:solidFill>
            <a:schemeClr val="bg2"/>
          </a:solidFill>
          <a:ln/>
        </p:spPr>
      </p:sp>
      <p:sp>
        <p:nvSpPr>
          <p:cNvPr id="21" name="Product Concept circle"/>
          <p:cNvSpPr/>
          <p:nvPr/>
        </p:nvSpPr>
        <p:spPr>
          <a:xfrm>
            <a:off x="5943600" y="3730752"/>
            <a:ext cx="676656" cy="676656"/>
          </a:xfrm>
          <a:prstGeom prst="ellipse">
            <a:avLst/>
          </a:prstGeom>
          <a:solidFill>
            <a:schemeClr val="accent6"/>
          </a:solidFill>
          <a:ln/>
        </p:spPr>
      </p:sp>
      <p:pic>
        <p:nvPicPr>
          <p:cNvPr id="22" name="Product Concept icon" descr="Product Concept">    </p:cNvPr>
          <p:cNvPicPr>
            <a:picLocks noChangeAspect="1"/>
          </p:cNvPicPr>
          <p:nvPr/>
        </p:nvPicPr>
        <p:blipFill>
          <a:blip r:embed="rId3"/>
          <a:stretch>
            <a:fillRect/>
          </a:stretch>
        </p:blipFill>
        <p:spPr>
          <a:xfrm>
            <a:off x="6105997" y="3893149"/>
            <a:ext cx="351861" cy="351861"/>
          </a:xfrm>
          <a:prstGeom prst="rect">
            <a:avLst/>
          </a:prstGeom>
        </p:spPr>
      </p:pic>
      <p:sp>
        <p:nvSpPr>
          <p:cNvPr id="23" name="Product Concept title"/>
          <p:cNvSpPr txBox="1"/>
          <p:nvPr/>
        </p:nvSpPr>
        <p:spPr>
          <a:xfrm>
            <a:off x="6858000" y="3602736"/>
            <a:ext cx="4602175" cy="365760"/>
          </a:xfrm>
          <a:prstGeom prst="rect">
            <a:avLst/>
          </a:prstGeom>
          <a:noFill/>
          <a:ln/>
        </p:spPr>
        <p:txBody>
          <a:bodyPr wrap="square" lIns="0" tIns="0" rIns="0" bIns="0" rtlCol="0" anchor="t"/>
          <a:lstStyle/>
          <a:p>
            <a:pPr indent="0" marL="0">
              <a:buNone/>
            </a:pPr>
            <a:r>
              <a:rPr lang="en-US" sz="1900" b="1" dirty="0">
                <a:solidFill>
                  <a:schemeClr val="tx2"/>
                </a:solidFill>
              </a:rPr>
              <a:t>Product Concept</a:t>
            </a:r>
            <a:endParaRPr lang="en-US" sz="1900" dirty="0"/>
          </a:p>
        </p:txBody>
      </p:sp>
      <p:sp>
        <p:nvSpPr>
          <p:cNvPr id="24" name="Product Concept focus"/>
          <p:cNvSpPr txBox="1"/>
          <p:nvPr/>
        </p:nvSpPr>
        <p:spPr>
          <a:xfrm>
            <a:off x="6858000" y="3986784"/>
            <a:ext cx="2186788" cy="594360"/>
          </a:xfrm>
          <a:prstGeom prst="rect">
            <a:avLst/>
          </a:prstGeom>
          <a:noFill/>
          <a:ln/>
        </p:spPr>
        <p:txBody>
          <a:bodyPr wrap="square" lIns="0" tIns="0" rIns="0" bIns="0" rtlCol="0" anchor="t"/>
          <a:lstStyle/>
          <a:p>
            <a:pPr indent="0" marL="0">
              <a:buNone/>
            </a:pPr>
            <a:r>
              <a:rPr lang="en-US" sz="1400" b="1" dirty="0">
                <a:solidFill>
                  <a:schemeClr val="tx2"/>
                </a:solidFill>
              </a:rPr>
              <a:t>Focus  </a:t>
            </a:r>
            <a:pPr indent="0" marL="0">
              <a:buNone/>
            </a:pPr>
            <a:r>
              <a:rPr lang="en-US" sz="1400" dirty="0">
                <a:solidFill>
                  <a:schemeClr val="tx1"/>
                </a:solidFill>
              </a:rPr>
              <a:t>Quality and performance.</a:t>
            </a:r>
            <a:endParaRPr lang="en-US" sz="1400" dirty="0"/>
          </a:p>
        </p:txBody>
      </p:sp>
      <p:sp>
        <p:nvSpPr>
          <p:cNvPr id="25" name="Product Concept risk"/>
          <p:cNvSpPr txBox="1"/>
          <p:nvPr/>
        </p:nvSpPr>
        <p:spPr>
          <a:xfrm>
            <a:off x="9273388" y="3986784"/>
            <a:ext cx="2186788" cy="594360"/>
          </a:xfrm>
          <a:prstGeom prst="rect">
            <a:avLst/>
          </a:prstGeom>
          <a:noFill/>
          <a:ln/>
        </p:spPr>
        <p:txBody>
          <a:bodyPr wrap="square" lIns="0" tIns="0" rIns="0" bIns="0" rtlCol="0" anchor="t"/>
          <a:lstStyle/>
          <a:p>
            <a:pPr indent="0" marL="0">
              <a:buNone/>
            </a:pPr>
            <a:r>
              <a:rPr lang="en-US" sz="1400" b="1" dirty="0">
                <a:solidFill>
                  <a:schemeClr val="accent4"/>
                </a:solidFill>
              </a:rPr>
              <a:t>Risk  </a:t>
            </a:r>
            <a:pPr indent="0" marL="0">
              <a:buNone/>
            </a:pPr>
            <a:r>
              <a:rPr lang="en-US" sz="1400" dirty="0">
                <a:solidFill>
                  <a:schemeClr val="tx1"/>
                </a:solidFill>
              </a:rPr>
              <a:t>Can lead to excessively high prices.</a:t>
            </a:r>
            <a:endParaRPr lang="en-US" sz="1400" dirty="0"/>
          </a:p>
        </p:txBody>
      </p:sp>
      <p:sp>
        <p:nvSpPr>
          <p:cNvPr id="26" name="Selling Concept card"/>
          <p:cNvSpPr/>
          <p:nvPr/>
        </p:nvSpPr>
        <p:spPr>
          <a:xfrm>
            <a:off x="5669280" y="4800600"/>
            <a:ext cx="5973775" cy="1188720"/>
          </a:xfrm>
          <a:prstGeom prst="roundRect">
            <a:avLst>
              <a:gd name="adj" fmla="val 13846"/>
            </a:avLst>
          </a:prstGeom>
          <a:solidFill>
            <a:schemeClr val="bg2"/>
          </a:solidFill>
          <a:ln/>
        </p:spPr>
      </p:sp>
      <p:sp>
        <p:nvSpPr>
          <p:cNvPr id="27" name="Selling Concept circle"/>
          <p:cNvSpPr/>
          <p:nvPr/>
        </p:nvSpPr>
        <p:spPr>
          <a:xfrm>
            <a:off x="5943600" y="5056632"/>
            <a:ext cx="676656" cy="676656"/>
          </a:xfrm>
          <a:prstGeom prst="ellipse">
            <a:avLst/>
          </a:prstGeom>
          <a:solidFill>
            <a:schemeClr val="accent6"/>
          </a:solidFill>
          <a:ln/>
        </p:spPr>
      </p:sp>
      <p:pic>
        <p:nvPicPr>
          <p:cNvPr id="28" name="Selling Concept icon" descr="Selling Concept">    </p:cNvPr>
          <p:cNvPicPr>
            <a:picLocks noChangeAspect="1"/>
          </p:cNvPicPr>
          <p:nvPr/>
        </p:nvPicPr>
        <p:blipFill>
          <a:blip r:embed="rId4"/>
          <a:stretch>
            <a:fillRect/>
          </a:stretch>
        </p:blipFill>
        <p:spPr>
          <a:xfrm>
            <a:off x="6105997" y="5219029"/>
            <a:ext cx="351861" cy="351861"/>
          </a:xfrm>
          <a:prstGeom prst="rect">
            <a:avLst/>
          </a:prstGeom>
        </p:spPr>
      </p:pic>
      <p:sp>
        <p:nvSpPr>
          <p:cNvPr id="29" name="Selling Concept title"/>
          <p:cNvSpPr txBox="1"/>
          <p:nvPr/>
        </p:nvSpPr>
        <p:spPr>
          <a:xfrm>
            <a:off x="6858000" y="4928616"/>
            <a:ext cx="4602175" cy="365760"/>
          </a:xfrm>
          <a:prstGeom prst="rect">
            <a:avLst/>
          </a:prstGeom>
          <a:noFill/>
          <a:ln/>
        </p:spPr>
        <p:txBody>
          <a:bodyPr wrap="square" lIns="0" tIns="0" rIns="0" bIns="0" rtlCol="0" anchor="t"/>
          <a:lstStyle/>
          <a:p>
            <a:pPr indent="0" marL="0">
              <a:buNone/>
            </a:pPr>
            <a:r>
              <a:rPr lang="en-US" sz="1900" b="1" dirty="0">
                <a:solidFill>
                  <a:schemeClr val="tx2"/>
                </a:solidFill>
              </a:rPr>
              <a:t>Selling Concept</a:t>
            </a:r>
            <a:endParaRPr lang="en-US" sz="1900" dirty="0"/>
          </a:p>
        </p:txBody>
      </p:sp>
      <p:sp>
        <p:nvSpPr>
          <p:cNvPr id="30" name="Selling Concept focus"/>
          <p:cNvSpPr txBox="1"/>
          <p:nvPr/>
        </p:nvSpPr>
        <p:spPr>
          <a:xfrm>
            <a:off x="6858000" y="5312664"/>
            <a:ext cx="2186788" cy="594360"/>
          </a:xfrm>
          <a:prstGeom prst="rect">
            <a:avLst/>
          </a:prstGeom>
          <a:noFill/>
          <a:ln/>
        </p:spPr>
        <p:txBody>
          <a:bodyPr wrap="square" lIns="0" tIns="0" rIns="0" bIns="0" rtlCol="0" anchor="t"/>
          <a:lstStyle/>
          <a:p>
            <a:pPr indent="0" marL="0">
              <a:buNone/>
            </a:pPr>
            <a:r>
              <a:rPr lang="en-US" sz="1400" b="1" dirty="0">
                <a:solidFill>
                  <a:schemeClr val="tx2"/>
                </a:solidFill>
              </a:rPr>
              <a:t>Focus  </a:t>
            </a:r>
            <a:pPr indent="0" marL="0">
              <a:buNone/>
            </a:pPr>
            <a:r>
              <a:rPr lang="en-US" sz="1400" dirty="0">
                <a:solidFill>
                  <a:schemeClr val="tx1"/>
                </a:solidFill>
              </a:rPr>
              <a:t>Aggressive promotion and sales.</a:t>
            </a:r>
            <a:endParaRPr lang="en-US" sz="1400" dirty="0"/>
          </a:p>
        </p:txBody>
      </p:sp>
      <p:sp>
        <p:nvSpPr>
          <p:cNvPr id="31" name="Selling Concept risk"/>
          <p:cNvSpPr txBox="1"/>
          <p:nvPr/>
        </p:nvSpPr>
        <p:spPr>
          <a:xfrm>
            <a:off x="9273388" y="5312664"/>
            <a:ext cx="2186788" cy="594360"/>
          </a:xfrm>
          <a:prstGeom prst="rect">
            <a:avLst/>
          </a:prstGeom>
          <a:noFill/>
          <a:ln/>
        </p:spPr>
        <p:txBody>
          <a:bodyPr wrap="square" lIns="0" tIns="0" rIns="0" bIns="0" rtlCol="0" anchor="t"/>
          <a:lstStyle/>
          <a:p>
            <a:pPr indent="0" marL="0">
              <a:buNone/>
            </a:pPr>
            <a:r>
              <a:rPr lang="en-US" sz="1400" b="1" dirty="0">
                <a:solidFill>
                  <a:schemeClr val="accent4"/>
                </a:solidFill>
              </a:rPr>
              <a:t>Risk  </a:t>
            </a:r>
            <a:pPr indent="0" marL="0">
              <a:buNone/>
            </a:pPr>
            <a:r>
              <a:rPr lang="en-US" sz="1400" dirty="0">
                <a:solidFill>
                  <a:schemeClr val="tx1"/>
                </a:solidFill>
              </a:rPr>
              <a:t>Little long-term customer loyalty.</a:t>
            </a:r>
            <a:endParaRPr lang="en-US" sz="14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2"/>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02  ·  COMPETITION</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We compete for every snack break</a:t>
            </a:r>
            <a:endParaRPr lang="en-US" sz="3400" dirty="0"/>
          </a:p>
        </p:txBody>
      </p:sp>
      <p:sp>
        <p:nvSpPr>
          <p:cNvPr id="5" name="Direct competitors panel"/>
          <p:cNvSpPr/>
          <p:nvPr/>
        </p:nvSpPr>
        <p:spPr>
          <a:xfrm>
            <a:off x="548640" y="1783080"/>
            <a:ext cx="5364328" cy="4251960"/>
          </a:xfrm>
          <a:prstGeom prst="roundRect">
            <a:avLst>
              <a:gd name="adj" fmla="val 3871"/>
            </a:avLst>
          </a:prstGeom>
          <a:solidFill>
            <a:schemeClr val="accent1">
              <a:alpha val="14000"/>
            </a:schemeClr>
          </a:solidFill>
          <a:ln/>
        </p:spPr>
      </p:sp>
      <p:sp>
        <p:nvSpPr>
          <p:cNvPr id="6" name="Direct competitors circle"/>
          <p:cNvSpPr/>
          <p:nvPr/>
        </p:nvSpPr>
        <p:spPr>
          <a:xfrm>
            <a:off x="914400" y="2148840"/>
            <a:ext cx="777240" cy="777240"/>
          </a:xfrm>
          <a:prstGeom prst="ellipse">
            <a:avLst/>
          </a:prstGeom>
          <a:solidFill>
            <a:schemeClr val="accent1"/>
          </a:solidFill>
          <a:ln/>
        </p:spPr>
      </p:sp>
      <p:pic>
        <p:nvPicPr>
          <p:cNvPr id="7" name="Direct competitors icon" descr="Direct competitors">    </p:cNvPr>
          <p:cNvPicPr>
            <a:picLocks noChangeAspect="1"/>
          </p:cNvPicPr>
          <p:nvPr/>
        </p:nvPicPr>
        <p:blipFill>
          <a:blip r:embed="rId1"/>
          <a:stretch>
            <a:fillRect/>
          </a:stretch>
        </p:blipFill>
        <p:spPr>
          <a:xfrm>
            <a:off x="1100938" y="2335378"/>
            <a:ext cx="404165" cy="404165"/>
          </a:xfrm>
          <a:prstGeom prst="rect">
            <a:avLst/>
          </a:prstGeom>
        </p:spPr>
      </p:pic>
      <p:sp>
        <p:nvSpPr>
          <p:cNvPr id="8" name="Direct competitors title"/>
          <p:cNvSpPr txBox="1"/>
          <p:nvPr/>
        </p:nvSpPr>
        <p:spPr>
          <a:xfrm>
            <a:off x="1874520" y="2167128"/>
            <a:ext cx="3718408" cy="457200"/>
          </a:xfrm>
          <a:prstGeom prst="rect">
            <a:avLst/>
          </a:prstGeom>
          <a:noFill/>
          <a:ln/>
        </p:spPr>
        <p:txBody>
          <a:bodyPr wrap="square" lIns="0" tIns="0" rIns="0" bIns="0" rtlCol="0" anchor="t"/>
          <a:lstStyle/>
          <a:p>
            <a:pPr indent="0" marL="0">
              <a:buNone/>
            </a:pPr>
            <a:r>
              <a:rPr lang="en-US" sz="2400" b="1" dirty="0">
                <a:solidFill>
                  <a:schemeClr val="tx2"/>
                </a:solidFill>
              </a:rPr>
              <a:t>Direct competitors</a:t>
            </a:r>
            <a:endParaRPr lang="en-US" sz="2400" dirty="0"/>
          </a:p>
        </p:txBody>
      </p:sp>
      <p:sp>
        <p:nvSpPr>
          <p:cNvPr id="9" name="Direct competitors count"/>
          <p:cNvSpPr txBox="1"/>
          <p:nvPr/>
        </p:nvSpPr>
        <p:spPr>
          <a:xfrm>
            <a:off x="1874520" y="2606040"/>
            <a:ext cx="3718408" cy="320040"/>
          </a:xfrm>
          <a:prstGeom prst="rect">
            <a:avLst/>
          </a:prstGeom>
          <a:noFill/>
          <a:ln/>
        </p:spPr>
        <p:txBody>
          <a:bodyPr wrap="square" lIns="0" tIns="0" rIns="0" bIns="0" rtlCol="0" anchor="t"/>
          <a:lstStyle/>
          <a:p>
            <a:pPr indent="0" marL="0">
              <a:buNone/>
            </a:pPr>
            <a:r>
              <a:rPr lang="en-US" sz="1400" dirty="0">
                <a:solidFill>
                  <a:schemeClr val="accent6"/>
                </a:solidFill>
              </a:rPr>
              <a:t>4 brands</a:t>
            </a:r>
            <a:endParaRPr lang="en-US" sz="1400" dirty="0"/>
          </a:p>
        </p:txBody>
      </p:sp>
      <p:sp>
        <p:nvSpPr>
          <p:cNvPr id="10" name="Direct competitors description"/>
          <p:cNvSpPr txBox="1"/>
          <p:nvPr/>
        </p:nvSpPr>
        <p:spPr>
          <a:xfrm>
            <a:off x="914400" y="3154680"/>
            <a:ext cx="4632808" cy="731520"/>
          </a:xfrm>
          <a:prstGeom prst="rect">
            <a:avLst/>
          </a:prstGeom>
          <a:noFill/>
          <a:ln/>
        </p:spPr>
        <p:txBody>
          <a:bodyPr wrap="square" lIns="0" tIns="0" rIns="0" bIns="0" rtlCol="0" anchor="t"/>
          <a:lstStyle/>
          <a:p>
            <a:pPr indent="0" marL="0">
              <a:buNone/>
            </a:pPr>
            <a:r>
              <a:rPr lang="en-US" sz="1600" dirty="0">
                <a:solidFill>
                  <a:schemeClr val="tx1"/>
                </a:solidFill>
              </a:rPr>
              <a:t>Products with similar benefits that serve the same purpose: energy bars and snack products.</a:t>
            </a:r>
            <a:endParaRPr lang="en-US" sz="1600" dirty="0"/>
          </a:p>
        </p:txBody>
      </p:sp>
      <p:sp>
        <p:nvSpPr>
          <p:cNvPr id="11" name="Tiger Bar chip"/>
          <p:cNvSpPr/>
          <p:nvPr/>
        </p:nvSpPr>
        <p:spPr>
          <a:xfrm>
            <a:off x="914400" y="4023360"/>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12" name="Tiger Bar name"/>
          <p:cNvSpPr txBox="1"/>
          <p:nvPr/>
        </p:nvSpPr>
        <p:spPr>
          <a:xfrm>
            <a:off x="914400" y="4023360"/>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Tiger Bar</a:t>
            </a:r>
            <a:endParaRPr lang="en-US" sz="1600" dirty="0"/>
          </a:p>
        </p:txBody>
      </p:sp>
      <p:sp>
        <p:nvSpPr>
          <p:cNvPr id="13" name="Break Bar chip"/>
          <p:cNvSpPr/>
          <p:nvPr/>
        </p:nvSpPr>
        <p:spPr>
          <a:xfrm>
            <a:off x="3345104" y="4023360"/>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14" name="Break Bar name"/>
          <p:cNvSpPr txBox="1"/>
          <p:nvPr/>
        </p:nvSpPr>
        <p:spPr>
          <a:xfrm>
            <a:off x="3345104" y="4023360"/>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Break Bar</a:t>
            </a:r>
            <a:endParaRPr lang="en-US" sz="1600" dirty="0"/>
          </a:p>
        </p:txBody>
      </p:sp>
      <p:sp>
        <p:nvSpPr>
          <p:cNvPr id="15" name="Abu Auf chip"/>
          <p:cNvSpPr/>
          <p:nvPr/>
        </p:nvSpPr>
        <p:spPr>
          <a:xfrm>
            <a:off x="914400" y="4681728"/>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16" name="Abu Auf name"/>
          <p:cNvSpPr txBox="1"/>
          <p:nvPr/>
        </p:nvSpPr>
        <p:spPr>
          <a:xfrm>
            <a:off x="914400" y="4681728"/>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Abu Auf</a:t>
            </a:r>
            <a:endParaRPr lang="en-US" sz="1600" dirty="0"/>
          </a:p>
        </p:txBody>
      </p:sp>
      <p:sp>
        <p:nvSpPr>
          <p:cNvPr id="17" name="Datto chip"/>
          <p:cNvSpPr/>
          <p:nvPr/>
        </p:nvSpPr>
        <p:spPr>
          <a:xfrm>
            <a:off x="3345104" y="4681728"/>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18" name="Datto name"/>
          <p:cNvSpPr txBox="1"/>
          <p:nvPr/>
        </p:nvSpPr>
        <p:spPr>
          <a:xfrm>
            <a:off x="3345104" y="4681728"/>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Datto</a:t>
            </a:r>
            <a:endParaRPr lang="en-US" sz="1600" dirty="0"/>
          </a:p>
        </p:txBody>
      </p:sp>
      <p:sp>
        <p:nvSpPr>
          <p:cNvPr id="19" name="Indirect competitors panel"/>
          <p:cNvSpPr/>
          <p:nvPr/>
        </p:nvSpPr>
        <p:spPr>
          <a:xfrm>
            <a:off x="6278728" y="1783080"/>
            <a:ext cx="5364328" cy="4251960"/>
          </a:xfrm>
          <a:prstGeom prst="roundRect">
            <a:avLst>
              <a:gd name="adj" fmla="val 3871"/>
            </a:avLst>
          </a:prstGeom>
          <a:solidFill>
            <a:schemeClr val="accent2">
              <a:alpha val="14000"/>
            </a:schemeClr>
          </a:solidFill>
          <a:ln/>
        </p:spPr>
      </p:sp>
      <p:sp>
        <p:nvSpPr>
          <p:cNvPr id="20" name="Indirect competitors circle"/>
          <p:cNvSpPr/>
          <p:nvPr/>
        </p:nvSpPr>
        <p:spPr>
          <a:xfrm>
            <a:off x="6644488" y="2148840"/>
            <a:ext cx="777240" cy="777240"/>
          </a:xfrm>
          <a:prstGeom prst="ellipse">
            <a:avLst/>
          </a:prstGeom>
          <a:solidFill>
            <a:schemeClr val="accent2"/>
          </a:solidFill>
          <a:ln/>
        </p:spPr>
      </p:sp>
      <p:pic>
        <p:nvPicPr>
          <p:cNvPr id="21" name="Indirect competitors icon" descr="Indirect competitors">    </p:cNvPr>
          <p:cNvPicPr>
            <a:picLocks noChangeAspect="1"/>
          </p:cNvPicPr>
          <p:nvPr/>
        </p:nvPicPr>
        <p:blipFill>
          <a:blip r:embed="rId2"/>
          <a:stretch>
            <a:fillRect/>
          </a:stretch>
        </p:blipFill>
        <p:spPr>
          <a:xfrm>
            <a:off x="6831025" y="2335378"/>
            <a:ext cx="404165" cy="404165"/>
          </a:xfrm>
          <a:prstGeom prst="rect">
            <a:avLst/>
          </a:prstGeom>
        </p:spPr>
      </p:pic>
      <p:sp>
        <p:nvSpPr>
          <p:cNvPr id="22" name="Indirect competitors title"/>
          <p:cNvSpPr txBox="1"/>
          <p:nvPr/>
        </p:nvSpPr>
        <p:spPr>
          <a:xfrm>
            <a:off x="7604608" y="2167128"/>
            <a:ext cx="3718408" cy="457200"/>
          </a:xfrm>
          <a:prstGeom prst="rect">
            <a:avLst/>
          </a:prstGeom>
          <a:noFill/>
          <a:ln/>
        </p:spPr>
        <p:txBody>
          <a:bodyPr wrap="square" lIns="0" tIns="0" rIns="0" bIns="0" rtlCol="0" anchor="t"/>
          <a:lstStyle/>
          <a:p>
            <a:pPr indent="0" marL="0">
              <a:buNone/>
            </a:pPr>
            <a:r>
              <a:rPr lang="en-US" sz="2400" b="1" dirty="0">
                <a:solidFill>
                  <a:schemeClr val="tx2"/>
                </a:solidFill>
              </a:rPr>
              <a:t>Indirect competitors</a:t>
            </a:r>
            <a:endParaRPr lang="en-US" sz="2400" dirty="0"/>
          </a:p>
        </p:txBody>
      </p:sp>
      <p:sp>
        <p:nvSpPr>
          <p:cNvPr id="23" name="Indirect competitors count"/>
          <p:cNvSpPr txBox="1"/>
          <p:nvPr/>
        </p:nvSpPr>
        <p:spPr>
          <a:xfrm>
            <a:off x="7604608" y="2606040"/>
            <a:ext cx="3718408" cy="320040"/>
          </a:xfrm>
          <a:prstGeom prst="rect">
            <a:avLst/>
          </a:prstGeom>
          <a:noFill/>
          <a:ln/>
        </p:spPr>
        <p:txBody>
          <a:bodyPr wrap="square" lIns="0" tIns="0" rIns="0" bIns="0" rtlCol="0" anchor="t"/>
          <a:lstStyle/>
          <a:p>
            <a:pPr indent="0" marL="0">
              <a:buNone/>
            </a:pPr>
            <a:r>
              <a:rPr lang="en-US" sz="1400" dirty="0">
                <a:solidFill>
                  <a:schemeClr val="accent6"/>
                </a:solidFill>
              </a:rPr>
              <a:t>5 alternatives</a:t>
            </a:r>
            <a:endParaRPr lang="en-US" sz="1400" dirty="0"/>
          </a:p>
        </p:txBody>
      </p:sp>
      <p:sp>
        <p:nvSpPr>
          <p:cNvPr id="24" name="Indirect competitors description"/>
          <p:cNvSpPr txBox="1"/>
          <p:nvPr/>
        </p:nvSpPr>
        <p:spPr>
          <a:xfrm>
            <a:off x="6644488" y="3154680"/>
            <a:ext cx="4632808" cy="731520"/>
          </a:xfrm>
          <a:prstGeom prst="rect">
            <a:avLst/>
          </a:prstGeom>
          <a:noFill/>
          <a:ln/>
        </p:spPr>
        <p:txBody>
          <a:bodyPr wrap="square" lIns="0" tIns="0" rIns="0" bIns="0" rtlCol="0" anchor="t"/>
          <a:lstStyle/>
          <a:p>
            <a:pPr indent="0" marL="0">
              <a:buNone/>
            </a:pPr>
            <a:r>
              <a:rPr lang="en-US" sz="1600" dirty="0">
                <a:solidFill>
                  <a:schemeClr val="tx1"/>
                </a:solidFill>
              </a:rPr>
              <a:t>Alternatives customers may buy instead to satisfy their hunger.</a:t>
            </a:r>
            <a:endParaRPr lang="en-US" sz="1600" dirty="0"/>
          </a:p>
        </p:txBody>
      </p:sp>
      <p:sp>
        <p:nvSpPr>
          <p:cNvPr id="25" name="Royal biscuits chip"/>
          <p:cNvSpPr/>
          <p:nvPr/>
        </p:nvSpPr>
        <p:spPr>
          <a:xfrm>
            <a:off x="6644488" y="4023360"/>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26" name="Royal biscuits name"/>
          <p:cNvSpPr txBox="1"/>
          <p:nvPr/>
        </p:nvSpPr>
        <p:spPr>
          <a:xfrm>
            <a:off x="6644488" y="4023360"/>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Royal biscuits</a:t>
            </a:r>
            <a:endParaRPr lang="en-US" sz="1600" dirty="0"/>
          </a:p>
        </p:txBody>
      </p:sp>
      <p:sp>
        <p:nvSpPr>
          <p:cNvPr id="27" name="Captain Majid chips chip"/>
          <p:cNvSpPr/>
          <p:nvPr/>
        </p:nvSpPr>
        <p:spPr>
          <a:xfrm>
            <a:off x="9075191" y="4023360"/>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28" name="Captain Majid chips name"/>
          <p:cNvSpPr txBox="1"/>
          <p:nvPr/>
        </p:nvSpPr>
        <p:spPr>
          <a:xfrm>
            <a:off x="9075191" y="4023360"/>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Captain Majid chips</a:t>
            </a:r>
            <a:endParaRPr lang="en-US" sz="1600" dirty="0"/>
          </a:p>
        </p:txBody>
      </p:sp>
      <p:sp>
        <p:nvSpPr>
          <p:cNvPr id="29" name="Cadbury chocolate chip"/>
          <p:cNvSpPr/>
          <p:nvPr/>
        </p:nvSpPr>
        <p:spPr>
          <a:xfrm>
            <a:off x="6644488" y="4681728"/>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30" name="Cadbury chocolate name"/>
          <p:cNvSpPr txBox="1"/>
          <p:nvPr/>
        </p:nvSpPr>
        <p:spPr>
          <a:xfrm>
            <a:off x="6644488" y="4681728"/>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Cadbury chocolate</a:t>
            </a:r>
            <a:endParaRPr lang="en-US" sz="1600" dirty="0"/>
          </a:p>
        </p:txBody>
      </p:sp>
      <p:sp>
        <p:nvSpPr>
          <p:cNvPr id="31" name="Bakery products chip"/>
          <p:cNvSpPr/>
          <p:nvPr/>
        </p:nvSpPr>
        <p:spPr>
          <a:xfrm>
            <a:off x="9075191" y="4681728"/>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32" name="Bakery products name"/>
          <p:cNvSpPr txBox="1"/>
          <p:nvPr/>
        </p:nvSpPr>
        <p:spPr>
          <a:xfrm>
            <a:off x="9075191" y="4681728"/>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Bakery products</a:t>
            </a:r>
            <a:endParaRPr lang="en-US" sz="1600" dirty="0"/>
          </a:p>
        </p:txBody>
      </p:sp>
      <p:sp>
        <p:nvSpPr>
          <p:cNvPr id="33" name="Fresh fruits chip"/>
          <p:cNvSpPr/>
          <p:nvPr/>
        </p:nvSpPr>
        <p:spPr>
          <a:xfrm>
            <a:off x="6644488" y="5340096"/>
            <a:ext cx="2202104" cy="512064"/>
          </a:xfrm>
          <a:prstGeom prst="roundRect">
            <a:avLst>
              <a:gd name="adj" fmla="val 50000"/>
            </a:avLst>
          </a:prstGeom>
          <a:solidFill>
            <a:schemeClr val="bg1"/>
          </a:solidFill>
          <a:ln/>
          <a:effectLst>
            <a:outerShdw sx="100000" sy="100000" kx="0" ky="0" algn="bl" rotWithShape="0" blurRad="127000" dist="25400" dir="5400000">
              <a:srgbClr val="000000">
                <a:alpha val="12000"/>
              </a:srgbClr>
            </a:outerShdw>
          </a:effectLst>
        </p:spPr>
      </p:sp>
      <p:sp>
        <p:nvSpPr>
          <p:cNvPr id="34" name="Fresh fruits name"/>
          <p:cNvSpPr txBox="1"/>
          <p:nvPr/>
        </p:nvSpPr>
        <p:spPr>
          <a:xfrm>
            <a:off x="6644488" y="5340096"/>
            <a:ext cx="2202104" cy="512064"/>
          </a:xfrm>
          <a:prstGeom prst="rect">
            <a:avLst/>
          </a:prstGeom>
          <a:noFill/>
          <a:ln/>
        </p:spPr>
        <p:txBody>
          <a:bodyPr wrap="square" lIns="0" tIns="0" rIns="0" bIns="0" rtlCol="0" anchor="ctr"/>
          <a:lstStyle/>
          <a:p>
            <a:pPr algn="ctr" indent="0" marL="0">
              <a:buNone/>
            </a:pPr>
            <a:r>
              <a:rPr lang="en-US" sz="1600" b="1" dirty="0">
                <a:solidFill>
                  <a:schemeClr val="tx2"/>
                </a:solidFill>
              </a:rPr>
              <a:t>Fresh fruits</a:t>
            </a:r>
            <a:endParaRPr lang="en-US" sz="16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2"/>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02  ·  COMPETITION</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Three advantages set FitBite apart</a:t>
            </a:r>
            <a:endParaRPr lang="en-US" sz="3400" dirty="0"/>
          </a:p>
        </p:txBody>
      </p:sp>
      <p:sp>
        <p:nvSpPr>
          <p:cNvPr id="5" name="Familiar local ingredients circle"/>
          <p:cNvSpPr/>
          <p:nvPr/>
        </p:nvSpPr>
        <p:spPr>
          <a:xfrm>
            <a:off x="548640" y="1828800"/>
            <a:ext cx="868680" cy="868680"/>
          </a:xfrm>
          <a:prstGeom prst="ellipse">
            <a:avLst/>
          </a:prstGeom>
          <a:solidFill>
            <a:schemeClr val="accent1"/>
          </a:solidFill>
          <a:ln/>
        </p:spPr>
      </p:sp>
      <p:pic>
        <p:nvPicPr>
          <p:cNvPr id="6" name="Familiar local ingredients icon" descr="Familiar local ingredients">    </p:cNvPr>
          <p:cNvPicPr>
            <a:picLocks noChangeAspect="1"/>
          </p:cNvPicPr>
          <p:nvPr/>
        </p:nvPicPr>
        <p:blipFill>
          <a:blip r:embed="rId1"/>
          <a:stretch>
            <a:fillRect/>
          </a:stretch>
        </p:blipFill>
        <p:spPr>
          <a:xfrm>
            <a:off x="757123" y="2037283"/>
            <a:ext cx="451714" cy="451714"/>
          </a:xfrm>
          <a:prstGeom prst="rect">
            <a:avLst/>
          </a:prstGeom>
        </p:spPr>
      </p:pic>
      <p:sp>
        <p:nvSpPr>
          <p:cNvPr id="7" name="Familiar local ingredients title"/>
          <p:cNvSpPr txBox="1"/>
          <p:nvPr/>
        </p:nvSpPr>
        <p:spPr>
          <a:xfrm>
            <a:off x="1691640" y="1847088"/>
            <a:ext cx="4846320" cy="411480"/>
          </a:xfrm>
          <a:prstGeom prst="rect">
            <a:avLst/>
          </a:prstGeom>
          <a:noFill/>
          <a:ln/>
        </p:spPr>
        <p:txBody>
          <a:bodyPr wrap="square" lIns="0" tIns="0" rIns="0" bIns="0" rtlCol="0" anchor="t"/>
          <a:lstStyle/>
          <a:p>
            <a:pPr indent="0" marL="0">
              <a:buNone/>
            </a:pPr>
            <a:r>
              <a:rPr lang="en-US" sz="2100" b="1" dirty="0">
                <a:solidFill>
                  <a:schemeClr val="tx2"/>
                </a:solidFill>
              </a:rPr>
              <a:t>Familiar local ingredients</a:t>
            </a:r>
            <a:endParaRPr lang="en-US" sz="2100" dirty="0"/>
          </a:p>
        </p:txBody>
      </p:sp>
      <p:sp>
        <p:nvSpPr>
          <p:cNvPr id="8" name="Familiar local ingredients detail"/>
          <p:cNvSpPr txBox="1"/>
          <p:nvPr/>
        </p:nvSpPr>
        <p:spPr>
          <a:xfrm>
            <a:off x="1691640" y="2286000"/>
            <a:ext cx="4846320" cy="731520"/>
          </a:xfrm>
          <a:prstGeom prst="rect">
            <a:avLst/>
          </a:prstGeom>
          <a:noFill/>
          <a:ln/>
        </p:spPr>
        <p:txBody>
          <a:bodyPr wrap="square" lIns="0" tIns="0" rIns="0" bIns="0" rtlCol="0" anchor="t"/>
          <a:lstStyle/>
          <a:p>
            <a:pPr indent="0" marL="0">
              <a:buNone/>
            </a:pPr>
            <a:r>
              <a:rPr lang="en-US" sz="1600" dirty="0">
                <a:solidFill>
                  <a:schemeClr val="tx1"/>
                </a:solidFill>
              </a:rPr>
              <a:t>Ingredients that are familiar and popular among Sudanese consumers.</a:t>
            </a:r>
            <a:endParaRPr lang="en-US" sz="1600" dirty="0"/>
          </a:p>
        </p:txBody>
      </p:sp>
      <p:sp>
        <p:nvSpPr>
          <p:cNvPr id="9" name="Convenient packaging circle"/>
          <p:cNvSpPr/>
          <p:nvPr/>
        </p:nvSpPr>
        <p:spPr>
          <a:xfrm>
            <a:off x="548640" y="3246120"/>
            <a:ext cx="868680" cy="868680"/>
          </a:xfrm>
          <a:prstGeom prst="ellipse">
            <a:avLst/>
          </a:prstGeom>
          <a:solidFill>
            <a:schemeClr val="accent5"/>
          </a:solidFill>
          <a:ln/>
        </p:spPr>
      </p:sp>
      <p:pic>
        <p:nvPicPr>
          <p:cNvPr id="10" name="Convenient packaging icon" descr="Convenient packaging">    </p:cNvPr>
          <p:cNvPicPr>
            <a:picLocks noChangeAspect="1"/>
          </p:cNvPicPr>
          <p:nvPr/>
        </p:nvPicPr>
        <p:blipFill>
          <a:blip r:embed="rId2"/>
          <a:stretch>
            <a:fillRect/>
          </a:stretch>
        </p:blipFill>
        <p:spPr>
          <a:xfrm>
            <a:off x="757123" y="3454603"/>
            <a:ext cx="451714" cy="451714"/>
          </a:xfrm>
          <a:prstGeom prst="rect">
            <a:avLst/>
          </a:prstGeom>
        </p:spPr>
      </p:pic>
      <p:sp>
        <p:nvSpPr>
          <p:cNvPr id="11" name="Convenient packaging title"/>
          <p:cNvSpPr txBox="1"/>
          <p:nvPr/>
        </p:nvSpPr>
        <p:spPr>
          <a:xfrm>
            <a:off x="1691640" y="3264408"/>
            <a:ext cx="4846320" cy="411480"/>
          </a:xfrm>
          <a:prstGeom prst="rect">
            <a:avLst/>
          </a:prstGeom>
          <a:noFill/>
          <a:ln/>
        </p:spPr>
        <p:txBody>
          <a:bodyPr wrap="square" lIns="0" tIns="0" rIns="0" bIns="0" rtlCol="0" anchor="t"/>
          <a:lstStyle/>
          <a:p>
            <a:pPr indent="0" marL="0">
              <a:buNone/>
            </a:pPr>
            <a:r>
              <a:rPr lang="en-US" sz="2100" b="1" dirty="0">
                <a:solidFill>
                  <a:schemeClr val="tx2"/>
                </a:solidFill>
              </a:rPr>
              <a:t>Convenient packaging</a:t>
            </a:r>
            <a:endParaRPr lang="en-US" sz="2100" dirty="0"/>
          </a:p>
        </p:txBody>
      </p:sp>
      <p:sp>
        <p:nvSpPr>
          <p:cNvPr id="12" name="Convenient packaging detail"/>
          <p:cNvSpPr txBox="1"/>
          <p:nvPr/>
        </p:nvSpPr>
        <p:spPr>
          <a:xfrm>
            <a:off x="1691640" y="3703320"/>
            <a:ext cx="4846320" cy="731520"/>
          </a:xfrm>
          <a:prstGeom prst="rect">
            <a:avLst/>
          </a:prstGeom>
          <a:noFill/>
          <a:ln/>
        </p:spPr>
        <p:txBody>
          <a:bodyPr wrap="square" lIns="0" tIns="0" rIns="0" bIns="0" rtlCol="0" anchor="t"/>
          <a:lstStyle/>
          <a:p>
            <a:pPr indent="0" marL="0">
              <a:buNone/>
            </a:pPr>
            <a:r>
              <a:rPr lang="en-US" sz="1600" dirty="0">
                <a:solidFill>
                  <a:schemeClr val="tx1"/>
                </a:solidFill>
              </a:rPr>
              <a:t>A small, practical pack that is easy to carry and eat anywhere.</a:t>
            </a:r>
            <a:endParaRPr lang="en-US" sz="1600" dirty="0"/>
          </a:p>
        </p:txBody>
      </p:sp>
      <p:sp>
        <p:nvSpPr>
          <p:cNvPr id="13" name="Affordable price circle"/>
          <p:cNvSpPr/>
          <p:nvPr/>
        </p:nvSpPr>
        <p:spPr>
          <a:xfrm>
            <a:off x="548640" y="4663440"/>
            <a:ext cx="868680" cy="868680"/>
          </a:xfrm>
          <a:prstGeom prst="ellipse">
            <a:avLst/>
          </a:prstGeom>
          <a:solidFill>
            <a:schemeClr val="accent2"/>
          </a:solidFill>
          <a:ln/>
        </p:spPr>
      </p:sp>
      <p:pic>
        <p:nvPicPr>
          <p:cNvPr id="14" name="Affordable price icon" descr="Affordable price">    </p:cNvPr>
          <p:cNvPicPr>
            <a:picLocks noChangeAspect="1"/>
          </p:cNvPicPr>
          <p:nvPr/>
        </p:nvPicPr>
        <p:blipFill>
          <a:blip r:embed="rId3"/>
          <a:stretch>
            <a:fillRect/>
          </a:stretch>
        </p:blipFill>
        <p:spPr>
          <a:xfrm>
            <a:off x="757123" y="4871923"/>
            <a:ext cx="451714" cy="451714"/>
          </a:xfrm>
          <a:prstGeom prst="rect">
            <a:avLst/>
          </a:prstGeom>
        </p:spPr>
      </p:pic>
      <p:sp>
        <p:nvSpPr>
          <p:cNvPr id="15" name="Affordable price title"/>
          <p:cNvSpPr txBox="1"/>
          <p:nvPr/>
        </p:nvSpPr>
        <p:spPr>
          <a:xfrm>
            <a:off x="1691640" y="4681728"/>
            <a:ext cx="4846320" cy="411480"/>
          </a:xfrm>
          <a:prstGeom prst="rect">
            <a:avLst/>
          </a:prstGeom>
          <a:noFill/>
          <a:ln/>
        </p:spPr>
        <p:txBody>
          <a:bodyPr wrap="square" lIns="0" tIns="0" rIns="0" bIns="0" rtlCol="0" anchor="t"/>
          <a:lstStyle/>
          <a:p>
            <a:pPr indent="0" marL="0">
              <a:buNone/>
            </a:pPr>
            <a:r>
              <a:rPr lang="en-US" sz="2100" b="1" dirty="0">
                <a:solidFill>
                  <a:schemeClr val="tx2"/>
                </a:solidFill>
              </a:rPr>
              <a:t>Affordable price</a:t>
            </a:r>
            <a:endParaRPr lang="en-US" sz="2100" dirty="0"/>
          </a:p>
        </p:txBody>
      </p:sp>
      <p:sp>
        <p:nvSpPr>
          <p:cNvPr id="16" name="Affordable price detail"/>
          <p:cNvSpPr txBox="1"/>
          <p:nvPr/>
        </p:nvSpPr>
        <p:spPr>
          <a:xfrm>
            <a:off x="1691640" y="5120640"/>
            <a:ext cx="4846320" cy="731520"/>
          </a:xfrm>
          <a:prstGeom prst="rect">
            <a:avLst/>
          </a:prstGeom>
          <a:noFill/>
          <a:ln/>
        </p:spPr>
        <p:txBody>
          <a:bodyPr wrap="square" lIns="0" tIns="0" rIns="0" bIns="0" rtlCol="0" anchor="t"/>
          <a:lstStyle/>
          <a:p>
            <a:pPr indent="0" marL="0">
              <a:buNone/>
            </a:pPr>
            <a:r>
              <a:rPr lang="en-US" sz="1600" dirty="0">
                <a:solidFill>
                  <a:schemeClr val="tx1"/>
                </a:solidFill>
              </a:rPr>
              <a:t>1,000 SDG, compared with about 1,500 SDG for many competing products.</a:t>
            </a:r>
            <a:endParaRPr lang="en-US" sz="1600" dirty="0"/>
          </a:p>
        </p:txBody>
      </p:sp>
      <p:sp>
        <p:nvSpPr>
          <p:cNvPr id="17" name="Price chart card"/>
          <p:cNvSpPr/>
          <p:nvPr/>
        </p:nvSpPr>
        <p:spPr>
          <a:xfrm>
            <a:off x="6903720" y="1737360"/>
            <a:ext cx="4739335" cy="4297680"/>
          </a:xfrm>
          <a:prstGeom prst="roundRect">
            <a:avLst>
              <a:gd name="adj" fmla="val 3830"/>
            </a:avLst>
          </a:prstGeom>
          <a:solidFill>
            <a:schemeClr val="bg2"/>
          </a:solidFill>
          <a:ln/>
        </p:spPr>
      </p:sp>
      <p:graphicFrame>
        <p:nvGraphicFramePr>
          <p:cNvPr id="18" name="Price comparison chart" descr=""/>
          <p:cNvGraphicFramePr/>
          <p:nvPr/>
        </p:nvGraphicFramePr>
        <p:xfrm>
          <a:off x="7132320" y="1874520"/>
          <a:ext cx="4282135" cy="3429000"/>
        </p:xfrm>
        <a:graphic xmlns:a="http://schemas.openxmlformats.org/drawingml/2006/main">
          <a:graphicData uri="http://schemas.openxmlformats.org/drawingml/2006/chart">
            <c:chart xmlns:c="http://schemas.openxmlformats.org/drawingml/2006/chart" r:id="rId4"/>
          </a:graphicData>
        </a:graphic>
      </p:graphicFrame>
      <p:sp>
        <p:nvSpPr>
          <p:cNvPr id="19" name="Chart caption"/>
          <p:cNvSpPr txBox="1"/>
          <p:nvPr/>
        </p:nvSpPr>
        <p:spPr>
          <a:xfrm>
            <a:off x="7223760" y="5394960"/>
            <a:ext cx="4099255" cy="457200"/>
          </a:xfrm>
          <a:prstGeom prst="rect">
            <a:avLst/>
          </a:prstGeom>
          <a:noFill/>
          <a:ln/>
        </p:spPr>
        <p:txBody>
          <a:bodyPr wrap="square" lIns="0" tIns="0" rIns="0" bIns="0" rtlCol="0" anchor="t"/>
          <a:lstStyle/>
          <a:p>
            <a:pPr indent="0" marL="0">
              <a:buNone/>
            </a:pPr>
            <a:r>
              <a:rPr lang="en-US" sz="1400" dirty="0">
                <a:solidFill>
                  <a:schemeClr val="accent6"/>
                </a:solidFill>
              </a:rPr>
              <a:t>About one-third cheaper. The competitor price is an estimate.</a:t>
            </a:r>
            <a:endParaRPr lang="en-US" sz="14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3"/>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03  ·  SEGMENTATION</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Four lenses on the market</a:t>
            </a:r>
            <a:endParaRPr lang="en-US" sz="3400" dirty="0"/>
          </a:p>
        </p:txBody>
      </p:sp>
      <p:sp>
        <p:nvSpPr>
          <p:cNvPr id="5" name="Demographic card"/>
          <p:cNvSpPr/>
          <p:nvPr/>
        </p:nvSpPr>
        <p:spPr>
          <a:xfrm>
            <a:off x="548640" y="1783080"/>
            <a:ext cx="5364328" cy="2011680"/>
          </a:xfrm>
          <a:prstGeom prst="roundRect">
            <a:avLst>
              <a:gd name="adj" fmla="val 8182"/>
            </a:avLst>
          </a:prstGeom>
          <a:solidFill>
            <a:schemeClr val="accent1">
              <a:alpha val="14000"/>
            </a:schemeClr>
          </a:solidFill>
          <a:ln/>
        </p:spPr>
      </p:sp>
      <p:sp>
        <p:nvSpPr>
          <p:cNvPr id="6" name="Demographic circle"/>
          <p:cNvSpPr/>
          <p:nvPr/>
        </p:nvSpPr>
        <p:spPr>
          <a:xfrm>
            <a:off x="914400" y="2148840"/>
            <a:ext cx="868680" cy="868680"/>
          </a:xfrm>
          <a:prstGeom prst="ellipse">
            <a:avLst/>
          </a:prstGeom>
          <a:solidFill>
            <a:schemeClr val="accent1"/>
          </a:solidFill>
          <a:ln/>
        </p:spPr>
      </p:sp>
      <p:pic>
        <p:nvPicPr>
          <p:cNvPr id="7" name="Demographic icon" descr="Demographic">    </p:cNvPr>
          <p:cNvPicPr>
            <a:picLocks noChangeAspect="1"/>
          </p:cNvPicPr>
          <p:nvPr/>
        </p:nvPicPr>
        <p:blipFill>
          <a:blip r:embed="rId1"/>
          <a:stretch>
            <a:fillRect/>
          </a:stretch>
        </p:blipFill>
        <p:spPr>
          <a:xfrm>
            <a:off x="1122883" y="2357323"/>
            <a:ext cx="451714" cy="451714"/>
          </a:xfrm>
          <a:prstGeom prst="rect">
            <a:avLst/>
          </a:prstGeom>
        </p:spPr>
      </p:pic>
      <p:sp>
        <p:nvSpPr>
          <p:cNvPr id="8" name="Demographic title"/>
          <p:cNvSpPr txBox="1"/>
          <p:nvPr/>
        </p:nvSpPr>
        <p:spPr>
          <a:xfrm>
            <a:off x="2057400" y="2148840"/>
            <a:ext cx="3535528" cy="411480"/>
          </a:xfrm>
          <a:prstGeom prst="rect">
            <a:avLst/>
          </a:prstGeom>
          <a:noFill/>
          <a:ln/>
        </p:spPr>
        <p:txBody>
          <a:bodyPr wrap="square" lIns="0" tIns="0" rIns="0" bIns="0" rtlCol="0" anchor="t"/>
          <a:lstStyle/>
          <a:p>
            <a:pPr indent="0" marL="0">
              <a:buNone/>
            </a:pPr>
            <a:r>
              <a:rPr lang="en-US" sz="2200" b="1" dirty="0">
                <a:solidFill>
                  <a:schemeClr val="tx2"/>
                </a:solidFill>
              </a:rPr>
              <a:t>Demographic</a:t>
            </a:r>
            <a:endParaRPr lang="en-US" sz="2200" dirty="0"/>
          </a:p>
        </p:txBody>
      </p:sp>
      <p:sp>
        <p:nvSpPr>
          <p:cNvPr id="9" name="Demographic detail"/>
          <p:cNvSpPr txBox="1"/>
          <p:nvPr/>
        </p:nvSpPr>
        <p:spPr>
          <a:xfrm>
            <a:off x="2057400" y="2606040"/>
            <a:ext cx="3535528" cy="1051560"/>
          </a:xfrm>
          <a:prstGeom prst="rect">
            <a:avLst/>
          </a:prstGeom>
          <a:noFill/>
          <a:ln/>
        </p:spPr>
        <p:txBody>
          <a:bodyPr wrap="square" lIns="0" tIns="0" rIns="0" bIns="0" rtlCol="0" anchor="t"/>
          <a:lstStyle/>
          <a:p>
            <a:pPr indent="0" marL="0">
              <a:buNone/>
            </a:pPr>
            <a:r>
              <a:rPr lang="en-US" sz="1600" dirty="0">
                <a:solidFill>
                  <a:schemeClr val="tx1"/>
                </a:solidFill>
              </a:rPr>
              <a:t>Ages 16 to 35, especially students and employees with low to middle incomes.</a:t>
            </a:r>
            <a:endParaRPr lang="en-US" sz="1600" dirty="0"/>
          </a:p>
        </p:txBody>
      </p:sp>
      <p:sp>
        <p:nvSpPr>
          <p:cNvPr id="10" name="Geographic card"/>
          <p:cNvSpPr/>
          <p:nvPr/>
        </p:nvSpPr>
        <p:spPr>
          <a:xfrm>
            <a:off x="6278728" y="1783080"/>
            <a:ext cx="5364328" cy="2011680"/>
          </a:xfrm>
          <a:prstGeom prst="roundRect">
            <a:avLst>
              <a:gd name="adj" fmla="val 8182"/>
            </a:avLst>
          </a:prstGeom>
          <a:solidFill>
            <a:schemeClr val="accent2">
              <a:alpha val="14000"/>
            </a:schemeClr>
          </a:solidFill>
          <a:ln/>
        </p:spPr>
      </p:sp>
      <p:sp>
        <p:nvSpPr>
          <p:cNvPr id="11" name="Geographic circle"/>
          <p:cNvSpPr/>
          <p:nvPr/>
        </p:nvSpPr>
        <p:spPr>
          <a:xfrm>
            <a:off x="6644488" y="2148840"/>
            <a:ext cx="868680" cy="868680"/>
          </a:xfrm>
          <a:prstGeom prst="ellipse">
            <a:avLst/>
          </a:prstGeom>
          <a:solidFill>
            <a:schemeClr val="accent2"/>
          </a:solidFill>
          <a:ln/>
        </p:spPr>
      </p:sp>
      <p:pic>
        <p:nvPicPr>
          <p:cNvPr id="12" name="Geographic icon" descr="Geographic">    </p:cNvPr>
          <p:cNvPicPr>
            <a:picLocks noChangeAspect="1"/>
          </p:cNvPicPr>
          <p:nvPr/>
        </p:nvPicPr>
        <p:blipFill>
          <a:blip r:embed="rId2"/>
          <a:stretch>
            <a:fillRect/>
          </a:stretch>
        </p:blipFill>
        <p:spPr>
          <a:xfrm>
            <a:off x="6852971" y="2357323"/>
            <a:ext cx="451714" cy="451714"/>
          </a:xfrm>
          <a:prstGeom prst="rect">
            <a:avLst/>
          </a:prstGeom>
        </p:spPr>
      </p:pic>
      <p:sp>
        <p:nvSpPr>
          <p:cNvPr id="13" name="Geographic title"/>
          <p:cNvSpPr txBox="1"/>
          <p:nvPr/>
        </p:nvSpPr>
        <p:spPr>
          <a:xfrm>
            <a:off x="7787488" y="2148840"/>
            <a:ext cx="3535528" cy="411480"/>
          </a:xfrm>
          <a:prstGeom prst="rect">
            <a:avLst/>
          </a:prstGeom>
          <a:noFill/>
          <a:ln/>
        </p:spPr>
        <p:txBody>
          <a:bodyPr wrap="square" lIns="0" tIns="0" rIns="0" bIns="0" rtlCol="0" anchor="t"/>
          <a:lstStyle/>
          <a:p>
            <a:pPr indent="0" marL="0">
              <a:buNone/>
            </a:pPr>
            <a:r>
              <a:rPr lang="en-US" sz="2200" b="1" dirty="0">
                <a:solidFill>
                  <a:schemeClr val="tx2"/>
                </a:solidFill>
              </a:rPr>
              <a:t>Geographic</a:t>
            </a:r>
            <a:endParaRPr lang="en-US" sz="2200" dirty="0"/>
          </a:p>
        </p:txBody>
      </p:sp>
      <p:sp>
        <p:nvSpPr>
          <p:cNvPr id="14" name="Geographic detail"/>
          <p:cNvSpPr txBox="1"/>
          <p:nvPr/>
        </p:nvSpPr>
        <p:spPr>
          <a:xfrm>
            <a:off x="7787488" y="2606040"/>
            <a:ext cx="3535528" cy="1051560"/>
          </a:xfrm>
          <a:prstGeom prst="rect">
            <a:avLst/>
          </a:prstGeom>
          <a:noFill/>
          <a:ln/>
        </p:spPr>
        <p:txBody>
          <a:bodyPr wrap="square" lIns="0" tIns="0" rIns="0" bIns="0" rtlCol="0" anchor="t"/>
          <a:lstStyle/>
          <a:p>
            <a:pPr indent="0" marL="0">
              <a:buNone/>
            </a:pPr>
            <a:r>
              <a:rPr lang="en-US" sz="1600" dirty="0">
                <a:solidFill>
                  <a:schemeClr val="tx1"/>
                </a:solidFill>
              </a:rPr>
              <a:t>Khartoum, Omdurman and Bahri, near universities, gyms and other places our customers visit.</a:t>
            </a:r>
            <a:endParaRPr lang="en-US" sz="1600" dirty="0"/>
          </a:p>
        </p:txBody>
      </p:sp>
      <p:sp>
        <p:nvSpPr>
          <p:cNvPr id="15" name="Psychographic card"/>
          <p:cNvSpPr/>
          <p:nvPr/>
        </p:nvSpPr>
        <p:spPr>
          <a:xfrm>
            <a:off x="548640" y="4069080"/>
            <a:ext cx="5364328" cy="2011680"/>
          </a:xfrm>
          <a:prstGeom prst="roundRect">
            <a:avLst>
              <a:gd name="adj" fmla="val 8182"/>
            </a:avLst>
          </a:prstGeom>
          <a:solidFill>
            <a:schemeClr val="accent3">
              <a:alpha val="14000"/>
            </a:schemeClr>
          </a:solidFill>
          <a:ln/>
        </p:spPr>
      </p:sp>
      <p:sp>
        <p:nvSpPr>
          <p:cNvPr id="16" name="Psychographic circle"/>
          <p:cNvSpPr/>
          <p:nvPr/>
        </p:nvSpPr>
        <p:spPr>
          <a:xfrm>
            <a:off x="914400" y="4434840"/>
            <a:ext cx="868680" cy="868680"/>
          </a:xfrm>
          <a:prstGeom prst="ellipse">
            <a:avLst/>
          </a:prstGeom>
          <a:solidFill>
            <a:schemeClr val="accent3"/>
          </a:solidFill>
          <a:ln/>
        </p:spPr>
      </p:sp>
      <p:pic>
        <p:nvPicPr>
          <p:cNvPr id="17" name="Psychographic icon" descr="Psychographic">    </p:cNvPr>
          <p:cNvPicPr>
            <a:picLocks noChangeAspect="1"/>
          </p:cNvPicPr>
          <p:nvPr/>
        </p:nvPicPr>
        <p:blipFill>
          <a:blip r:embed="rId3"/>
          <a:stretch>
            <a:fillRect/>
          </a:stretch>
        </p:blipFill>
        <p:spPr>
          <a:xfrm>
            <a:off x="1122883" y="4643323"/>
            <a:ext cx="451714" cy="451714"/>
          </a:xfrm>
          <a:prstGeom prst="rect">
            <a:avLst/>
          </a:prstGeom>
        </p:spPr>
      </p:pic>
      <p:sp>
        <p:nvSpPr>
          <p:cNvPr id="18" name="Psychographic title"/>
          <p:cNvSpPr txBox="1"/>
          <p:nvPr/>
        </p:nvSpPr>
        <p:spPr>
          <a:xfrm>
            <a:off x="2057400" y="4434840"/>
            <a:ext cx="3535528" cy="411480"/>
          </a:xfrm>
          <a:prstGeom prst="rect">
            <a:avLst/>
          </a:prstGeom>
          <a:noFill/>
          <a:ln/>
        </p:spPr>
        <p:txBody>
          <a:bodyPr wrap="square" lIns="0" tIns="0" rIns="0" bIns="0" rtlCol="0" anchor="t"/>
          <a:lstStyle/>
          <a:p>
            <a:pPr indent="0" marL="0">
              <a:buNone/>
            </a:pPr>
            <a:r>
              <a:rPr lang="en-US" sz="2200" b="1" dirty="0">
                <a:solidFill>
                  <a:schemeClr val="tx2"/>
                </a:solidFill>
              </a:rPr>
              <a:t>Psychographic</a:t>
            </a:r>
            <a:endParaRPr lang="en-US" sz="2200" dirty="0"/>
          </a:p>
        </p:txBody>
      </p:sp>
      <p:sp>
        <p:nvSpPr>
          <p:cNvPr id="19" name="Psychographic detail"/>
          <p:cNvSpPr txBox="1"/>
          <p:nvPr/>
        </p:nvSpPr>
        <p:spPr>
          <a:xfrm>
            <a:off x="2057400" y="4892040"/>
            <a:ext cx="3535528" cy="1051560"/>
          </a:xfrm>
          <a:prstGeom prst="rect">
            <a:avLst/>
          </a:prstGeom>
          <a:noFill/>
          <a:ln/>
        </p:spPr>
        <p:txBody>
          <a:bodyPr wrap="square" lIns="0" tIns="0" rIns="0" bIns="0" rtlCol="0" anchor="t"/>
          <a:lstStyle/>
          <a:p>
            <a:pPr indent="0" marL="0">
              <a:buNone/>
            </a:pPr>
            <a:r>
              <a:rPr lang="en-US" sz="1600" dirty="0">
                <a:solidFill>
                  <a:schemeClr val="tx1"/>
                </a:solidFill>
              </a:rPr>
              <a:t>People who prefer convenient, familiar and affordable snacks that fit an active lifestyle.</a:t>
            </a:r>
            <a:endParaRPr lang="en-US" sz="1600" dirty="0"/>
          </a:p>
        </p:txBody>
      </p:sp>
      <p:sp>
        <p:nvSpPr>
          <p:cNvPr id="20" name="Behavioral card"/>
          <p:cNvSpPr/>
          <p:nvPr/>
        </p:nvSpPr>
        <p:spPr>
          <a:xfrm>
            <a:off x="6278728" y="4069080"/>
            <a:ext cx="5364328" cy="2011680"/>
          </a:xfrm>
          <a:prstGeom prst="roundRect">
            <a:avLst>
              <a:gd name="adj" fmla="val 8182"/>
            </a:avLst>
          </a:prstGeom>
          <a:solidFill>
            <a:schemeClr val="accent4">
              <a:alpha val="14000"/>
            </a:schemeClr>
          </a:solidFill>
          <a:ln/>
        </p:spPr>
      </p:sp>
      <p:sp>
        <p:nvSpPr>
          <p:cNvPr id="21" name="Behavioral circle"/>
          <p:cNvSpPr/>
          <p:nvPr/>
        </p:nvSpPr>
        <p:spPr>
          <a:xfrm>
            <a:off x="6644488" y="4434840"/>
            <a:ext cx="868680" cy="868680"/>
          </a:xfrm>
          <a:prstGeom prst="ellipse">
            <a:avLst/>
          </a:prstGeom>
          <a:solidFill>
            <a:schemeClr val="accent4"/>
          </a:solidFill>
          <a:ln/>
        </p:spPr>
      </p:sp>
      <p:pic>
        <p:nvPicPr>
          <p:cNvPr id="22" name="Behavioral icon" descr="Behavioral">    </p:cNvPr>
          <p:cNvPicPr>
            <a:picLocks noChangeAspect="1"/>
          </p:cNvPicPr>
          <p:nvPr/>
        </p:nvPicPr>
        <p:blipFill>
          <a:blip r:embed="rId4"/>
          <a:stretch>
            <a:fillRect/>
          </a:stretch>
        </p:blipFill>
        <p:spPr>
          <a:xfrm>
            <a:off x="6852971" y="4643323"/>
            <a:ext cx="451714" cy="451714"/>
          </a:xfrm>
          <a:prstGeom prst="rect">
            <a:avLst/>
          </a:prstGeom>
        </p:spPr>
      </p:pic>
      <p:sp>
        <p:nvSpPr>
          <p:cNvPr id="23" name="Behavioral title"/>
          <p:cNvSpPr txBox="1"/>
          <p:nvPr/>
        </p:nvSpPr>
        <p:spPr>
          <a:xfrm>
            <a:off x="7787488" y="4434840"/>
            <a:ext cx="3535528" cy="411480"/>
          </a:xfrm>
          <a:prstGeom prst="rect">
            <a:avLst/>
          </a:prstGeom>
          <a:noFill/>
          <a:ln/>
        </p:spPr>
        <p:txBody>
          <a:bodyPr wrap="square" lIns="0" tIns="0" rIns="0" bIns="0" rtlCol="0" anchor="t"/>
          <a:lstStyle/>
          <a:p>
            <a:pPr indent="0" marL="0">
              <a:buNone/>
            </a:pPr>
            <a:r>
              <a:rPr lang="en-US" sz="2200" b="1" dirty="0">
                <a:solidFill>
                  <a:schemeClr val="tx2"/>
                </a:solidFill>
              </a:rPr>
              <a:t>Behavioral</a:t>
            </a:r>
            <a:endParaRPr lang="en-US" sz="2200" dirty="0"/>
          </a:p>
        </p:txBody>
      </p:sp>
      <p:sp>
        <p:nvSpPr>
          <p:cNvPr id="24" name="Behavioral detail"/>
          <p:cNvSpPr txBox="1"/>
          <p:nvPr/>
        </p:nvSpPr>
        <p:spPr>
          <a:xfrm>
            <a:off x="7787488" y="4892040"/>
            <a:ext cx="3535528" cy="1051560"/>
          </a:xfrm>
          <a:prstGeom prst="rect">
            <a:avLst/>
          </a:prstGeom>
          <a:noFill/>
          <a:ln/>
        </p:spPr>
        <p:txBody>
          <a:bodyPr wrap="square" lIns="0" tIns="0" rIns="0" bIns="0" rtlCol="0" anchor="t"/>
          <a:lstStyle/>
          <a:p>
            <a:pPr indent="0" marL="0">
              <a:buNone/>
            </a:pPr>
            <a:r>
              <a:rPr lang="en-US" sz="1600" dirty="0">
                <a:solidFill>
                  <a:schemeClr val="tx1"/>
                </a:solidFill>
              </a:rPr>
              <a:t>Regular snack buyers who need a quick refreshment during breaks and respond to discounts, offers and multipacks.</a:t>
            </a:r>
            <a:endParaRPr lang="en-US" sz="16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4"/>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04  ·  TARGET MARKET</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Students first, then gyms and professionals</a:t>
            </a:r>
            <a:endParaRPr lang="en-US" sz="3400" dirty="0"/>
          </a:p>
        </p:txBody>
      </p:sp>
      <p:sp>
        <p:nvSpPr>
          <p:cNvPr id="5" name="Primary market card"/>
          <p:cNvSpPr/>
          <p:nvPr/>
        </p:nvSpPr>
        <p:spPr>
          <a:xfrm>
            <a:off x="548640" y="1783080"/>
            <a:ext cx="6309360" cy="2194560"/>
          </a:xfrm>
          <a:prstGeom prst="roundRect">
            <a:avLst>
              <a:gd name="adj" fmla="val 7500"/>
            </a:avLst>
          </a:prstGeom>
          <a:solidFill>
            <a:schemeClr val="tx2"/>
          </a:solidFill>
          <a:ln/>
        </p:spPr>
      </p:sp>
      <p:sp>
        <p:nvSpPr>
          <p:cNvPr id="6" name="Primary market circle"/>
          <p:cNvSpPr/>
          <p:nvPr/>
        </p:nvSpPr>
        <p:spPr>
          <a:xfrm>
            <a:off x="914400" y="2148840"/>
            <a:ext cx="868680" cy="868680"/>
          </a:xfrm>
          <a:prstGeom prst="ellipse">
            <a:avLst/>
          </a:prstGeom>
          <a:solidFill>
            <a:schemeClr val="accent1"/>
          </a:solidFill>
          <a:ln/>
        </p:spPr>
      </p:sp>
      <p:pic>
        <p:nvPicPr>
          <p:cNvPr id="7" name="Primary market icon" descr="Primary market">    </p:cNvPr>
          <p:cNvPicPr>
            <a:picLocks noChangeAspect="1"/>
          </p:cNvPicPr>
          <p:nvPr/>
        </p:nvPicPr>
        <p:blipFill>
          <a:blip r:embed="rId1"/>
          <a:stretch>
            <a:fillRect/>
          </a:stretch>
        </p:blipFill>
        <p:spPr>
          <a:xfrm>
            <a:off x="1122883" y="2357323"/>
            <a:ext cx="451714" cy="451714"/>
          </a:xfrm>
          <a:prstGeom prst="rect">
            <a:avLst/>
          </a:prstGeom>
        </p:spPr>
      </p:pic>
      <p:sp>
        <p:nvSpPr>
          <p:cNvPr id="8" name="Primary label"/>
          <p:cNvSpPr txBox="1"/>
          <p:nvPr/>
        </p:nvSpPr>
        <p:spPr>
          <a:xfrm>
            <a:off x="2057400" y="2148840"/>
            <a:ext cx="3657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PRIMARY TARGET</a:t>
            </a:r>
            <a:endParaRPr lang="en-US" sz="1200" dirty="0"/>
          </a:p>
        </p:txBody>
      </p:sp>
      <p:sp>
        <p:nvSpPr>
          <p:cNvPr id="9" name="Primary title"/>
          <p:cNvSpPr txBox="1"/>
          <p:nvPr/>
        </p:nvSpPr>
        <p:spPr>
          <a:xfrm>
            <a:off x="2057400" y="2468880"/>
            <a:ext cx="4480560" cy="457200"/>
          </a:xfrm>
          <a:prstGeom prst="rect">
            <a:avLst/>
          </a:prstGeom>
          <a:noFill/>
          <a:ln/>
        </p:spPr>
        <p:txBody>
          <a:bodyPr wrap="square" lIns="0" tIns="0" rIns="0" bIns="0" rtlCol="0" anchor="t"/>
          <a:lstStyle/>
          <a:p>
            <a:pPr indent="0" marL="0">
              <a:buNone/>
            </a:pPr>
            <a:r>
              <a:rPr lang="en-US" sz="2300" b="1" dirty="0">
                <a:solidFill>
                  <a:schemeClr val="bg1"/>
                </a:solidFill>
              </a:rPr>
              <a:t>University students aged 18 to 30</a:t>
            </a:r>
            <a:endParaRPr lang="en-US" sz="2300" dirty="0"/>
          </a:p>
        </p:txBody>
      </p:sp>
      <p:sp>
        <p:nvSpPr>
          <p:cNvPr id="10" name="Primary detail"/>
          <p:cNvSpPr txBox="1"/>
          <p:nvPr/>
        </p:nvSpPr>
        <p:spPr>
          <a:xfrm>
            <a:off x="2057400" y="2971800"/>
            <a:ext cx="4480560" cy="822960"/>
          </a:xfrm>
          <a:prstGeom prst="rect">
            <a:avLst/>
          </a:prstGeom>
          <a:noFill/>
          <a:ln/>
        </p:spPr>
        <p:txBody>
          <a:bodyPr wrap="square" lIns="0" tIns="0" rIns="0" bIns="0" rtlCol="0" anchor="t"/>
          <a:lstStyle/>
          <a:p>
            <a:pPr indent="0" marL="0">
              <a:buNone/>
            </a:pPr>
            <a:r>
              <a:rPr lang="en-US" sz="1600" dirty="0">
                <a:solidFill>
                  <a:schemeClr val="bg1"/>
                </a:solidFill>
              </a:rPr>
              <a:t>Need affordable, tasty and convenient snacks during their studies and daily activities.</a:t>
            </a:r>
            <a:endParaRPr lang="en-US" sz="1600" dirty="0"/>
          </a:p>
        </p:txBody>
      </p:sp>
      <p:sp>
        <p:nvSpPr>
          <p:cNvPr id="11" name="Secondary market card"/>
          <p:cNvSpPr/>
          <p:nvPr/>
        </p:nvSpPr>
        <p:spPr>
          <a:xfrm>
            <a:off x="548640" y="4206240"/>
            <a:ext cx="6309360" cy="1783080"/>
          </a:xfrm>
          <a:prstGeom prst="roundRect">
            <a:avLst>
              <a:gd name="adj" fmla="val 9231"/>
            </a:avLst>
          </a:prstGeom>
          <a:solidFill>
            <a:schemeClr val="accent4">
              <a:alpha val="14000"/>
            </a:schemeClr>
          </a:solidFill>
          <a:ln/>
        </p:spPr>
      </p:sp>
      <p:sp>
        <p:nvSpPr>
          <p:cNvPr id="12" name="Secondary market circle"/>
          <p:cNvSpPr/>
          <p:nvPr/>
        </p:nvSpPr>
        <p:spPr>
          <a:xfrm>
            <a:off x="914400" y="4526280"/>
            <a:ext cx="868680" cy="868680"/>
          </a:xfrm>
          <a:prstGeom prst="ellipse">
            <a:avLst/>
          </a:prstGeom>
          <a:solidFill>
            <a:schemeClr val="accent4"/>
          </a:solidFill>
          <a:ln/>
        </p:spPr>
      </p:sp>
      <p:pic>
        <p:nvPicPr>
          <p:cNvPr id="13" name="Secondary market icon" descr="Secondary market">    </p:cNvPr>
          <p:cNvPicPr>
            <a:picLocks noChangeAspect="1"/>
          </p:cNvPicPr>
          <p:nvPr/>
        </p:nvPicPr>
        <p:blipFill>
          <a:blip r:embed="rId2"/>
          <a:stretch>
            <a:fillRect/>
          </a:stretch>
        </p:blipFill>
        <p:spPr>
          <a:xfrm>
            <a:off x="1122883" y="4734763"/>
            <a:ext cx="451714" cy="451714"/>
          </a:xfrm>
          <a:prstGeom prst="rect">
            <a:avLst/>
          </a:prstGeom>
        </p:spPr>
      </p:pic>
      <p:sp>
        <p:nvSpPr>
          <p:cNvPr id="14" name="Secondary label"/>
          <p:cNvSpPr txBox="1"/>
          <p:nvPr/>
        </p:nvSpPr>
        <p:spPr>
          <a:xfrm>
            <a:off x="2057400" y="4526280"/>
            <a:ext cx="3657600" cy="274320"/>
          </a:xfrm>
          <a:prstGeom prst="rect">
            <a:avLst/>
          </a:prstGeom>
          <a:noFill/>
          <a:ln/>
        </p:spPr>
        <p:txBody>
          <a:bodyPr wrap="square" lIns="0" tIns="0" rIns="0" bIns="0" rtlCol="0" anchor="t"/>
          <a:lstStyle/>
          <a:p>
            <a:pPr indent="0" marL="0">
              <a:buNone/>
            </a:pPr>
            <a:r>
              <a:rPr lang="en-US" sz="1200" b="1" spc="200" kern="0" dirty="0">
                <a:solidFill>
                  <a:schemeClr val="tx2"/>
                </a:solidFill>
              </a:rPr>
              <a:t>SECONDARY TARGET</a:t>
            </a:r>
            <a:endParaRPr lang="en-US" sz="1200" dirty="0"/>
          </a:p>
        </p:txBody>
      </p:sp>
      <p:sp>
        <p:nvSpPr>
          <p:cNvPr id="15" name="Secondary title"/>
          <p:cNvSpPr txBox="1"/>
          <p:nvPr/>
        </p:nvSpPr>
        <p:spPr>
          <a:xfrm>
            <a:off x="2057400" y="4846320"/>
            <a:ext cx="4480560" cy="457200"/>
          </a:xfrm>
          <a:prstGeom prst="rect">
            <a:avLst/>
          </a:prstGeom>
          <a:noFill/>
          <a:ln/>
        </p:spPr>
        <p:txBody>
          <a:bodyPr wrap="square" lIns="0" tIns="0" rIns="0" bIns="0" rtlCol="0" anchor="t"/>
          <a:lstStyle/>
          <a:p>
            <a:pPr indent="0" marL="0">
              <a:buNone/>
            </a:pPr>
            <a:r>
              <a:rPr lang="en-US" sz="2100" b="1" dirty="0">
                <a:solidFill>
                  <a:schemeClr val="tx2"/>
                </a:solidFill>
              </a:rPr>
              <a:t>Gym members and busy professionals</a:t>
            </a:r>
            <a:endParaRPr lang="en-US" sz="2100" dirty="0"/>
          </a:p>
        </p:txBody>
      </p:sp>
      <p:sp>
        <p:nvSpPr>
          <p:cNvPr id="16" name="Secondary detail"/>
          <p:cNvSpPr txBox="1"/>
          <p:nvPr/>
        </p:nvSpPr>
        <p:spPr>
          <a:xfrm>
            <a:off x="2057400" y="5321808"/>
            <a:ext cx="4480560" cy="457200"/>
          </a:xfrm>
          <a:prstGeom prst="rect">
            <a:avLst/>
          </a:prstGeom>
          <a:noFill/>
          <a:ln/>
        </p:spPr>
        <p:txBody>
          <a:bodyPr wrap="square" lIns="0" tIns="0" rIns="0" bIns="0" rtlCol="0" anchor="t"/>
          <a:lstStyle/>
          <a:p>
            <a:pPr indent="0" marL="0">
              <a:buNone/>
            </a:pPr>
            <a:r>
              <a:rPr lang="en-US" sz="1600" dirty="0">
                <a:solidFill>
                  <a:schemeClr val="tx1"/>
                </a:solidFill>
              </a:rPr>
              <a:t>Need a quick snack during their daily routines.</a:t>
            </a:r>
            <a:endParaRPr lang="en-US" sz="1600" dirty="0"/>
          </a:p>
        </p:txBody>
      </p:sp>
      <p:sp>
        <p:nvSpPr>
          <p:cNvPr id="17" name="Attractive title"/>
          <p:cNvSpPr txBox="1"/>
          <p:nvPr/>
        </p:nvSpPr>
        <p:spPr>
          <a:xfrm>
            <a:off x="7315200" y="1810512"/>
            <a:ext cx="4327855" cy="411480"/>
          </a:xfrm>
          <a:prstGeom prst="rect">
            <a:avLst/>
          </a:prstGeom>
          <a:noFill/>
          <a:ln/>
        </p:spPr>
        <p:txBody>
          <a:bodyPr wrap="square" lIns="0" tIns="0" rIns="0" bIns="0" rtlCol="0" anchor="t"/>
          <a:lstStyle/>
          <a:p>
            <a:pPr indent="0" marL="0">
              <a:buNone/>
            </a:pPr>
            <a:r>
              <a:rPr lang="en-US" sz="2000" b="1" dirty="0">
                <a:solidFill>
                  <a:schemeClr val="tx2"/>
                </a:solidFill>
              </a:rPr>
              <a:t>Why this market is attractive</a:t>
            </a:r>
            <a:endParaRPr lang="en-US" sz="2000" dirty="0"/>
          </a:p>
        </p:txBody>
      </p:sp>
      <p:sp>
        <p:nvSpPr>
          <p:cNvPr id="18" name="Repeat sales circle"/>
          <p:cNvSpPr/>
          <p:nvPr/>
        </p:nvSpPr>
        <p:spPr>
          <a:xfrm>
            <a:off x="7315200" y="2377440"/>
            <a:ext cx="640080" cy="640080"/>
          </a:xfrm>
          <a:prstGeom prst="ellipse">
            <a:avLst/>
          </a:prstGeom>
          <a:solidFill>
            <a:schemeClr val="accent2"/>
          </a:solidFill>
          <a:ln/>
        </p:spPr>
      </p:sp>
      <p:pic>
        <p:nvPicPr>
          <p:cNvPr id="19" name="Repeat sales icon" descr="Repeat sales">    </p:cNvPr>
          <p:cNvPicPr>
            <a:picLocks noChangeAspect="1"/>
          </p:cNvPicPr>
          <p:nvPr/>
        </p:nvPicPr>
        <p:blipFill>
          <a:blip r:embed="rId3"/>
          <a:stretch>
            <a:fillRect/>
          </a:stretch>
        </p:blipFill>
        <p:spPr>
          <a:xfrm>
            <a:off x="7468819" y="2531059"/>
            <a:ext cx="332842" cy="332842"/>
          </a:xfrm>
          <a:prstGeom prst="rect">
            <a:avLst/>
          </a:prstGeom>
        </p:spPr>
      </p:pic>
      <p:sp>
        <p:nvSpPr>
          <p:cNvPr id="20" name="Repeat sales title"/>
          <p:cNvSpPr txBox="1"/>
          <p:nvPr/>
        </p:nvSpPr>
        <p:spPr>
          <a:xfrm>
            <a:off x="8138160" y="2359152"/>
            <a:ext cx="3504895" cy="347472"/>
          </a:xfrm>
          <a:prstGeom prst="rect">
            <a:avLst/>
          </a:prstGeom>
          <a:noFill/>
          <a:ln/>
        </p:spPr>
        <p:txBody>
          <a:bodyPr wrap="square" lIns="0" tIns="0" rIns="0" bIns="0" rtlCol="0" anchor="t"/>
          <a:lstStyle/>
          <a:p>
            <a:pPr indent="0" marL="0">
              <a:buNone/>
            </a:pPr>
            <a:r>
              <a:rPr lang="en-US" sz="1700" b="1" dirty="0">
                <a:solidFill>
                  <a:schemeClr val="tx2"/>
                </a:solidFill>
              </a:rPr>
              <a:t>Repeat sales</a:t>
            </a:r>
            <a:endParaRPr lang="en-US" sz="1700" dirty="0"/>
          </a:p>
        </p:txBody>
      </p:sp>
      <p:sp>
        <p:nvSpPr>
          <p:cNvPr id="21" name="Repeat sales detail"/>
          <p:cNvSpPr txBox="1"/>
          <p:nvPr/>
        </p:nvSpPr>
        <p:spPr>
          <a:xfrm>
            <a:off x="8138160" y="2706624"/>
            <a:ext cx="3504895" cy="594360"/>
          </a:xfrm>
          <a:prstGeom prst="rect">
            <a:avLst/>
          </a:prstGeom>
          <a:noFill/>
          <a:ln/>
        </p:spPr>
        <p:txBody>
          <a:bodyPr wrap="square" lIns="0" tIns="0" rIns="0" bIns="0" rtlCol="0" anchor="t"/>
          <a:lstStyle/>
          <a:p>
            <a:pPr indent="0" marL="0">
              <a:buNone/>
            </a:pPr>
            <a:r>
              <a:rPr lang="en-US" sz="1500" dirty="0">
                <a:solidFill>
                  <a:schemeClr val="tx1"/>
                </a:solidFill>
              </a:rPr>
              <a:t>Students buy snacks regularly.</a:t>
            </a:r>
            <a:endParaRPr lang="en-US" sz="1500" dirty="0"/>
          </a:p>
        </p:txBody>
      </p:sp>
      <p:sp>
        <p:nvSpPr>
          <p:cNvPr id="22" name="Affordable reach circle"/>
          <p:cNvSpPr/>
          <p:nvPr/>
        </p:nvSpPr>
        <p:spPr>
          <a:xfrm>
            <a:off x="7315200" y="3429000"/>
            <a:ext cx="640080" cy="640080"/>
          </a:xfrm>
          <a:prstGeom prst="ellipse">
            <a:avLst/>
          </a:prstGeom>
          <a:solidFill>
            <a:schemeClr val="accent5"/>
          </a:solidFill>
          <a:ln/>
        </p:spPr>
      </p:sp>
      <p:pic>
        <p:nvPicPr>
          <p:cNvPr id="23" name="Affordable reach icon" descr="Affordable reach">    </p:cNvPr>
          <p:cNvPicPr>
            <a:picLocks noChangeAspect="1"/>
          </p:cNvPicPr>
          <p:nvPr/>
        </p:nvPicPr>
        <p:blipFill>
          <a:blip r:embed="rId4"/>
          <a:stretch>
            <a:fillRect/>
          </a:stretch>
        </p:blipFill>
        <p:spPr>
          <a:xfrm>
            <a:off x="7468819" y="3582619"/>
            <a:ext cx="332842" cy="332842"/>
          </a:xfrm>
          <a:prstGeom prst="rect">
            <a:avLst/>
          </a:prstGeom>
        </p:spPr>
      </p:pic>
      <p:sp>
        <p:nvSpPr>
          <p:cNvPr id="24" name="Affordable reach title"/>
          <p:cNvSpPr txBox="1"/>
          <p:nvPr/>
        </p:nvSpPr>
        <p:spPr>
          <a:xfrm>
            <a:off x="8138160" y="3410712"/>
            <a:ext cx="3504895" cy="347472"/>
          </a:xfrm>
          <a:prstGeom prst="rect">
            <a:avLst/>
          </a:prstGeom>
          <a:noFill/>
          <a:ln/>
        </p:spPr>
        <p:txBody>
          <a:bodyPr wrap="square" lIns="0" tIns="0" rIns="0" bIns="0" rtlCol="0" anchor="t"/>
          <a:lstStyle/>
          <a:p>
            <a:pPr indent="0" marL="0">
              <a:buNone/>
            </a:pPr>
            <a:r>
              <a:rPr lang="en-US" sz="1700" b="1" dirty="0">
                <a:solidFill>
                  <a:schemeClr val="tx2"/>
                </a:solidFill>
              </a:rPr>
              <a:t>Affordable reach</a:t>
            </a:r>
            <a:endParaRPr lang="en-US" sz="1700" dirty="0"/>
          </a:p>
        </p:txBody>
      </p:sp>
      <p:sp>
        <p:nvSpPr>
          <p:cNvPr id="25" name="Affordable reach detail"/>
          <p:cNvSpPr txBox="1"/>
          <p:nvPr/>
        </p:nvSpPr>
        <p:spPr>
          <a:xfrm>
            <a:off x="8138160" y="3758184"/>
            <a:ext cx="3504895" cy="594360"/>
          </a:xfrm>
          <a:prstGeom prst="rect">
            <a:avLst/>
          </a:prstGeom>
          <a:noFill/>
          <a:ln/>
        </p:spPr>
        <p:txBody>
          <a:bodyPr wrap="square" lIns="0" tIns="0" rIns="0" bIns="0" rtlCol="0" anchor="t"/>
          <a:lstStyle/>
          <a:p>
            <a:pPr indent="0" marL="0">
              <a:buNone/>
            </a:pPr>
            <a:r>
              <a:rPr lang="en-US" sz="1500" dirty="0">
                <a:solidFill>
                  <a:schemeClr val="tx1"/>
                </a:solidFill>
              </a:rPr>
              <a:t>TikTok, Instagram and word of mouth among students.</a:t>
            </a:r>
            <a:endParaRPr lang="en-US" sz="1500" dirty="0"/>
          </a:p>
        </p:txBody>
      </p:sp>
      <p:sp>
        <p:nvSpPr>
          <p:cNvPr id="26" name="Verify note card"/>
          <p:cNvSpPr/>
          <p:nvPr/>
        </p:nvSpPr>
        <p:spPr>
          <a:xfrm>
            <a:off x="7315200" y="4572000"/>
            <a:ext cx="4327855" cy="1417320"/>
          </a:xfrm>
          <a:prstGeom prst="roundRect">
            <a:avLst>
              <a:gd name="adj" fmla="val 11613"/>
            </a:avLst>
          </a:prstGeom>
          <a:solidFill>
            <a:schemeClr val="accent3">
              <a:alpha val="25000"/>
            </a:schemeClr>
          </a:solidFill>
          <a:ln/>
        </p:spPr>
      </p:sp>
      <p:sp>
        <p:nvSpPr>
          <p:cNvPr id="27" name="Verify note"/>
          <p:cNvSpPr txBox="1"/>
          <p:nvPr/>
        </p:nvSpPr>
        <p:spPr>
          <a:xfrm>
            <a:off x="7589520" y="4736592"/>
            <a:ext cx="3779215" cy="1097280"/>
          </a:xfrm>
          <a:prstGeom prst="rect">
            <a:avLst/>
          </a:prstGeom>
          <a:noFill/>
          <a:ln/>
        </p:spPr>
        <p:txBody>
          <a:bodyPr wrap="square" lIns="0" tIns="0" rIns="0" bIns="0" rtlCol="0" anchor="ctr"/>
          <a:lstStyle/>
          <a:p>
            <a:pPr indent="0" marL="0">
              <a:buNone/>
            </a:pPr>
            <a:r>
              <a:rPr lang="en-US" sz="1400" b="1" dirty="0">
                <a:solidFill>
                  <a:schemeClr val="tx1"/>
                </a:solidFill>
              </a:rPr>
              <a:t>To verify: </a:t>
            </a:r>
            <a:pPr indent="0" marL="0">
              <a:buNone/>
            </a:pPr>
            <a:r>
              <a:rPr lang="en-US" sz="1400" dirty="0">
                <a:solidFill>
                  <a:schemeClr val="tx1"/>
                </a:solidFill>
              </a:rPr>
              <a:t>the assumption that this market is more than 40% of the total market needs market research before it is presented as a confirmed figure.</a:t>
            </a:r>
            <a:endParaRPr lang="en-US" sz="14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4"/>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04  ·  TARGET MARKET</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Meet Ahmed, the customer we designed for</a:t>
            </a:r>
            <a:endParaRPr lang="en-US" sz="3400" dirty="0"/>
          </a:p>
        </p:txBody>
      </p:sp>
      <p:sp>
        <p:nvSpPr>
          <p:cNvPr id="5" name="Persona card"/>
          <p:cNvSpPr/>
          <p:nvPr/>
        </p:nvSpPr>
        <p:spPr>
          <a:xfrm>
            <a:off x="548640" y="1783080"/>
            <a:ext cx="4114800" cy="4251960"/>
          </a:xfrm>
          <a:prstGeom prst="roundRect">
            <a:avLst>
              <a:gd name="adj" fmla="val 4000"/>
            </a:avLst>
          </a:prstGeom>
          <a:solidFill>
            <a:schemeClr val="accent1">
              <a:alpha val="16000"/>
            </a:schemeClr>
          </a:solidFill>
          <a:ln/>
        </p:spPr>
      </p:sp>
      <p:sp>
        <p:nvSpPr>
          <p:cNvPr id="6" name="Ahmed circle"/>
          <p:cNvSpPr/>
          <p:nvPr/>
        </p:nvSpPr>
        <p:spPr>
          <a:xfrm>
            <a:off x="1783080" y="2057400"/>
            <a:ext cx="1645920" cy="1645920"/>
          </a:xfrm>
          <a:prstGeom prst="ellipse">
            <a:avLst/>
          </a:prstGeom>
          <a:solidFill>
            <a:schemeClr val="accent1"/>
          </a:solidFill>
          <a:ln/>
        </p:spPr>
      </p:sp>
      <p:pic>
        <p:nvPicPr>
          <p:cNvPr id="7" name="Ahmed icon" descr="Ahmed">    </p:cNvPr>
          <p:cNvPicPr>
            <a:picLocks noChangeAspect="1"/>
          </p:cNvPicPr>
          <p:nvPr/>
        </p:nvPicPr>
        <p:blipFill>
          <a:blip r:embed="rId1"/>
          <a:stretch>
            <a:fillRect/>
          </a:stretch>
        </p:blipFill>
        <p:spPr>
          <a:xfrm>
            <a:off x="2178101" y="2452421"/>
            <a:ext cx="855878" cy="855878"/>
          </a:xfrm>
          <a:prstGeom prst="rect">
            <a:avLst/>
          </a:prstGeom>
        </p:spPr>
      </p:pic>
      <p:sp>
        <p:nvSpPr>
          <p:cNvPr id="8" name="Persona name"/>
          <p:cNvSpPr txBox="1"/>
          <p:nvPr/>
        </p:nvSpPr>
        <p:spPr>
          <a:xfrm>
            <a:off x="548640" y="3840480"/>
            <a:ext cx="4114800" cy="548640"/>
          </a:xfrm>
          <a:prstGeom prst="rect">
            <a:avLst/>
          </a:prstGeom>
          <a:noFill/>
          <a:ln/>
        </p:spPr>
        <p:txBody>
          <a:bodyPr wrap="square" lIns="0" tIns="0" rIns="0" bIns="0" rtlCol="0" anchor="t"/>
          <a:lstStyle/>
          <a:p>
            <a:pPr algn="ctr" indent="0" marL="0">
              <a:buNone/>
            </a:pPr>
            <a:r>
              <a:rPr lang="en-US" sz="3200" b="1" dirty="0">
                <a:solidFill>
                  <a:schemeClr val="tx2"/>
                </a:solidFill>
              </a:rPr>
              <a:t>Ahmed</a:t>
            </a:r>
            <a:endParaRPr lang="en-US" sz="3200" dirty="0"/>
          </a:p>
        </p:txBody>
      </p:sp>
      <p:sp>
        <p:nvSpPr>
          <p:cNvPr id="9" name="Persona role"/>
          <p:cNvSpPr txBox="1"/>
          <p:nvPr/>
        </p:nvSpPr>
        <p:spPr>
          <a:xfrm>
            <a:off x="548640" y="4407408"/>
            <a:ext cx="4114800" cy="365760"/>
          </a:xfrm>
          <a:prstGeom prst="rect">
            <a:avLst/>
          </a:prstGeom>
          <a:noFill/>
          <a:ln/>
        </p:spPr>
        <p:txBody>
          <a:bodyPr wrap="square" lIns="0" tIns="0" rIns="0" bIns="0" rtlCol="0" anchor="t"/>
          <a:lstStyle/>
          <a:p>
            <a:pPr algn="ctr" indent="0" marL="0">
              <a:buNone/>
            </a:pPr>
            <a:r>
              <a:rPr lang="en-US" sz="1700" dirty="0">
                <a:solidFill>
                  <a:schemeClr val="tx1"/>
                </a:solidFill>
              </a:rPr>
              <a:t>22 years old  ·  University student</a:t>
            </a:r>
            <a:endParaRPr lang="en-US" sz="1700" dirty="0"/>
          </a:p>
        </p:txBody>
      </p:sp>
      <p:sp>
        <p:nvSpPr>
          <p:cNvPr id="10" name="Budget pill"/>
          <p:cNvSpPr/>
          <p:nvPr/>
        </p:nvSpPr>
        <p:spPr>
          <a:xfrm>
            <a:off x="1600200" y="4983480"/>
            <a:ext cx="2011680" cy="457200"/>
          </a:xfrm>
          <a:prstGeom prst="roundRect">
            <a:avLst>
              <a:gd name="adj" fmla="val 50000"/>
            </a:avLst>
          </a:prstGeom>
          <a:solidFill>
            <a:schemeClr val="tx2"/>
          </a:solidFill>
          <a:ln/>
        </p:spPr>
      </p:sp>
      <p:sp>
        <p:nvSpPr>
          <p:cNvPr id="11" name="Budget pill text"/>
          <p:cNvSpPr txBox="1"/>
          <p:nvPr/>
        </p:nvSpPr>
        <p:spPr>
          <a:xfrm>
            <a:off x="1600200" y="4983480"/>
            <a:ext cx="2011680" cy="457200"/>
          </a:xfrm>
          <a:prstGeom prst="rect">
            <a:avLst/>
          </a:prstGeom>
          <a:noFill/>
          <a:ln/>
        </p:spPr>
        <p:txBody>
          <a:bodyPr wrap="square" lIns="0" tIns="0" rIns="0" bIns="0" rtlCol="0" anchor="ctr"/>
          <a:lstStyle/>
          <a:p>
            <a:pPr algn="ctr" indent="0" marL="0">
              <a:buNone/>
            </a:pPr>
            <a:r>
              <a:rPr lang="en-US" sz="1500" b="1" dirty="0">
                <a:solidFill>
                  <a:schemeClr val="bg1"/>
                </a:solidFill>
              </a:rPr>
              <a:t>Limited budget</a:t>
            </a:r>
            <a:endParaRPr lang="en-US" sz="1500" dirty="0"/>
          </a:p>
        </p:txBody>
      </p:sp>
      <p:sp>
        <p:nvSpPr>
          <p:cNvPr id="12" name="Needs title"/>
          <p:cNvSpPr txBox="1"/>
          <p:nvPr/>
        </p:nvSpPr>
        <p:spPr>
          <a:xfrm>
            <a:off x="5120640" y="1810512"/>
            <a:ext cx="6522415" cy="411480"/>
          </a:xfrm>
          <a:prstGeom prst="rect">
            <a:avLst/>
          </a:prstGeom>
          <a:noFill/>
          <a:ln/>
        </p:spPr>
        <p:txBody>
          <a:bodyPr wrap="square" lIns="0" tIns="0" rIns="0" bIns="0" rtlCol="0" anchor="t"/>
          <a:lstStyle/>
          <a:p>
            <a:pPr indent="0" marL="0">
              <a:buNone/>
            </a:pPr>
            <a:r>
              <a:rPr lang="en-US" sz="2000" b="1" dirty="0">
                <a:solidFill>
                  <a:schemeClr val="tx2"/>
                </a:solidFill>
              </a:rPr>
              <a:t>What Ahmed needs</a:t>
            </a:r>
            <a:endParaRPr lang="en-US" sz="2000" dirty="0"/>
          </a:p>
        </p:txBody>
      </p:sp>
      <p:sp>
        <p:nvSpPr>
          <p:cNvPr id="13" name="Affordable need card"/>
          <p:cNvSpPr/>
          <p:nvPr/>
        </p:nvSpPr>
        <p:spPr>
          <a:xfrm>
            <a:off x="5120640" y="2377440"/>
            <a:ext cx="3124048" cy="1691640"/>
          </a:xfrm>
          <a:prstGeom prst="roundRect">
            <a:avLst>
              <a:gd name="adj" fmla="val 9730"/>
            </a:avLst>
          </a:prstGeom>
          <a:solidFill>
            <a:schemeClr val="bg2"/>
          </a:solidFill>
          <a:ln/>
        </p:spPr>
      </p:sp>
      <p:sp>
        <p:nvSpPr>
          <p:cNvPr id="14" name="Affordable circle"/>
          <p:cNvSpPr/>
          <p:nvPr/>
        </p:nvSpPr>
        <p:spPr>
          <a:xfrm>
            <a:off x="5394960" y="2651760"/>
            <a:ext cx="640080" cy="640080"/>
          </a:xfrm>
          <a:prstGeom prst="ellipse">
            <a:avLst/>
          </a:prstGeom>
          <a:solidFill>
            <a:schemeClr val="accent2"/>
          </a:solidFill>
          <a:ln/>
        </p:spPr>
      </p:sp>
      <p:pic>
        <p:nvPicPr>
          <p:cNvPr id="15" name="Affordable icon" descr="Affordable">    </p:cNvPr>
          <p:cNvPicPr>
            <a:picLocks noChangeAspect="1"/>
          </p:cNvPicPr>
          <p:nvPr/>
        </p:nvPicPr>
        <p:blipFill>
          <a:blip r:embed="rId2"/>
          <a:stretch>
            <a:fillRect/>
          </a:stretch>
        </p:blipFill>
        <p:spPr>
          <a:xfrm>
            <a:off x="5548579" y="2805379"/>
            <a:ext cx="332842" cy="332842"/>
          </a:xfrm>
          <a:prstGeom prst="rect">
            <a:avLst/>
          </a:prstGeom>
        </p:spPr>
      </p:pic>
      <p:sp>
        <p:nvSpPr>
          <p:cNvPr id="16" name="Affordable need title"/>
          <p:cNvSpPr txBox="1"/>
          <p:nvPr/>
        </p:nvSpPr>
        <p:spPr>
          <a:xfrm>
            <a:off x="6217920" y="2697480"/>
            <a:ext cx="1843888" cy="411480"/>
          </a:xfrm>
          <a:prstGeom prst="rect">
            <a:avLst/>
          </a:prstGeom>
          <a:noFill/>
          <a:ln/>
        </p:spPr>
        <p:txBody>
          <a:bodyPr wrap="square" lIns="0" tIns="0" rIns="0" bIns="0" rtlCol="0" anchor="t"/>
          <a:lstStyle/>
          <a:p>
            <a:pPr indent="0" marL="0">
              <a:buNone/>
            </a:pPr>
            <a:r>
              <a:rPr lang="en-US" sz="1900" b="1" dirty="0">
                <a:solidFill>
                  <a:schemeClr val="tx2"/>
                </a:solidFill>
              </a:rPr>
              <a:t>Affordable</a:t>
            </a:r>
            <a:endParaRPr lang="en-US" sz="1900" dirty="0"/>
          </a:p>
        </p:txBody>
      </p:sp>
      <p:sp>
        <p:nvSpPr>
          <p:cNvPr id="17" name="Affordable need detail"/>
          <p:cNvSpPr txBox="1"/>
          <p:nvPr/>
        </p:nvSpPr>
        <p:spPr>
          <a:xfrm>
            <a:off x="5394960" y="3383280"/>
            <a:ext cx="2621128" cy="594360"/>
          </a:xfrm>
          <a:prstGeom prst="rect">
            <a:avLst/>
          </a:prstGeom>
          <a:noFill/>
          <a:ln/>
        </p:spPr>
        <p:txBody>
          <a:bodyPr wrap="square" lIns="0" tIns="0" rIns="0" bIns="0" rtlCol="0" anchor="t"/>
          <a:lstStyle/>
          <a:p>
            <a:pPr indent="0" marL="0">
              <a:buNone/>
            </a:pPr>
            <a:r>
              <a:rPr lang="en-US" sz="1500" dirty="0">
                <a:solidFill>
                  <a:schemeClr val="tx1"/>
                </a:solidFill>
              </a:rPr>
              <a:t>A snack that fits a student budget</a:t>
            </a:r>
            <a:endParaRPr lang="en-US" sz="1500" dirty="0"/>
          </a:p>
        </p:txBody>
      </p:sp>
      <p:sp>
        <p:nvSpPr>
          <p:cNvPr id="18" name="Tasty need card"/>
          <p:cNvSpPr/>
          <p:nvPr/>
        </p:nvSpPr>
        <p:spPr>
          <a:xfrm>
            <a:off x="8519008" y="2377440"/>
            <a:ext cx="3124048" cy="1691640"/>
          </a:xfrm>
          <a:prstGeom prst="roundRect">
            <a:avLst>
              <a:gd name="adj" fmla="val 9730"/>
            </a:avLst>
          </a:prstGeom>
          <a:solidFill>
            <a:schemeClr val="bg2"/>
          </a:solidFill>
          <a:ln/>
        </p:spPr>
      </p:sp>
      <p:sp>
        <p:nvSpPr>
          <p:cNvPr id="19" name="Tasty circle"/>
          <p:cNvSpPr/>
          <p:nvPr/>
        </p:nvSpPr>
        <p:spPr>
          <a:xfrm>
            <a:off x="8793328" y="2651760"/>
            <a:ext cx="640080" cy="640080"/>
          </a:xfrm>
          <a:prstGeom prst="ellipse">
            <a:avLst/>
          </a:prstGeom>
          <a:solidFill>
            <a:schemeClr val="accent3"/>
          </a:solidFill>
          <a:ln/>
        </p:spPr>
      </p:sp>
      <p:pic>
        <p:nvPicPr>
          <p:cNvPr id="20" name="Tasty icon" descr="Tasty">    </p:cNvPr>
          <p:cNvPicPr>
            <a:picLocks noChangeAspect="1"/>
          </p:cNvPicPr>
          <p:nvPr/>
        </p:nvPicPr>
        <p:blipFill>
          <a:blip r:embed="rId3"/>
          <a:stretch>
            <a:fillRect/>
          </a:stretch>
        </p:blipFill>
        <p:spPr>
          <a:xfrm>
            <a:off x="8946947" y="2805379"/>
            <a:ext cx="332842" cy="332842"/>
          </a:xfrm>
          <a:prstGeom prst="rect">
            <a:avLst/>
          </a:prstGeom>
        </p:spPr>
      </p:pic>
      <p:sp>
        <p:nvSpPr>
          <p:cNvPr id="21" name="Tasty need title"/>
          <p:cNvSpPr txBox="1"/>
          <p:nvPr/>
        </p:nvSpPr>
        <p:spPr>
          <a:xfrm>
            <a:off x="9616288" y="2697480"/>
            <a:ext cx="1843888" cy="411480"/>
          </a:xfrm>
          <a:prstGeom prst="rect">
            <a:avLst/>
          </a:prstGeom>
          <a:noFill/>
          <a:ln/>
        </p:spPr>
        <p:txBody>
          <a:bodyPr wrap="square" lIns="0" tIns="0" rIns="0" bIns="0" rtlCol="0" anchor="t"/>
          <a:lstStyle/>
          <a:p>
            <a:pPr indent="0" marL="0">
              <a:buNone/>
            </a:pPr>
            <a:r>
              <a:rPr lang="en-US" sz="1900" b="1" dirty="0">
                <a:solidFill>
                  <a:schemeClr val="tx2"/>
                </a:solidFill>
              </a:rPr>
              <a:t>Tasty</a:t>
            </a:r>
            <a:endParaRPr lang="en-US" sz="1900" dirty="0"/>
          </a:p>
        </p:txBody>
      </p:sp>
      <p:sp>
        <p:nvSpPr>
          <p:cNvPr id="22" name="Tasty need detail"/>
          <p:cNvSpPr txBox="1"/>
          <p:nvPr/>
        </p:nvSpPr>
        <p:spPr>
          <a:xfrm>
            <a:off x="8793328" y="3383280"/>
            <a:ext cx="2621128" cy="594360"/>
          </a:xfrm>
          <a:prstGeom prst="rect">
            <a:avLst/>
          </a:prstGeom>
          <a:noFill/>
          <a:ln/>
        </p:spPr>
        <p:txBody>
          <a:bodyPr wrap="square" lIns="0" tIns="0" rIns="0" bIns="0" rtlCol="0" anchor="t"/>
          <a:lstStyle/>
          <a:p>
            <a:pPr indent="0" marL="0">
              <a:buNone/>
            </a:pPr>
            <a:r>
              <a:rPr lang="en-US" sz="1500" dirty="0">
                <a:solidFill>
                  <a:schemeClr val="tx1"/>
                </a:solidFill>
              </a:rPr>
              <a:t>Something he enjoys eating</a:t>
            </a:r>
            <a:endParaRPr lang="en-US" sz="1500" dirty="0"/>
          </a:p>
        </p:txBody>
      </p:sp>
      <p:sp>
        <p:nvSpPr>
          <p:cNvPr id="23" name="Nutritious need card"/>
          <p:cNvSpPr/>
          <p:nvPr/>
        </p:nvSpPr>
        <p:spPr>
          <a:xfrm>
            <a:off x="5120640" y="4251960"/>
            <a:ext cx="3124048" cy="1691640"/>
          </a:xfrm>
          <a:prstGeom prst="roundRect">
            <a:avLst>
              <a:gd name="adj" fmla="val 9730"/>
            </a:avLst>
          </a:prstGeom>
          <a:solidFill>
            <a:schemeClr val="bg2"/>
          </a:solidFill>
          <a:ln/>
        </p:spPr>
      </p:sp>
      <p:sp>
        <p:nvSpPr>
          <p:cNvPr id="24" name="Nutritious circle"/>
          <p:cNvSpPr/>
          <p:nvPr/>
        </p:nvSpPr>
        <p:spPr>
          <a:xfrm>
            <a:off x="5394960" y="4526280"/>
            <a:ext cx="640080" cy="640080"/>
          </a:xfrm>
          <a:prstGeom prst="ellipse">
            <a:avLst/>
          </a:prstGeom>
          <a:solidFill>
            <a:schemeClr val="accent5"/>
          </a:solidFill>
          <a:ln/>
        </p:spPr>
      </p:sp>
      <p:pic>
        <p:nvPicPr>
          <p:cNvPr id="25" name="Nutritious icon" descr="Nutritious">    </p:cNvPr>
          <p:cNvPicPr>
            <a:picLocks noChangeAspect="1"/>
          </p:cNvPicPr>
          <p:nvPr/>
        </p:nvPicPr>
        <p:blipFill>
          <a:blip r:embed="rId4"/>
          <a:stretch>
            <a:fillRect/>
          </a:stretch>
        </p:blipFill>
        <p:spPr>
          <a:xfrm>
            <a:off x="5548579" y="4679899"/>
            <a:ext cx="332842" cy="332842"/>
          </a:xfrm>
          <a:prstGeom prst="rect">
            <a:avLst/>
          </a:prstGeom>
        </p:spPr>
      </p:pic>
      <p:sp>
        <p:nvSpPr>
          <p:cNvPr id="26" name="Nutritious need title"/>
          <p:cNvSpPr txBox="1"/>
          <p:nvPr/>
        </p:nvSpPr>
        <p:spPr>
          <a:xfrm>
            <a:off x="6217920" y="4572000"/>
            <a:ext cx="1843888" cy="411480"/>
          </a:xfrm>
          <a:prstGeom prst="rect">
            <a:avLst/>
          </a:prstGeom>
          <a:noFill/>
          <a:ln/>
        </p:spPr>
        <p:txBody>
          <a:bodyPr wrap="square" lIns="0" tIns="0" rIns="0" bIns="0" rtlCol="0" anchor="t"/>
          <a:lstStyle/>
          <a:p>
            <a:pPr indent="0" marL="0">
              <a:buNone/>
            </a:pPr>
            <a:r>
              <a:rPr lang="en-US" sz="1900" b="1" dirty="0">
                <a:solidFill>
                  <a:schemeClr val="tx2"/>
                </a:solidFill>
              </a:rPr>
              <a:t>Nutritious</a:t>
            </a:r>
            <a:endParaRPr lang="en-US" sz="1900" dirty="0"/>
          </a:p>
        </p:txBody>
      </p:sp>
      <p:sp>
        <p:nvSpPr>
          <p:cNvPr id="27" name="Nutritious need detail"/>
          <p:cNvSpPr txBox="1"/>
          <p:nvPr/>
        </p:nvSpPr>
        <p:spPr>
          <a:xfrm>
            <a:off x="5394960" y="5257800"/>
            <a:ext cx="2621128" cy="594360"/>
          </a:xfrm>
          <a:prstGeom prst="rect">
            <a:avLst/>
          </a:prstGeom>
          <a:noFill/>
          <a:ln/>
        </p:spPr>
        <p:txBody>
          <a:bodyPr wrap="square" lIns="0" tIns="0" rIns="0" bIns="0" rtlCol="0" anchor="t"/>
          <a:lstStyle/>
          <a:p>
            <a:pPr indent="0" marL="0">
              <a:buNone/>
            </a:pPr>
            <a:r>
              <a:rPr lang="en-US" sz="1500" dirty="0">
                <a:solidFill>
                  <a:schemeClr val="tx1"/>
                </a:solidFill>
              </a:rPr>
              <a:t>Energy and nutrition for a busy day</a:t>
            </a:r>
            <a:endParaRPr lang="en-US" sz="1500" dirty="0"/>
          </a:p>
        </p:txBody>
      </p:sp>
      <p:sp>
        <p:nvSpPr>
          <p:cNvPr id="28" name="Portable need card"/>
          <p:cNvSpPr/>
          <p:nvPr/>
        </p:nvSpPr>
        <p:spPr>
          <a:xfrm>
            <a:off x="8519008" y="4251960"/>
            <a:ext cx="3124048" cy="1691640"/>
          </a:xfrm>
          <a:prstGeom prst="roundRect">
            <a:avLst>
              <a:gd name="adj" fmla="val 9730"/>
            </a:avLst>
          </a:prstGeom>
          <a:solidFill>
            <a:schemeClr val="bg2"/>
          </a:solidFill>
          <a:ln/>
        </p:spPr>
      </p:sp>
      <p:sp>
        <p:nvSpPr>
          <p:cNvPr id="29" name="Portable circle"/>
          <p:cNvSpPr/>
          <p:nvPr/>
        </p:nvSpPr>
        <p:spPr>
          <a:xfrm>
            <a:off x="8793328" y="4526280"/>
            <a:ext cx="640080" cy="640080"/>
          </a:xfrm>
          <a:prstGeom prst="ellipse">
            <a:avLst/>
          </a:prstGeom>
          <a:solidFill>
            <a:schemeClr val="accent4"/>
          </a:solidFill>
          <a:ln/>
        </p:spPr>
      </p:sp>
      <p:pic>
        <p:nvPicPr>
          <p:cNvPr id="30" name="Portable icon" descr="Portable">    </p:cNvPr>
          <p:cNvPicPr>
            <a:picLocks noChangeAspect="1"/>
          </p:cNvPicPr>
          <p:nvPr/>
        </p:nvPicPr>
        <p:blipFill>
          <a:blip r:embed="rId5"/>
          <a:stretch>
            <a:fillRect/>
          </a:stretch>
        </p:blipFill>
        <p:spPr>
          <a:xfrm>
            <a:off x="8946947" y="4679899"/>
            <a:ext cx="332842" cy="332842"/>
          </a:xfrm>
          <a:prstGeom prst="rect">
            <a:avLst/>
          </a:prstGeom>
        </p:spPr>
      </p:pic>
      <p:sp>
        <p:nvSpPr>
          <p:cNvPr id="31" name="Portable need title"/>
          <p:cNvSpPr txBox="1"/>
          <p:nvPr/>
        </p:nvSpPr>
        <p:spPr>
          <a:xfrm>
            <a:off x="9616288" y="4572000"/>
            <a:ext cx="1843888" cy="411480"/>
          </a:xfrm>
          <a:prstGeom prst="rect">
            <a:avLst/>
          </a:prstGeom>
          <a:noFill/>
          <a:ln/>
        </p:spPr>
        <p:txBody>
          <a:bodyPr wrap="square" lIns="0" tIns="0" rIns="0" bIns="0" rtlCol="0" anchor="t"/>
          <a:lstStyle/>
          <a:p>
            <a:pPr indent="0" marL="0">
              <a:buNone/>
            </a:pPr>
            <a:r>
              <a:rPr lang="en-US" sz="1900" b="1" dirty="0">
                <a:solidFill>
                  <a:schemeClr val="tx2"/>
                </a:solidFill>
              </a:rPr>
              <a:t>Portable</a:t>
            </a:r>
            <a:endParaRPr lang="en-US" sz="1900" dirty="0"/>
          </a:p>
        </p:txBody>
      </p:sp>
      <p:sp>
        <p:nvSpPr>
          <p:cNvPr id="32" name="Portable need detail"/>
          <p:cNvSpPr txBox="1"/>
          <p:nvPr/>
        </p:nvSpPr>
        <p:spPr>
          <a:xfrm>
            <a:off x="8793328" y="5257800"/>
            <a:ext cx="2621128" cy="594360"/>
          </a:xfrm>
          <a:prstGeom prst="rect">
            <a:avLst/>
          </a:prstGeom>
          <a:noFill/>
          <a:ln/>
        </p:spPr>
        <p:txBody>
          <a:bodyPr wrap="square" lIns="0" tIns="0" rIns="0" bIns="0" rtlCol="0" anchor="t"/>
          <a:lstStyle/>
          <a:p>
            <a:pPr indent="0" marL="0">
              <a:buNone/>
            </a:pPr>
            <a:r>
              <a:rPr lang="en-US" sz="1500" dirty="0">
                <a:solidFill>
                  <a:schemeClr val="tx1"/>
                </a:solidFill>
              </a:rPr>
              <a:t>Fits in his backpack, eaten between lectures</a:t>
            </a:r>
            <a:endParaRPr lang="en-US" sz="15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5"/>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05  ·  MARKETING MIX</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Product and Price: an easy first purchase</a:t>
            </a:r>
            <a:endParaRPr lang="en-US" sz="3400" dirty="0"/>
          </a:p>
        </p:txBody>
      </p:sp>
      <p:sp>
        <p:nvSpPr>
          <p:cNvPr id="5" name="Mix intro"/>
          <p:cNvSpPr txBox="1"/>
          <p:nvPr/>
        </p:nvSpPr>
        <p:spPr>
          <a:xfrm>
            <a:off x="548640" y="1536192"/>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The four Ps work together to attract students and employees and create competitive value.</a:t>
            </a:r>
            <a:endParaRPr lang="en-US" sz="1700" dirty="0"/>
          </a:p>
        </p:txBody>
      </p:sp>
      <p:sp>
        <p:nvSpPr>
          <p:cNvPr id="6" name="Product panel"/>
          <p:cNvSpPr/>
          <p:nvPr/>
        </p:nvSpPr>
        <p:spPr>
          <a:xfrm>
            <a:off x="548640" y="2103120"/>
            <a:ext cx="5364328" cy="3931920"/>
          </a:xfrm>
          <a:prstGeom prst="roundRect">
            <a:avLst>
              <a:gd name="adj" fmla="val 4186"/>
            </a:avLst>
          </a:prstGeom>
          <a:solidFill>
            <a:schemeClr val="accent1">
              <a:alpha val="14000"/>
            </a:schemeClr>
          </a:solidFill>
          <a:ln/>
        </p:spPr>
      </p:sp>
      <p:sp>
        <p:nvSpPr>
          <p:cNvPr id="7" name="Product circle"/>
          <p:cNvSpPr/>
          <p:nvPr/>
        </p:nvSpPr>
        <p:spPr>
          <a:xfrm>
            <a:off x="868680" y="2423160"/>
            <a:ext cx="685800" cy="685800"/>
          </a:xfrm>
          <a:prstGeom prst="ellipse">
            <a:avLst/>
          </a:prstGeom>
          <a:solidFill>
            <a:schemeClr val="accent1"/>
          </a:solidFill>
          <a:ln/>
        </p:spPr>
      </p:sp>
      <p:pic>
        <p:nvPicPr>
          <p:cNvPr id="8" name="Product icon" descr="Product">    </p:cNvPr>
          <p:cNvPicPr>
            <a:picLocks noChangeAspect="1"/>
          </p:cNvPicPr>
          <p:nvPr/>
        </p:nvPicPr>
        <p:blipFill>
          <a:blip r:embed="rId1"/>
          <a:stretch>
            <a:fillRect/>
          </a:stretch>
        </p:blipFill>
        <p:spPr>
          <a:xfrm>
            <a:off x="1033272" y="2587752"/>
            <a:ext cx="356616" cy="356616"/>
          </a:xfrm>
          <a:prstGeom prst="rect">
            <a:avLst/>
          </a:prstGeom>
        </p:spPr>
      </p:pic>
      <p:sp>
        <p:nvSpPr>
          <p:cNvPr id="9" name="Product title"/>
          <p:cNvSpPr txBox="1"/>
          <p:nvPr/>
        </p:nvSpPr>
        <p:spPr>
          <a:xfrm>
            <a:off x="1737360" y="2514600"/>
            <a:ext cx="2743200" cy="502920"/>
          </a:xfrm>
          <a:prstGeom prst="rect">
            <a:avLst/>
          </a:prstGeom>
          <a:noFill/>
          <a:ln/>
        </p:spPr>
        <p:txBody>
          <a:bodyPr wrap="square" lIns="0" tIns="0" rIns="0" bIns="0" rtlCol="0" anchor="t"/>
          <a:lstStyle/>
          <a:p>
            <a:pPr indent="0" marL="0">
              <a:buNone/>
            </a:pPr>
            <a:r>
              <a:rPr lang="en-US" sz="2400" b="1" dirty="0">
                <a:solidFill>
                  <a:schemeClr val="tx2"/>
                </a:solidFill>
              </a:rPr>
              <a:t>Product</a:t>
            </a:r>
            <a:endParaRPr lang="en-US" sz="2400" dirty="0"/>
          </a:p>
        </p:txBody>
      </p:sp>
      <p:sp>
        <p:nvSpPr>
          <p:cNvPr id="10" name="Product bullets"/>
          <p:cNvSpPr txBox="1"/>
          <p:nvPr/>
        </p:nvSpPr>
        <p:spPr>
          <a:xfrm>
            <a:off x="868680" y="3291840"/>
            <a:ext cx="4724248"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Familiar local ingredients: dates, peanuts, oats and sesame seeds</a:t>
            </a:r>
            <a:endParaRPr lang="en-US" sz="1500" dirty="0"/>
          </a:p>
          <a:p>
            <a:pPr marL="342900" indent="-342900">
              <a:spcAft>
                <a:spcPts val="600"/>
              </a:spcAft>
              <a:buSzPct val="100000"/>
              <a:buChar char="•"/>
            </a:pPr>
            <a:r>
              <a:rPr lang="en-US" sz="1500" dirty="0">
                <a:solidFill>
                  <a:schemeClr val="tx1"/>
                </a:solidFill>
              </a:rPr>
              <a:t>Small pack with product information, expiry date and allergen warnings</a:t>
            </a:r>
            <a:endParaRPr lang="en-US" sz="1500" dirty="0"/>
          </a:p>
          <a:p>
            <a:pPr marL="342900" indent="-342900">
              <a:spcAft>
                <a:spcPts val="600"/>
              </a:spcAft>
              <a:buSzPct val="100000"/>
              <a:buChar char="•"/>
            </a:pPr>
            <a:r>
              <a:rPr lang="en-US" sz="1500" dirty="0">
                <a:solidFill>
                  <a:schemeClr val="tx1"/>
                </a:solidFill>
              </a:rPr>
              <a:t>A brand that reflects an active, convenient lifestyle</a:t>
            </a:r>
            <a:endParaRPr lang="en-US" sz="1500" dirty="0"/>
          </a:p>
        </p:txBody>
      </p:sp>
      <p:sp>
        <p:nvSpPr>
          <p:cNvPr id="11" name="Message card"/>
          <p:cNvSpPr/>
          <p:nvPr/>
        </p:nvSpPr>
        <p:spPr>
          <a:xfrm>
            <a:off x="868680" y="4983480"/>
            <a:ext cx="4724248" cy="822960"/>
          </a:xfrm>
          <a:prstGeom prst="roundRect">
            <a:avLst>
              <a:gd name="adj" fmla="val 20000"/>
            </a:avLst>
          </a:prstGeom>
          <a:solidFill>
            <a:schemeClr val="tx2"/>
          </a:solidFill>
          <a:ln/>
        </p:spPr>
      </p:sp>
      <p:sp>
        <p:nvSpPr>
          <p:cNvPr id="12" name="Message"/>
          <p:cNvSpPr txBox="1"/>
          <p:nvPr/>
        </p:nvSpPr>
        <p:spPr>
          <a:xfrm>
            <a:off x="1051560" y="4983480"/>
            <a:ext cx="4358488" cy="822960"/>
          </a:xfrm>
          <a:prstGeom prst="rect">
            <a:avLst/>
          </a:prstGeom>
          <a:noFill/>
          <a:ln/>
        </p:spPr>
        <p:txBody>
          <a:bodyPr wrap="square" lIns="0" tIns="0" rIns="0" bIns="0" rtlCol="0" anchor="ctr"/>
          <a:lstStyle/>
          <a:p>
            <a:pPr indent="0" marL="0">
              <a:buNone/>
            </a:pPr>
            <a:r>
              <a:rPr lang="en-US" sz="1700" b="1" i="1" dirty="0">
                <a:solidFill>
                  <a:schemeClr val="bg1"/>
                </a:solidFill>
              </a:rPr>
              <a:t>“Great Taste, Convenient Energy, Ready for Your Day!”</a:t>
            </a:r>
            <a:endParaRPr lang="en-US" sz="1700" dirty="0"/>
          </a:p>
        </p:txBody>
      </p:sp>
      <p:sp>
        <p:nvSpPr>
          <p:cNvPr id="13" name="Price panel"/>
          <p:cNvSpPr/>
          <p:nvPr/>
        </p:nvSpPr>
        <p:spPr>
          <a:xfrm>
            <a:off x="6278728" y="2103120"/>
            <a:ext cx="5364328" cy="3931920"/>
          </a:xfrm>
          <a:prstGeom prst="roundRect">
            <a:avLst>
              <a:gd name="adj" fmla="val 4186"/>
            </a:avLst>
          </a:prstGeom>
          <a:solidFill>
            <a:schemeClr val="accent2">
              <a:alpha val="14000"/>
            </a:schemeClr>
          </a:solidFill>
          <a:ln/>
        </p:spPr>
      </p:sp>
      <p:sp>
        <p:nvSpPr>
          <p:cNvPr id="14" name="Price circle"/>
          <p:cNvSpPr/>
          <p:nvPr/>
        </p:nvSpPr>
        <p:spPr>
          <a:xfrm>
            <a:off x="6598768" y="2423160"/>
            <a:ext cx="685800" cy="685800"/>
          </a:xfrm>
          <a:prstGeom prst="ellipse">
            <a:avLst/>
          </a:prstGeom>
          <a:solidFill>
            <a:schemeClr val="accent2"/>
          </a:solidFill>
          <a:ln/>
        </p:spPr>
      </p:sp>
      <p:pic>
        <p:nvPicPr>
          <p:cNvPr id="15" name="Price icon" descr="Price">    </p:cNvPr>
          <p:cNvPicPr>
            <a:picLocks noChangeAspect="1"/>
          </p:cNvPicPr>
          <p:nvPr/>
        </p:nvPicPr>
        <p:blipFill>
          <a:blip r:embed="rId2"/>
          <a:stretch>
            <a:fillRect/>
          </a:stretch>
        </p:blipFill>
        <p:spPr>
          <a:xfrm>
            <a:off x="6763360" y="2587752"/>
            <a:ext cx="356616" cy="356616"/>
          </a:xfrm>
          <a:prstGeom prst="rect">
            <a:avLst/>
          </a:prstGeom>
        </p:spPr>
      </p:pic>
      <p:sp>
        <p:nvSpPr>
          <p:cNvPr id="16" name="Price title"/>
          <p:cNvSpPr txBox="1"/>
          <p:nvPr/>
        </p:nvSpPr>
        <p:spPr>
          <a:xfrm>
            <a:off x="7467448" y="2514600"/>
            <a:ext cx="3901288" cy="502920"/>
          </a:xfrm>
          <a:prstGeom prst="rect">
            <a:avLst/>
          </a:prstGeom>
          <a:noFill/>
          <a:ln/>
        </p:spPr>
        <p:txBody>
          <a:bodyPr wrap="square" lIns="0" tIns="0" rIns="0" bIns="0" rtlCol="0" anchor="t"/>
          <a:lstStyle/>
          <a:p>
            <a:pPr indent="0" marL="0">
              <a:buNone/>
            </a:pPr>
            <a:r>
              <a:rPr lang="en-US" sz="2400" b="1" dirty="0">
                <a:solidFill>
                  <a:schemeClr val="tx2"/>
                </a:solidFill>
              </a:rPr>
              <a:t>Price: market penetration</a:t>
            </a:r>
            <a:endParaRPr lang="en-US" sz="2400" dirty="0"/>
          </a:p>
        </p:txBody>
      </p:sp>
      <p:sp>
        <p:nvSpPr>
          <p:cNvPr id="17" name="FitBite price box"/>
          <p:cNvSpPr/>
          <p:nvPr/>
        </p:nvSpPr>
        <p:spPr>
          <a:xfrm>
            <a:off x="6598768" y="3291840"/>
            <a:ext cx="2224964" cy="1143000"/>
          </a:xfrm>
          <a:prstGeom prst="roundRect">
            <a:avLst>
              <a:gd name="adj" fmla="val 14400"/>
            </a:avLst>
          </a:prstGeom>
          <a:solidFill>
            <a:schemeClr val="bg1"/>
          </a:solidFill>
          <a:ln/>
          <a:effectLst>
            <a:outerShdw sx="100000" sy="100000" kx="0" ky="0" algn="bl" rotWithShape="0" blurRad="127000" dist="25400" dir="5400000">
              <a:srgbClr val="000000">
                <a:alpha val="12000"/>
              </a:srgbClr>
            </a:outerShdw>
          </a:effectLst>
        </p:spPr>
      </p:sp>
      <p:sp>
        <p:nvSpPr>
          <p:cNvPr id="18" name="FitBite price"/>
          <p:cNvSpPr txBox="1"/>
          <p:nvPr/>
        </p:nvSpPr>
        <p:spPr>
          <a:xfrm>
            <a:off x="6781648" y="3401568"/>
            <a:ext cx="1859204" cy="502920"/>
          </a:xfrm>
          <a:prstGeom prst="rect">
            <a:avLst/>
          </a:prstGeom>
          <a:noFill/>
          <a:ln/>
        </p:spPr>
        <p:txBody>
          <a:bodyPr wrap="square" lIns="0" tIns="0" rIns="0" bIns="0" rtlCol="0" anchor="t"/>
          <a:lstStyle/>
          <a:p>
            <a:pPr indent="0" marL="0">
              <a:buNone/>
            </a:pPr>
            <a:r>
              <a:rPr lang="en-US" sz="2800" b="1" dirty="0">
                <a:solidFill>
                  <a:schemeClr val="tx2"/>
                </a:solidFill>
              </a:rPr>
              <a:t>1,000 SDG</a:t>
            </a:r>
            <a:endParaRPr lang="en-US" sz="2800" dirty="0"/>
          </a:p>
        </p:txBody>
      </p:sp>
      <p:sp>
        <p:nvSpPr>
          <p:cNvPr id="19" name="FitBite price label"/>
          <p:cNvSpPr txBox="1"/>
          <p:nvPr/>
        </p:nvSpPr>
        <p:spPr>
          <a:xfrm>
            <a:off x="6781648" y="3913632"/>
            <a:ext cx="1859204" cy="411480"/>
          </a:xfrm>
          <a:prstGeom prst="rect">
            <a:avLst/>
          </a:prstGeom>
          <a:noFill/>
          <a:ln/>
        </p:spPr>
        <p:txBody>
          <a:bodyPr wrap="square" lIns="0" tIns="0" rIns="0" bIns="0" rtlCol="0" anchor="t"/>
          <a:lstStyle/>
          <a:p>
            <a:pPr indent="0" marL="0">
              <a:buNone/>
            </a:pPr>
            <a:r>
              <a:rPr lang="en-US" sz="1400" dirty="0">
                <a:solidFill>
                  <a:schemeClr val="tx1"/>
                </a:solidFill>
              </a:rPr>
              <a:t>FitBite introductory price</a:t>
            </a:r>
            <a:endParaRPr lang="en-US" sz="1400" dirty="0"/>
          </a:p>
        </p:txBody>
      </p:sp>
      <p:sp>
        <p:nvSpPr>
          <p:cNvPr id="20" name="Competitor price box"/>
          <p:cNvSpPr/>
          <p:nvPr/>
        </p:nvSpPr>
        <p:spPr>
          <a:xfrm>
            <a:off x="9098051" y="3291840"/>
            <a:ext cx="2224964" cy="1143000"/>
          </a:xfrm>
          <a:prstGeom prst="roundRect">
            <a:avLst>
              <a:gd name="adj" fmla="val 14400"/>
            </a:avLst>
          </a:prstGeom>
          <a:solidFill>
            <a:schemeClr val="bg1">
              <a:alpha val="60000"/>
            </a:schemeClr>
          </a:solidFill>
          <a:ln/>
        </p:spPr>
      </p:sp>
      <p:sp>
        <p:nvSpPr>
          <p:cNvPr id="21" name="Competitor price"/>
          <p:cNvSpPr txBox="1"/>
          <p:nvPr/>
        </p:nvSpPr>
        <p:spPr>
          <a:xfrm>
            <a:off x="9280931" y="3401568"/>
            <a:ext cx="1859204" cy="502920"/>
          </a:xfrm>
          <a:prstGeom prst="rect">
            <a:avLst/>
          </a:prstGeom>
          <a:noFill/>
          <a:ln/>
        </p:spPr>
        <p:txBody>
          <a:bodyPr wrap="square" lIns="0" tIns="0" rIns="0" bIns="0" rtlCol="0" anchor="t"/>
          <a:lstStyle/>
          <a:p>
            <a:pPr indent="0" marL="0">
              <a:buNone/>
            </a:pPr>
            <a:r>
              <a:rPr lang="en-US" sz="2800" b="1" dirty="0">
                <a:solidFill>
                  <a:schemeClr val="accent6"/>
                </a:solidFill>
              </a:rPr>
              <a:t>1,500 SDG</a:t>
            </a:r>
            <a:endParaRPr lang="en-US" sz="2800" dirty="0"/>
          </a:p>
        </p:txBody>
      </p:sp>
      <p:sp>
        <p:nvSpPr>
          <p:cNvPr id="22" name="Competitor price label"/>
          <p:cNvSpPr txBox="1"/>
          <p:nvPr/>
        </p:nvSpPr>
        <p:spPr>
          <a:xfrm>
            <a:off x="9280931" y="3913632"/>
            <a:ext cx="1859204" cy="411480"/>
          </a:xfrm>
          <a:prstGeom prst="rect">
            <a:avLst/>
          </a:prstGeom>
          <a:noFill/>
          <a:ln/>
        </p:spPr>
        <p:txBody>
          <a:bodyPr wrap="square" lIns="0" tIns="0" rIns="0" bIns="0" rtlCol="0" anchor="t"/>
          <a:lstStyle/>
          <a:p>
            <a:pPr indent="0" marL="0">
              <a:buNone/>
            </a:pPr>
            <a:r>
              <a:rPr lang="en-US" sz="1400" dirty="0">
                <a:solidFill>
                  <a:schemeClr val="accent6"/>
                </a:solidFill>
              </a:rPr>
              <a:t>Estimated competitor price</a:t>
            </a:r>
            <a:endParaRPr lang="en-US" sz="1400" dirty="0"/>
          </a:p>
        </p:txBody>
      </p:sp>
      <p:sp>
        <p:nvSpPr>
          <p:cNvPr id="23" name="Price bullets"/>
          <p:cNvSpPr txBox="1"/>
          <p:nvPr/>
        </p:nvSpPr>
        <p:spPr>
          <a:xfrm>
            <a:off x="6598768" y="4709160"/>
            <a:ext cx="4724248" cy="1097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Student discounts and multipack discounts</a:t>
            </a:r>
            <a:endParaRPr lang="en-US" sz="1500" dirty="0"/>
          </a:p>
          <a:p>
            <a:pPr marL="342900" indent="-342900">
              <a:spcAft>
                <a:spcPts val="600"/>
              </a:spcAft>
              <a:buSzPct val="100000"/>
              <a:buChar char="•"/>
            </a:pPr>
            <a:r>
              <a:rPr lang="en-US" sz="1500" dirty="0">
                <a:solidFill>
                  <a:schemeClr val="tx1"/>
                </a:solidFill>
              </a:rPr>
              <a:t>Goal: encourage first-time purchases and build market share</a:t>
            </a:r>
            <a:endParaRPr lang="en-US" sz="15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5"/>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05  ·  MARKETING MIX</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Place and Promotion: be where students are</a:t>
            </a:r>
            <a:endParaRPr lang="en-US" sz="3400" dirty="0"/>
          </a:p>
        </p:txBody>
      </p:sp>
      <p:sp>
        <p:nvSpPr>
          <p:cNvPr id="5" name="Place panel"/>
          <p:cNvSpPr/>
          <p:nvPr/>
        </p:nvSpPr>
        <p:spPr>
          <a:xfrm>
            <a:off x="548640" y="1783080"/>
            <a:ext cx="5364328" cy="4251960"/>
          </a:xfrm>
          <a:prstGeom prst="roundRect">
            <a:avLst>
              <a:gd name="adj" fmla="val 3871"/>
            </a:avLst>
          </a:prstGeom>
          <a:solidFill>
            <a:schemeClr val="accent3">
              <a:alpha val="20000"/>
            </a:schemeClr>
          </a:solidFill>
          <a:ln/>
        </p:spPr>
      </p:sp>
      <p:sp>
        <p:nvSpPr>
          <p:cNvPr id="6" name="Place circle"/>
          <p:cNvSpPr/>
          <p:nvPr/>
        </p:nvSpPr>
        <p:spPr>
          <a:xfrm>
            <a:off x="868680" y="2103120"/>
            <a:ext cx="685800" cy="685800"/>
          </a:xfrm>
          <a:prstGeom prst="ellipse">
            <a:avLst/>
          </a:prstGeom>
          <a:solidFill>
            <a:schemeClr val="accent3"/>
          </a:solidFill>
          <a:ln/>
        </p:spPr>
      </p:sp>
      <p:pic>
        <p:nvPicPr>
          <p:cNvPr id="7" name="Place icon" descr="Place">    </p:cNvPr>
          <p:cNvPicPr>
            <a:picLocks noChangeAspect="1"/>
          </p:cNvPicPr>
          <p:nvPr/>
        </p:nvPicPr>
        <p:blipFill>
          <a:blip r:embed="rId1"/>
          <a:stretch>
            <a:fillRect/>
          </a:stretch>
        </p:blipFill>
        <p:spPr>
          <a:xfrm>
            <a:off x="1033272" y="2267712"/>
            <a:ext cx="356616" cy="356616"/>
          </a:xfrm>
          <a:prstGeom prst="rect">
            <a:avLst/>
          </a:prstGeom>
        </p:spPr>
      </p:pic>
      <p:sp>
        <p:nvSpPr>
          <p:cNvPr id="8" name="Place title"/>
          <p:cNvSpPr txBox="1"/>
          <p:nvPr/>
        </p:nvSpPr>
        <p:spPr>
          <a:xfrm>
            <a:off x="1737360" y="2194560"/>
            <a:ext cx="2743200" cy="502920"/>
          </a:xfrm>
          <a:prstGeom prst="rect">
            <a:avLst/>
          </a:prstGeom>
          <a:noFill/>
          <a:ln/>
        </p:spPr>
        <p:txBody>
          <a:bodyPr wrap="square" lIns="0" tIns="0" rIns="0" bIns="0" rtlCol="0" anchor="t"/>
          <a:lstStyle/>
          <a:p>
            <a:pPr indent="0" marL="0">
              <a:buNone/>
            </a:pPr>
            <a:r>
              <a:rPr lang="en-US" sz="2400" b="1" dirty="0">
                <a:solidFill>
                  <a:schemeClr val="tx2"/>
                </a:solidFill>
              </a:rPr>
              <a:t>Place</a:t>
            </a:r>
            <a:endParaRPr lang="en-US" sz="2400" dirty="0"/>
          </a:p>
        </p:txBody>
      </p:sp>
      <p:sp>
        <p:nvSpPr>
          <p:cNvPr id="9" name="Place 1 tile"/>
          <p:cNvSpPr/>
          <p:nvPr/>
        </p:nvSpPr>
        <p:spPr>
          <a:xfrm>
            <a:off x="868680" y="3017520"/>
            <a:ext cx="2247824" cy="1280160"/>
          </a:xfrm>
          <a:prstGeom prst="roundRect">
            <a:avLst>
              <a:gd name="adj" fmla="val 12857"/>
            </a:avLst>
          </a:prstGeom>
          <a:solidFill>
            <a:schemeClr val="bg1"/>
          </a:solidFill>
          <a:ln/>
          <a:effectLst>
            <a:outerShdw sx="100000" sy="100000" kx="0" ky="0" algn="bl" rotWithShape="0" blurRad="127000" dist="25400" dir="5400000">
              <a:srgbClr val="000000">
                <a:alpha val="12000"/>
              </a:srgbClr>
            </a:outerShdw>
          </a:effectLst>
        </p:spPr>
      </p:sp>
      <p:sp>
        <p:nvSpPr>
          <p:cNvPr id="10" name="Place 1 circle"/>
          <p:cNvSpPr/>
          <p:nvPr/>
        </p:nvSpPr>
        <p:spPr>
          <a:xfrm>
            <a:off x="1097280" y="3246120"/>
            <a:ext cx="502920" cy="502920"/>
          </a:xfrm>
          <a:prstGeom prst="ellipse">
            <a:avLst/>
          </a:prstGeom>
          <a:solidFill>
            <a:schemeClr val="tx2"/>
          </a:solidFill>
          <a:ln/>
        </p:spPr>
      </p:sp>
      <p:pic>
        <p:nvPicPr>
          <p:cNvPr id="11" name="Place 1 icon" descr="Place 1">    </p:cNvPr>
          <p:cNvPicPr>
            <a:picLocks noChangeAspect="1"/>
          </p:cNvPicPr>
          <p:nvPr/>
        </p:nvPicPr>
        <p:blipFill>
          <a:blip r:embed="rId2"/>
          <a:stretch>
            <a:fillRect/>
          </a:stretch>
        </p:blipFill>
        <p:spPr>
          <a:xfrm>
            <a:off x="1217981" y="3366821"/>
            <a:ext cx="261518" cy="261518"/>
          </a:xfrm>
          <a:prstGeom prst="rect">
            <a:avLst/>
          </a:prstGeom>
        </p:spPr>
      </p:pic>
      <p:sp>
        <p:nvSpPr>
          <p:cNvPr id="12" name="Place 1 text"/>
          <p:cNvSpPr txBox="1"/>
          <p:nvPr/>
        </p:nvSpPr>
        <p:spPr>
          <a:xfrm>
            <a:off x="1097280" y="3794760"/>
            <a:ext cx="1836344" cy="548640"/>
          </a:xfrm>
          <a:prstGeom prst="rect">
            <a:avLst/>
          </a:prstGeom>
          <a:noFill/>
          <a:ln/>
        </p:spPr>
        <p:txBody>
          <a:bodyPr wrap="square" lIns="0" tIns="0" rIns="0" bIns="0" rtlCol="0" anchor="t"/>
          <a:lstStyle/>
          <a:p>
            <a:pPr indent="0" marL="0">
              <a:buNone/>
            </a:pPr>
            <a:r>
              <a:rPr lang="en-US" sz="1500" b="1" dirty="0">
                <a:solidFill>
                  <a:schemeClr val="tx2"/>
                </a:solidFill>
              </a:rPr>
              <a:t>Local grocery stores and supermarkets</a:t>
            </a:r>
            <a:endParaRPr lang="en-US" sz="1500" dirty="0"/>
          </a:p>
        </p:txBody>
      </p:sp>
      <p:sp>
        <p:nvSpPr>
          <p:cNvPr id="13" name="Place 2 tile"/>
          <p:cNvSpPr/>
          <p:nvPr/>
        </p:nvSpPr>
        <p:spPr>
          <a:xfrm>
            <a:off x="3345104" y="3017520"/>
            <a:ext cx="2247824" cy="1280160"/>
          </a:xfrm>
          <a:prstGeom prst="roundRect">
            <a:avLst>
              <a:gd name="adj" fmla="val 12857"/>
            </a:avLst>
          </a:prstGeom>
          <a:solidFill>
            <a:schemeClr val="bg1"/>
          </a:solidFill>
          <a:ln/>
          <a:effectLst>
            <a:outerShdw sx="100000" sy="100000" kx="0" ky="0" algn="bl" rotWithShape="0" blurRad="127000" dist="25400" dir="5400000">
              <a:srgbClr val="000000">
                <a:alpha val="12000"/>
              </a:srgbClr>
            </a:outerShdw>
          </a:effectLst>
        </p:spPr>
      </p:sp>
      <p:sp>
        <p:nvSpPr>
          <p:cNvPr id="14" name="Place 2 circle"/>
          <p:cNvSpPr/>
          <p:nvPr/>
        </p:nvSpPr>
        <p:spPr>
          <a:xfrm>
            <a:off x="3573704" y="3246120"/>
            <a:ext cx="502920" cy="502920"/>
          </a:xfrm>
          <a:prstGeom prst="ellipse">
            <a:avLst/>
          </a:prstGeom>
          <a:solidFill>
            <a:schemeClr val="tx2"/>
          </a:solidFill>
          <a:ln/>
        </p:spPr>
      </p:sp>
      <p:pic>
        <p:nvPicPr>
          <p:cNvPr id="15" name="Place 2 icon" descr="Place 2">    </p:cNvPr>
          <p:cNvPicPr>
            <a:picLocks noChangeAspect="1"/>
          </p:cNvPicPr>
          <p:nvPr/>
        </p:nvPicPr>
        <p:blipFill>
          <a:blip r:embed="rId3"/>
          <a:stretch>
            <a:fillRect/>
          </a:stretch>
        </p:blipFill>
        <p:spPr>
          <a:xfrm>
            <a:off x="3694405" y="3366821"/>
            <a:ext cx="261518" cy="261518"/>
          </a:xfrm>
          <a:prstGeom prst="rect">
            <a:avLst/>
          </a:prstGeom>
        </p:spPr>
      </p:pic>
      <p:sp>
        <p:nvSpPr>
          <p:cNvPr id="16" name="Place 2 text"/>
          <p:cNvSpPr txBox="1"/>
          <p:nvPr/>
        </p:nvSpPr>
        <p:spPr>
          <a:xfrm>
            <a:off x="3573704" y="3794760"/>
            <a:ext cx="1836344" cy="548640"/>
          </a:xfrm>
          <a:prstGeom prst="rect">
            <a:avLst/>
          </a:prstGeom>
          <a:noFill/>
          <a:ln/>
        </p:spPr>
        <p:txBody>
          <a:bodyPr wrap="square" lIns="0" tIns="0" rIns="0" bIns="0" rtlCol="0" anchor="t"/>
          <a:lstStyle/>
          <a:p>
            <a:pPr indent="0" marL="0">
              <a:buNone/>
            </a:pPr>
            <a:r>
              <a:rPr lang="en-US" sz="1500" b="1" dirty="0">
                <a:solidFill>
                  <a:schemeClr val="tx2"/>
                </a:solidFill>
              </a:rPr>
              <a:t>University cafeterias</a:t>
            </a:r>
            <a:endParaRPr lang="en-US" sz="1500" dirty="0"/>
          </a:p>
        </p:txBody>
      </p:sp>
      <p:sp>
        <p:nvSpPr>
          <p:cNvPr id="17" name="Place 3 tile"/>
          <p:cNvSpPr/>
          <p:nvPr/>
        </p:nvSpPr>
        <p:spPr>
          <a:xfrm>
            <a:off x="868680" y="4480560"/>
            <a:ext cx="2247824" cy="1280160"/>
          </a:xfrm>
          <a:prstGeom prst="roundRect">
            <a:avLst>
              <a:gd name="adj" fmla="val 12857"/>
            </a:avLst>
          </a:prstGeom>
          <a:solidFill>
            <a:schemeClr val="bg1"/>
          </a:solidFill>
          <a:ln/>
          <a:effectLst>
            <a:outerShdw sx="100000" sy="100000" kx="0" ky="0" algn="bl" rotWithShape="0" blurRad="127000" dist="25400" dir="5400000">
              <a:srgbClr val="000000">
                <a:alpha val="12000"/>
              </a:srgbClr>
            </a:outerShdw>
          </a:effectLst>
        </p:spPr>
      </p:sp>
      <p:sp>
        <p:nvSpPr>
          <p:cNvPr id="18" name="Place 3 circle"/>
          <p:cNvSpPr/>
          <p:nvPr/>
        </p:nvSpPr>
        <p:spPr>
          <a:xfrm>
            <a:off x="1097280" y="4709160"/>
            <a:ext cx="502920" cy="502920"/>
          </a:xfrm>
          <a:prstGeom prst="ellipse">
            <a:avLst/>
          </a:prstGeom>
          <a:solidFill>
            <a:schemeClr val="tx2"/>
          </a:solidFill>
          <a:ln/>
        </p:spPr>
      </p:sp>
      <p:pic>
        <p:nvPicPr>
          <p:cNvPr id="19" name="Place 3 icon" descr="Place 3">    </p:cNvPr>
          <p:cNvPicPr>
            <a:picLocks noChangeAspect="1"/>
          </p:cNvPicPr>
          <p:nvPr/>
        </p:nvPicPr>
        <p:blipFill>
          <a:blip r:embed="rId4"/>
          <a:stretch>
            <a:fillRect/>
          </a:stretch>
        </p:blipFill>
        <p:spPr>
          <a:xfrm>
            <a:off x="1217981" y="4829861"/>
            <a:ext cx="261518" cy="261518"/>
          </a:xfrm>
          <a:prstGeom prst="rect">
            <a:avLst/>
          </a:prstGeom>
        </p:spPr>
      </p:pic>
      <p:sp>
        <p:nvSpPr>
          <p:cNvPr id="20" name="Place 3 text"/>
          <p:cNvSpPr txBox="1"/>
          <p:nvPr/>
        </p:nvSpPr>
        <p:spPr>
          <a:xfrm>
            <a:off x="1097280" y="5257800"/>
            <a:ext cx="1836344" cy="548640"/>
          </a:xfrm>
          <a:prstGeom prst="rect">
            <a:avLst/>
          </a:prstGeom>
          <a:noFill/>
          <a:ln/>
        </p:spPr>
        <p:txBody>
          <a:bodyPr wrap="square" lIns="0" tIns="0" rIns="0" bIns="0" rtlCol="0" anchor="t"/>
          <a:lstStyle/>
          <a:p>
            <a:pPr indent="0" marL="0">
              <a:buNone/>
            </a:pPr>
            <a:r>
              <a:rPr lang="en-US" sz="1500" b="1" dirty="0">
                <a:solidFill>
                  <a:schemeClr val="tx2"/>
                </a:solidFill>
              </a:rPr>
              <a:t>Gyms and fitness centers</a:t>
            </a:r>
            <a:endParaRPr lang="en-US" sz="1500" dirty="0"/>
          </a:p>
        </p:txBody>
      </p:sp>
      <p:sp>
        <p:nvSpPr>
          <p:cNvPr id="21" name="Place 4 tile"/>
          <p:cNvSpPr/>
          <p:nvPr/>
        </p:nvSpPr>
        <p:spPr>
          <a:xfrm>
            <a:off x="3345104" y="4480560"/>
            <a:ext cx="2247824" cy="1280160"/>
          </a:xfrm>
          <a:prstGeom prst="roundRect">
            <a:avLst>
              <a:gd name="adj" fmla="val 12857"/>
            </a:avLst>
          </a:prstGeom>
          <a:solidFill>
            <a:schemeClr val="bg1"/>
          </a:solidFill>
          <a:ln/>
          <a:effectLst>
            <a:outerShdw sx="100000" sy="100000" kx="0" ky="0" algn="bl" rotWithShape="0" blurRad="127000" dist="25400" dir="5400000">
              <a:srgbClr val="000000">
                <a:alpha val="12000"/>
              </a:srgbClr>
            </a:outerShdw>
          </a:effectLst>
        </p:spPr>
      </p:sp>
      <p:sp>
        <p:nvSpPr>
          <p:cNvPr id="22" name="Place 4 circle"/>
          <p:cNvSpPr/>
          <p:nvPr/>
        </p:nvSpPr>
        <p:spPr>
          <a:xfrm>
            <a:off x="3573704" y="4709160"/>
            <a:ext cx="502920" cy="502920"/>
          </a:xfrm>
          <a:prstGeom prst="ellipse">
            <a:avLst/>
          </a:prstGeom>
          <a:solidFill>
            <a:schemeClr val="tx2"/>
          </a:solidFill>
          <a:ln/>
        </p:spPr>
      </p:sp>
      <p:pic>
        <p:nvPicPr>
          <p:cNvPr id="23" name="Place 4 icon" descr="Place 4">    </p:cNvPr>
          <p:cNvPicPr>
            <a:picLocks noChangeAspect="1"/>
          </p:cNvPicPr>
          <p:nvPr/>
        </p:nvPicPr>
        <p:blipFill>
          <a:blip r:embed="rId5"/>
          <a:stretch>
            <a:fillRect/>
          </a:stretch>
        </p:blipFill>
        <p:spPr>
          <a:xfrm>
            <a:off x="3694405" y="4829861"/>
            <a:ext cx="261518" cy="261518"/>
          </a:xfrm>
          <a:prstGeom prst="rect">
            <a:avLst/>
          </a:prstGeom>
        </p:spPr>
      </p:pic>
      <p:sp>
        <p:nvSpPr>
          <p:cNvPr id="24" name="Place 4 text"/>
          <p:cNvSpPr txBox="1"/>
          <p:nvPr/>
        </p:nvSpPr>
        <p:spPr>
          <a:xfrm>
            <a:off x="3573704" y="5257800"/>
            <a:ext cx="1836344" cy="548640"/>
          </a:xfrm>
          <a:prstGeom prst="rect">
            <a:avLst/>
          </a:prstGeom>
          <a:noFill/>
          <a:ln/>
        </p:spPr>
        <p:txBody>
          <a:bodyPr wrap="square" lIns="0" tIns="0" rIns="0" bIns="0" rtlCol="0" anchor="t"/>
          <a:lstStyle/>
          <a:p>
            <a:pPr indent="0" marL="0">
              <a:buNone/>
            </a:pPr>
            <a:r>
              <a:rPr lang="en-US" sz="1500" b="1" dirty="0">
                <a:solidFill>
                  <a:schemeClr val="tx2"/>
                </a:solidFill>
              </a:rPr>
              <a:t>Online: Facebook, Instagram and TikTok</a:t>
            </a:r>
            <a:endParaRPr lang="en-US" sz="1500" dirty="0"/>
          </a:p>
        </p:txBody>
      </p:sp>
      <p:sp>
        <p:nvSpPr>
          <p:cNvPr id="25" name="Promotion panel"/>
          <p:cNvSpPr/>
          <p:nvPr/>
        </p:nvSpPr>
        <p:spPr>
          <a:xfrm>
            <a:off x="6278728" y="1783080"/>
            <a:ext cx="5364328" cy="4251960"/>
          </a:xfrm>
          <a:prstGeom prst="roundRect">
            <a:avLst>
              <a:gd name="adj" fmla="val 3871"/>
            </a:avLst>
          </a:prstGeom>
          <a:solidFill>
            <a:schemeClr val="accent4">
              <a:alpha val="14000"/>
            </a:schemeClr>
          </a:solidFill>
          <a:ln/>
        </p:spPr>
      </p:sp>
      <p:sp>
        <p:nvSpPr>
          <p:cNvPr id="26" name="Promotion circle"/>
          <p:cNvSpPr/>
          <p:nvPr/>
        </p:nvSpPr>
        <p:spPr>
          <a:xfrm>
            <a:off x="6598768" y="2103120"/>
            <a:ext cx="685800" cy="685800"/>
          </a:xfrm>
          <a:prstGeom prst="ellipse">
            <a:avLst/>
          </a:prstGeom>
          <a:solidFill>
            <a:schemeClr val="accent4"/>
          </a:solidFill>
          <a:ln/>
        </p:spPr>
      </p:sp>
      <p:pic>
        <p:nvPicPr>
          <p:cNvPr id="27" name="Promotion icon" descr="Promotion">    </p:cNvPr>
          <p:cNvPicPr>
            <a:picLocks noChangeAspect="1"/>
          </p:cNvPicPr>
          <p:nvPr/>
        </p:nvPicPr>
        <p:blipFill>
          <a:blip r:embed="rId6"/>
          <a:stretch>
            <a:fillRect/>
          </a:stretch>
        </p:blipFill>
        <p:spPr>
          <a:xfrm>
            <a:off x="6763360" y="2267712"/>
            <a:ext cx="356616" cy="356616"/>
          </a:xfrm>
          <a:prstGeom prst="rect">
            <a:avLst/>
          </a:prstGeom>
        </p:spPr>
      </p:pic>
      <p:sp>
        <p:nvSpPr>
          <p:cNvPr id="28" name="Promotion title"/>
          <p:cNvSpPr txBox="1"/>
          <p:nvPr/>
        </p:nvSpPr>
        <p:spPr>
          <a:xfrm>
            <a:off x="7467448" y="2194560"/>
            <a:ext cx="2743200" cy="502920"/>
          </a:xfrm>
          <a:prstGeom prst="rect">
            <a:avLst/>
          </a:prstGeom>
          <a:noFill/>
          <a:ln/>
        </p:spPr>
        <p:txBody>
          <a:bodyPr wrap="square" lIns="0" tIns="0" rIns="0" bIns="0" rtlCol="0" anchor="t"/>
          <a:lstStyle/>
          <a:p>
            <a:pPr indent="0" marL="0">
              <a:buNone/>
            </a:pPr>
            <a:r>
              <a:rPr lang="en-US" sz="2400" b="1" dirty="0">
                <a:solidFill>
                  <a:schemeClr val="tx2"/>
                </a:solidFill>
              </a:rPr>
              <a:t>Promotion</a:t>
            </a:r>
            <a:endParaRPr lang="en-US" sz="2400" dirty="0"/>
          </a:p>
        </p:txBody>
      </p:sp>
      <p:sp>
        <p:nvSpPr>
          <p:cNvPr id="29" name="Promotion 1 circle"/>
          <p:cNvSpPr/>
          <p:nvPr/>
        </p:nvSpPr>
        <p:spPr>
          <a:xfrm>
            <a:off x="6598768" y="3017520"/>
            <a:ext cx="438912" cy="438912"/>
          </a:xfrm>
          <a:prstGeom prst="ellipse">
            <a:avLst/>
          </a:prstGeom>
          <a:solidFill>
            <a:schemeClr val="tx2"/>
          </a:solidFill>
          <a:ln/>
        </p:spPr>
      </p:sp>
      <p:pic>
        <p:nvPicPr>
          <p:cNvPr id="30" name="Promotion 1 icon" descr="Promotion 1">    </p:cNvPr>
          <p:cNvPicPr>
            <a:picLocks noChangeAspect="1"/>
          </p:cNvPicPr>
          <p:nvPr/>
        </p:nvPicPr>
        <p:blipFill>
          <a:blip r:embed="rId7"/>
          <a:stretch>
            <a:fillRect/>
          </a:stretch>
        </p:blipFill>
        <p:spPr>
          <a:xfrm>
            <a:off x="6704106" y="3122859"/>
            <a:ext cx="228234" cy="228234"/>
          </a:xfrm>
          <a:prstGeom prst="rect">
            <a:avLst/>
          </a:prstGeom>
        </p:spPr>
      </p:pic>
      <p:sp>
        <p:nvSpPr>
          <p:cNvPr id="31" name="Promotion 1 text"/>
          <p:cNvSpPr txBox="1"/>
          <p:nvPr/>
        </p:nvSpPr>
        <p:spPr>
          <a:xfrm>
            <a:off x="7238848" y="2980944"/>
            <a:ext cx="4129888" cy="512064"/>
          </a:xfrm>
          <a:prstGeom prst="rect">
            <a:avLst/>
          </a:prstGeom>
          <a:noFill/>
          <a:ln/>
        </p:spPr>
        <p:txBody>
          <a:bodyPr wrap="square" lIns="0" tIns="0" rIns="0" bIns="0" rtlCol="0" anchor="ctr"/>
          <a:lstStyle/>
          <a:p>
            <a:pPr indent="0" marL="0">
              <a:buNone/>
            </a:pPr>
            <a:r>
              <a:rPr lang="en-US" sz="1500" dirty="0">
                <a:solidFill>
                  <a:schemeClr val="tx1"/>
                </a:solidFill>
              </a:rPr>
              <a:t>Social media advertising</a:t>
            </a:r>
            <a:endParaRPr lang="en-US" sz="1500" dirty="0"/>
          </a:p>
        </p:txBody>
      </p:sp>
      <p:sp>
        <p:nvSpPr>
          <p:cNvPr id="32" name="Promotion 2 circle"/>
          <p:cNvSpPr/>
          <p:nvPr/>
        </p:nvSpPr>
        <p:spPr>
          <a:xfrm>
            <a:off x="6598768" y="3602736"/>
            <a:ext cx="438912" cy="438912"/>
          </a:xfrm>
          <a:prstGeom prst="ellipse">
            <a:avLst/>
          </a:prstGeom>
          <a:solidFill>
            <a:schemeClr val="tx2"/>
          </a:solidFill>
          <a:ln/>
        </p:spPr>
      </p:sp>
      <p:pic>
        <p:nvPicPr>
          <p:cNvPr id="33" name="Promotion 2 icon" descr="Promotion 2">    </p:cNvPr>
          <p:cNvPicPr>
            <a:picLocks noChangeAspect="1"/>
          </p:cNvPicPr>
          <p:nvPr/>
        </p:nvPicPr>
        <p:blipFill>
          <a:blip r:embed="rId8"/>
          <a:stretch>
            <a:fillRect/>
          </a:stretch>
        </p:blipFill>
        <p:spPr>
          <a:xfrm>
            <a:off x="6704106" y="3708075"/>
            <a:ext cx="228234" cy="228234"/>
          </a:xfrm>
          <a:prstGeom prst="rect">
            <a:avLst/>
          </a:prstGeom>
        </p:spPr>
      </p:pic>
      <p:sp>
        <p:nvSpPr>
          <p:cNvPr id="34" name="Promotion 2 text"/>
          <p:cNvSpPr txBox="1"/>
          <p:nvPr/>
        </p:nvSpPr>
        <p:spPr>
          <a:xfrm>
            <a:off x="7238848" y="3566160"/>
            <a:ext cx="4129888" cy="512064"/>
          </a:xfrm>
          <a:prstGeom prst="rect">
            <a:avLst/>
          </a:prstGeom>
          <a:noFill/>
          <a:ln/>
        </p:spPr>
        <p:txBody>
          <a:bodyPr wrap="square" lIns="0" tIns="0" rIns="0" bIns="0" rtlCol="0" anchor="ctr"/>
          <a:lstStyle/>
          <a:p>
            <a:pPr indent="0" marL="0">
              <a:buNone/>
            </a:pPr>
            <a:r>
              <a:rPr lang="en-US" sz="1500" dirty="0">
                <a:solidFill>
                  <a:schemeClr val="tx1"/>
                </a:solidFill>
              </a:rPr>
              <a:t>Free samples at universities and gyms</a:t>
            </a:r>
            <a:endParaRPr lang="en-US" sz="1500" dirty="0"/>
          </a:p>
        </p:txBody>
      </p:sp>
      <p:sp>
        <p:nvSpPr>
          <p:cNvPr id="35" name="Promotion 3 circle"/>
          <p:cNvSpPr/>
          <p:nvPr/>
        </p:nvSpPr>
        <p:spPr>
          <a:xfrm>
            <a:off x="6598768" y="4187952"/>
            <a:ext cx="438912" cy="438912"/>
          </a:xfrm>
          <a:prstGeom prst="ellipse">
            <a:avLst/>
          </a:prstGeom>
          <a:solidFill>
            <a:schemeClr val="tx2"/>
          </a:solidFill>
          <a:ln/>
        </p:spPr>
      </p:sp>
      <p:pic>
        <p:nvPicPr>
          <p:cNvPr id="36" name="Promotion 3 icon" descr="Promotion 3">    </p:cNvPr>
          <p:cNvPicPr>
            <a:picLocks noChangeAspect="1"/>
          </p:cNvPicPr>
          <p:nvPr/>
        </p:nvPicPr>
        <p:blipFill>
          <a:blip r:embed="rId9"/>
          <a:stretch>
            <a:fillRect/>
          </a:stretch>
        </p:blipFill>
        <p:spPr>
          <a:xfrm>
            <a:off x="6704106" y="4293291"/>
            <a:ext cx="228234" cy="228234"/>
          </a:xfrm>
          <a:prstGeom prst="rect">
            <a:avLst/>
          </a:prstGeom>
        </p:spPr>
      </p:pic>
      <p:sp>
        <p:nvSpPr>
          <p:cNvPr id="37" name="Promotion 3 text"/>
          <p:cNvSpPr txBox="1"/>
          <p:nvPr/>
        </p:nvSpPr>
        <p:spPr>
          <a:xfrm>
            <a:off x="7238848" y="4151376"/>
            <a:ext cx="4129888" cy="512064"/>
          </a:xfrm>
          <a:prstGeom prst="rect">
            <a:avLst/>
          </a:prstGeom>
          <a:noFill/>
          <a:ln/>
        </p:spPr>
        <p:txBody>
          <a:bodyPr wrap="square" lIns="0" tIns="0" rIns="0" bIns="0" rtlCol="0" anchor="ctr"/>
          <a:lstStyle/>
          <a:p>
            <a:pPr indent="0" marL="0">
              <a:buNone/>
            </a:pPr>
            <a:r>
              <a:rPr lang="en-US" sz="1500" dirty="0">
                <a:solidFill>
                  <a:schemeClr val="tx1"/>
                </a:solidFill>
              </a:rPr>
              <a:t>Influencers review and promote the product</a:t>
            </a:r>
            <a:endParaRPr lang="en-US" sz="1500" dirty="0"/>
          </a:p>
        </p:txBody>
      </p:sp>
      <p:sp>
        <p:nvSpPr>
          <p:cNvPr id="38" name="Promotion 4 circle"/>
          <p:cNvSpPr/>
          <p:nvPr/>
        </p:nvSpPr>
        <p:spPr>
          <a:xfrm>
            <a:off x="6598768" y="4773168"/>
            <a:ext cx="438912" cy="438912"/>
          </a:xfrm>
          <a:prstGeom prst="ellipse">
            <a:avLst/>
          </a:prstGeom>
          <a:solidFill>
            <a:schemeClr val="tx2"/>
          </a:solidFill>
          <a:ln/>
        </p:spPr>
      </p:sp>
      <p:pic>
        <p:nvPicPr>
          <p:cNvPr id="39" name="Promotion 4 icon" descr="Promotion 4">    </p:cNvPr>
          <p:cNvPicPr>
            <a:picLocks noChangeAspect="1"/>
          </p:cNvPicPr>
          <p:nvPr/>
        </p:nvPicPr>
        <p:blipFill>
          <a:blip r:embed="rId10"/>
          <a:stretch>
            <a:fillRect/>
          </a:stretch>
        </p:blipFill>
        <p:spPr>
          <a:xfrm>
            <a:off x="6704106" y="4878507"/>
            <a:ext cx="228234" cy="228234"/>
          </a:xfrm>
          <a:prstGeom prst="rect">
            <a:avLst/>
          </a:prstGeom>
        </p:spPr>
      </p:pic>
      <p:sp>
        <p:nvSpPr>
          <p:cNvPr id="40" name="Promotion 4 text"/>
          <p:cNvSpPr txBox="1"/>
          <p:nvPr/>
        </p:nvSpPr>
        <p:spPr>
          <a:xfrm>
            <a:off x="7238848" y="4736592"/>
            <a:ext cx="4129888" cy="512064"/>
          </a:xfrm>
          <a:prstGeom prst="rect">
            <a:avLst/>
          </a:prstGeom>
          <a:noFill/>
          <a:ln/>
        </p:spPr>
        <p:txBody>
          <a:bodyPr wrap="square" lIns="0" tIns="0" rIns="0" bIns="0" rtlCol="0" anchor="ctr"/>
          <a:lstStyle/>
          <a:p>
            <a:pPr indent="0" marL="0">
              <a:buNone/>
            </a:pPr>
            <a:r>
              <a:rPr lang="en-US" sz="1500" dirty="0">
                <a:solidFill>
                  <a:schemeClr val="tx1"/>
                </a:solidFill>
              </a:rPr>
              <a:t>Posters and materials at points of sale</a:t>
            </a:r>
            <a:endParaRPr lang="en-US" sz="1500" dirty="0"/>
          </a:p>
        </p:txBody>
      </p:sp>
      <p:sp>
        <p:nvSpPr>
          <p:cNvPr id="41" name="Promotion 5 circle"/>
          <p:cNvSpPr/>
          <p:nvPr/>
        </p:nvSpPr>
        <p:spPr>
          <a:xfrm>
            <a:off x="6598768" y="5358384"/>
            <a:ext cx="438912" cy="438912"/>
          </a:xfrm>
          <a:prstGeom prst="ellipse">
            <a:avLst/>
          </a:prstGeom>
          <a:solidFill>
            <a:schemeClr val="tx2"/>
          </a:solidFill>
          <a:ln/>
        </p:spPr>
      </p:sp>
      <p:pic>
        <p:nvPicPr>
          <p:cNvPr id="42" name="Promotion 5 icon" descr="Promotion 5">    </p:cNvPr>
          <p:cNvPicPr>
            <a:picLocks noChangeAspect="1"/>
          </p:cNvPicPr>
          <p:nvPr/>
        </p:nvPicPr>
        <p:blipFill>
          <a:blip r:embed="rId11"/>
          <a:stretch>
            <a:fillRect/>
          </a:stretch>
        </p:blipFill>
        <p:spPr>
          <a:xfrm>
            <a:off x="6704106" y="5463723"/>
            <a:ext cx="228234" cy="228234"/>
          </a:xfrm>
          <a:prstGeom prst="rect">
            <a:avLst/>
          </a:prstGeom>
        </p:spPr>
      </p:pic>
      <p:sp>
        <p:nvSpPr>
          <p:cNvPr id="43" name="Promotion 5 text"/>
          <p:cNvSpPr txBox="1"/>
          <p:nvPr/>
        </p:nvSpPr>
        <p:spPr>
          <a:xfrm>
            <a:off x="7238848" y="5321808"/>
            <a:ext cx="4129888" cy="512064"/>
          </a:xfrm>
          <a:prstGeom prst="rect">
            <a:avLst/>
          </a:prstGeom>
          <a:noFill/>
          <a:ln/>
        </p:spPr>
        <p:txBody>
          <a:bodyPr wrap="square" lIns="0" tIns="0" rIns="0" bIns="0" rtlCol="0" anchor="ctr"/>
          <a:lstStyle/>
          <a:p>
            <a:pPr indent="0" marL="0">
              <a:buNone/>
            </a:pPr>
            <a:r>
              <a:rPr lang="en-US" sz="1500" dirty="0">
                <a:solidFill>
                  <a:schemeClr val="tx1"/>
                </a:solidFill>
              </a:rPr>
              <a:t>Satisfied customers recommend us to friends and family</a:t>
            </a:r>
            <a:endParaRPr lang="en-US" sz="15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tx2"/>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tx2"/>
                </a:solidFill>
              </a:rPr>
              <a:t>06  ·  CUSTOMER RELATIONSHIPS</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Turning first bites into loyal customers</a:t>
            </a:r>
            <a:endParaRPr lang="en-US" sz="3400" dirty="0"/>
          </a:p>
        </p:txBody>
      </p:sp>
      <p:sp>
        <p:nvSpPr>
          <p:cNvPr id="5" name="Satisfaction card"/>
          <p:cNvSpPr/>
          <p:nvPr/>
        </p:nvSpPr>
        <p:spPr>
          <a:xfrm>
            <a:off x="548640" y="1783080"/>
            <a:ext cx="3108960" cy="1874520"/>
          </a:xfrm>
          <a:prstGeom prst="roundRect">
            <a:avLst>
              <a:gd name="adj" fmla="val 8780"/>
            </a:avLst>
          </a:prstGeom>
          <a:solidFill>
            <a:schemeClr val="accent1">
              <a:alpha val="14000"/>
            </a:schemeClr>
          </a:solidFill>
          <a:ln/>
        </p:spPr>
      </p:sp>
      <p:sp>
        <p:nvSpPr>
          <p:cNvPr id="6" name="Satisfaction circle"/>
          <p:cNvSpPr/>
          <p:nvPr/>
        </p:nvSpPr>
        <p:spPr>
          <a:xfrm>
            <a:off x="822960" y="2057400"/>
            <a:ext cx="640080" cy="640080"/>
          </a:xfrm>
          <a:prstGeom prst="ellipse">
            <a:avLst/>
          </a:prstGeom>
          <a:solidFill>
            <a:schemeClr val="accent1"/>
          </a:solidFill>
          <a:ln/>
        </p:spPr>
      </p:sp>
      <p:pic>
        <p:nvPicPr>
          <p:cNvPr id="7" name="Satisfaction icon" descr="Satisfaction">    </p:cNvPr>
          <p:cNvPicPr>
            <a:picLocks noChangeAspect="1"/>
          </p:cNvPicPr>
          <p:nvPr/>
        </p:nvPicPr>
        <p:blipFill>
          <a:blip r:embed="rId1"/>
          <a:stretch>
            <a:fillRect/>
          </a:stretch>
        </p:blipFill>
        <p:spPr>
          <a:xfrm>
            <a:off x="976579" y="2211019"/>
            <a:ext cx="332842" cy="332842"/>
          </a:xfrm>
          <a:prstGeom prst="rect">
            <a:avLst/>
          </a:prstGeom>
        </p:spPr>
      </p:pic>
      <p:sp>
        <p:nvSpPr>
          <p:cNvPr id="8" name="Satisfaction step"/>
          <p:cNvSpPr txBox="1"/>
          <p:nvPr/>
        </p:nvSpPr>
        <p:spPr>
          <a:xfrm>
            <a:off x="1645920" y="2057400"/>
            <a:ext cx="1828800"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STEP 1</a:t>
            </a:r>
            <a:endParaRPr lang="en-US" sz="1100" dirty="0"/>
          </a:p>
        </p:txBody>
      </p:sp>
      <p:sp>
        <p:nvSpPr>
          <p:cNvPr id="9" name="Satisfaction title"/>
          <p:cNvSpPr txBox="1"/>
          <p:nvPr/>
        </p:nvSpPr>
        <p:spPr>
          <a:xfrm>
            <a:off x="1645920" y="2313432"/>
            <a:ext cx="1828800" cy="384048"/>
          </a:xfrm>
          <a:prstGeom prst="rect">
            <a:avLst/>
          </a:prstGeom>
          <a:noFill/>
          <a:ln/>
        </p:spPr>
        <p:txBody>
          <a:bodyPr wrap="square" lIns="0" tIns="0" rIns="0" bIns="0" rtlCol="0" anchor="t"/>
          <a:lstStyle/>
          <a:p>
            <a:pPr indent="0" marL="0">
              <a:buNone/>
            </a:pPr>
            <a:r>
              <a:rPr lang="en-US" sz="1900" b="1" dirty="0">
                <a:solidFill>
                  <a:schemeClr val="tx2"/>
                </a:solidFill>
              </a:rPr>
              <a:t>Satisfaction</a:t>
            </a:r>
            <a:endParaRPr lang="en-US" sz="1900" dirty="0"/>
          </a:p>
        </p:txBody>
      </p:sp>
      <p:sp>
        <p:nvSpPr>
          <p:cNvPr id="10" name="Satisfaction detail"/>
          <p:cNvSpPr txBox="1"/>
          <p:nvPr/>
        </p:nvSpPr>
        <p:spPr>
          <a:xfrm>
            <a:off x="822960" y="2834640"/>
            <a:ext cx="2331720" cy="731520"/>
          </a:xfrm>
          <a:prstGeom prst="rect">
            <a:avLst/>
          </a:prstGeom>
          <a:noFill/>
          <a:ln/>
        </p:spPr>
        <p:txBody>
          <a:bodyPr wrap="square" lIns="0" tIns="0" rIns="0" bIns="0" rtlCol="0" anchor="t"/>
          <a:lstStyle/>
          <a:p>
            <a:pPr indent="0" marL="0">
              <a:buNone/>
            </a:pPr>
            <a:r>
              <a:rPr lang="en-US" sz="1400" dirty="0">
                <a:solidFill>
                  <a:schemeClr val="tx1"/>
                </a:solidFill>
              </a:rPr>
              <a:t>Good quality at affordable prices keeps customers happy.</a:t>
            </a:r>
            <a:endParaRPr lang="en-US" sz="1400" dirty="0"/>
          </a:p>
        </p:txBody>
      </p:sp>
      <p:sp>
        <p:nvSpPr>
          <p:cNvPr id="11" name="Repeat purchases card"/>
          <p:cNvSpPr/>
          <p:nvPr/>
        </p:nvSpPr>
        <p:spPr>
          <a:xfrm>
            <a:off x="4206240" y="1783080"/>
            <a:ext cx="3108960" cy="1874520"/>
          </a:xfrm>
          <a:prstGeom prst="roundRect">
            <a:avLst>
              <a:gd name="adj" fmla="val 8780"/>
            </a:avLst>
          </a:prstGeom>
          <a:solidFill>
            <a:schemeClr val="accent2">
              <a:alpha val="14000"/>
            </a:schemeClr>
          </a:solidFill>
          <a:ln/>
        </p:spPr>
      </p:sp>
      <p:sp>
        <p:nvSpPr>
          <p:cNvPr id="12" name="Repeat purchases circle"/>
          <p:cNvSpPr/>
          <p:nvPr/>
        </p:nvSpPr>
        <p:spPr>
          <a:xfrm>
            <a:off x="4480560" y="2057400"/>
            <a:ext cx="640080" cy="640080"/>
          </a:xfrm>
          <a:prstGeom prst="ellipse">
            <a:avLst/>
          </a:prstGeom>
          <a:solidFill>
            <a:schemeClr val="accent2"/>
          </a:solidFill>
          <a:ln/>
        </p:spPr>
      </p:sp>
      <p:pic>
        <p:nvPicPr>
          <p:cNvPr id="13" name="Repeat purchases icon" descr="Repeat purchases">    </p:cNvPr>
          <p:cNvPicPr>
            <a:picLocks noChangeAspect="1"/>
          </p:cNvPicPr>
          <p:nvPr/>
        </p:nvPicPr>
        <p:blipFill>
          <a:blip r:embed="rId2"/>
          <a:stretch>
            <a:fillRect/>
          </a:stretch>
        </p:blipFill>
        <p:spPr>
          <a:xfrm>
            <a:off x="4634179" y="2211019"/>
            <a:ext cx="332842" cy="332842"/>
          </a:xfrm>
          <a:prstGeom prst="rect">
            <a:avLst/>
          </a:prstGeom>
        </p:spPr>
      </p:pic>
      <p:sp>
        <p:nvSpPr>
          <p:cNvPr id="14" name="Repeat purchases step"/>
          <p:cNvSpPr txBox="1"/>
          <p:nvPr/>
        </p:nvSpPr>
        <p:spPr>
          <a:xfrm>
            <a:off x="5303520" y="2057400"/>
            <a:ext cx="1828800"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STEP 2</a:t>
            </a:r>
            <a:endParaRPr lang="en-US" sz="1100" dirty="0"/>
          </a:p>
        </p:txBody>
      </p:sp>
      <p:sp>
        <p:nvSpPr>
          <p:cNvPr id="15" name="Repeat purchases title"/>
          <p:cNvSpPr txBox="1"/>
          <p:nvPr/>
        </p:nvSpPr>
        <p:spPr>
          <a:xfrm>
            <a:off x="5303520" y="2313432"/>
            <a:ext cx="1828800" cy="384048"/>
          </a:xfrm>
          <a:prstGeom prst="rect">
            <a:avLst/>
          </a:prstGeom>
          <a:noFill/>
          <a:ln/>
        </p:spPr>
        <p:txBody>
          <a:bodyPr wrap="square" lIns="0" tIns="0" rIns="0" bIns="0" rtlCol="0" anchor="t"/>
          <a:lstStyle/>
          <a:p>
            <a:pPr indent="0" marL="0">
              <a:buNone/>
            </a:pPr>
            <a:r>
              <a:rPr lang="en-US" sz="1900" b="1" dirty="0">
                <a:solidFill>
                  <a:schemeClr val="tx2"/>
                </a:solidFill>
              </a:rPr>
              <a:t>Repeat purchases</a:t>
            </a:r>
            <a:endParaRPr lang="en-US" sz="1900" dirty="0"/>
          </a:p>
        </p:txBody>
      </p:sp>
      <p:sp>
        <p:nvSpPr>
          <p:cNvPr id="16" name="Repeat purchases detail"/>
          <p:cNvSpPr txBox="1"/>
          <p:nvPr/>
        </p:nvSpPr>
        <p:spPr>
          <a:xfrm>
            <a:off x="4480560" y="2834640"/>
            <a:ext cx="2331720" cy="731520"/>
          </a:xfrm>
          <a:prstGeom prst="rect">
            <a:avLst/>
          </a:prstGeom>
          <a:noFill/>
          <a:ln/>
        </p:spPr>
        <p:txBody>
          <a:bodyPr wrap="square" lIns="0" tIns="0" rIns="0" bIns="0" rtlCol="0" anchor="t"/>
          <a:lstStyle/>
          <a:p>
            <a:pPr indent="0" marL="0">
              <a:buNone/>
            </a:pPr>
            <a:r>
              <a:rPr lang="en-US" sz="1400" dirty="0">
                <a:solidFill>
                  <a:schemeClr val="tx1"/>
                </a:solidFill>
              </a:rPr>
              <a:t>Special offers encourage customers to buy regularly.</a:t>
            </a:r>
            <a:endParaRPr lang="en-US" sz="1400" dirty="0"/>
          </a:p>
        </p:txBody>
      </p:sp>
      <p:sp>
        <p:nvSpPr>
          <p:cNvPr id="17" name="Feedback card"/>
          <p:cNvSpPr/>
          <p:nvPr/>
        </p:nvSpPr>
        <p:spPr>
          <a:xfrm>
            <a:off x="548640" y="4114800"/>
            <a:ext cx="3108960" cy="1874520"/>
          </a:xfrm>
          <a:prstGeom prst="roundRect">
            <a:avLst>
              <a:gd name="adj" fmla="val 8780"/>
            </a:avLst>
          </a:prstGeom>
          <a:solidFill>
            <a:schemeClr val="accent5">
              <a:alpha val="14000"/>
            </a:schemeClr>
          </a:solidFill>
          <a:ln/>
        </p:spPr>
      </p:sp>
      <p:sp>
        <p:nvSpPr>
          <p:cNvPr id="18" name="Feedback circle"/>
          <p:cNvSpPr/>
          <p:nvPr/>
        </p:nvSpPr>
        <p:spPr>
          <a:xfrm>
            <a:off x="822960" y="4389120"/>
            <a:ext cx="640080" cy="640080"/>
          </a:xfrm>
          <a:prstGeom prst="ellipse">
            <a:avLst/>
          </a:prstGeom>
          <a:solidFill>
            <a:schemeClr val="accent5"/>
          </a:solidFill>
          <a:ln/>
        </p:spPr>
      </p:sp>
      <p:pic>
        <p:nvPicPr>
          <p:cNvPr id="19" name="Feedback icon" descr="Feedback">    </p:cNvPr>
          <p:cNvPicPr>
            <a:picLocks noChangeAspect="1"/>
          </p:cNvPicPr>
          <p:nvPr/>
        </p:nvPicPr>
        <p:blipFill>
          <a:blip r:embed="rId3"/>
          <a:stretch>
            <a:fillRect/>
          </a:stretch>
        </p:blipFill>
        <p:spPr>
          <a:xfrm>
            <a:off x="976579" y="4542739"/>
            <a:ext cx="332842" cy="332842"/>
          </a:xfrm>
          <a:prstGeom prst="rect">
            <a:avLst/>
          </a:prstGeom>
        </p:spPr>
      </p:pic>
      <p:sp>
        <p:nvSpPr>
          <p:cNvPr id="20" name="Feedback step"/>
          <p:cNvSpPr txBox="1"/>
          <p:nvPr/>
        </p:nvSpPr>
        <p:spPr>
          <a:xfrm>
            <a:off x="1645920" y="4389120"/>
            <a:ext cx="1828800"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STEP 4</a:t>
            </a:r>
            <a:endParaRPr lang="en-US" sz="1100" dirty="0"/>
          </a:p>
        </p:txBody>
      </p:sp>
      <p:sp>
        <p:nvSpPr>
          <p:cNvPr id="21" name="Feedback title"/>
          <p:cNvSpPr txBox="1"/>
          <p:nvPr/>
        </p:nvSpPr>
        <p:spPr>
          <a:xfrm>
            <a:off x="1645920" y="4645152"/>
            <a:ext cx="1828800" cy="384048"/>
          </a:xfrm>
          <a:prstGeom prst="rect">
            <a:avLst/>
          </a:prstGeom>
          <a:noFill/>
          <a:ln/>
        </p:spPr>
        <p:txBody>
          <a:bodyPr wrap="square" lIns="0" tIns="0" rIns="0" bIns="0" rtlCol="0" anchor="t"/>
          <a:lstStyle/>
          <a:p>
            <a:pPr indent="0" marL="0">
              <a:buNone/>
            </a:pPr>
            <a:r>
              <a:rPr lang="en-US" sz="1900" b="1" dirty="0">
                <a:solidFill>
                  <a:schemeClr val="tx2"/>
                </a:solidFill>
              </a:rPr>
              <a:t>Feedback</a:t>
            </a:r>
            <a:endParaRPr lang="en-US" sz="1900" dirty="0"/>
          </a:p>
        </p:txBody>
      </p:sp>
      <p:sp>
        <p:nvSpPr>
          <p:cNvPr id="22" name="Feedback detail"/>
          <p:cNvSpPr txBox="1"/>
          <p:nvPr/>
        </p:nvSpPr>
        <p:spPr>
          <a:xfrm>
            <a:off x="822960" y="5166360"/>
            <a:ext cx="2331720" cy="731520"/>
          </a:xfrm>
          <a:prstGeom prst="rect">
            <a:avLst/>
          </a:prstGeom>
          <a:noFill/>
          <a:ln/>
        </p:spPr>
        <p:txBody>
          <a:bodyPr wrap="square" lIns="0" tIns="0" rIns="0" bIns="0" rtlCol="0" anchor="t"/>
          <a:lstStyle/>
          <a:p>
            <a:pPr indent="0" marL="0">
              <a:buNone/>
            </a:pPr>
            <a:r>
              <a:rPr lang="en-US" sz="1400" dirty="0">
                <a:solidFill>
                  <a:schemeClr val="tx1"/>
                </a:solidFill>
              </a:rPr>
              <a:t>We listen to improve the product and introduce new flavors.</a:t>
            </a:r>
            <a:endParaRPr lang="en-US" sz="1400" dirty="0"/>
          </a:p>
        </p:txBody>
      </p:sp>
      <p:sp>
        <p:nvSpPr>
          <p:cNvPr id="23" name="Loyalty card"/>
          <p:cNvSpPr/>
          <p:nvPr/>
        </p:nvSpPr>
        <p:spPr>
          <a:xfrm>
            <a:off x="4206240" y="4114800"/>
            <a:ext cx="3108960" cy="1874520"/>
          </a:xfrm>
          <a:prstGeom prst="roundRect">
            <a:avLst>
              <a:gd name="adj" fmla="val 8780"/>
            </a:avLst>
          </a:prstGeom>
          <a:solidFill>
            <a:schemeClr val="accent4">
              <a:alpha val="14000"/>
            </a:schemeClr>
          </a:solidFill>
          <a:ln/>
        </p:spPr>
      </p:sp>
      <p:sp>
        <p:nvSpPr>
          <p:cNvPr id="24" name="Loyalty circle"/>
          <p:cNvSpPr/>
          <p:nvPr/>
        </p:nvSpPr>
        <p:spPr>
          <a:xfrm>
            <a:off x="4480560" y="4389120"/>
            <a:ext cx="640080" cy="640080"/>
          </a:xfrm>
          <a:prstGeom prst="ellipse">
            <a:avLst/>
          </a:prstGeom>
          <a:solidFill>
            <a:schemeClr val="accent4"/>
          </a:solidFill>
          <a:ln/>
        </p:spPr>
      </p:sp>
      <p:pic>
        <p:nvPicPr>
          <p:cNvPr id="25" name="Loyalty icon" descr="Loyalty">    </p:cNvPr>
          <p:cNvPicPr>
            <a:picLocks noChangeAspect="1"/>
          </p:cNvPicPr>
          <p:nvPr/>
        </p:nvPicPr>
        <p:blipFill>
          <a:blip r:embed="rId4"/>
          <a:stretch>
            <a:fillRect/>
          </a:stretch>
        </p:blipFill>
        <p:spPr>
          <a:xfrm>
            <a:off x="4634179" y="4542739"/>
            <a:ext cx="332842" cy="332842"/>
          </a:xfrm>
          <a:prstGeom prst="rect">
            <a:avLst/>
          </a:prstGeom>
        </p:spPr>
      </p:pic>
      <p:sp>
        <p:nvSpPr>
          <p:cNvPr id="26" name="Loyalty step"/>
          <p:cNvSpPr txBox="1"/>
          <p:nvPr/>
        </p:nvSpPr>
        <p:spPr>
          <a:xfrm>
            <a:off x="5303520" y="4389120"/>
            <a:ext cx="1828800"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STEP 3</a:t>
            </a:r>
            <a:endParaRPr lang="en-US" sz="1100" dirty="0"/>
          </a:p>
        </p:txBody>
      </p:sp>
      <p:sp>
        <p:nvSpPr>
          <p:cNvPr id="27" name="Loyalty title"/>
          <p:cNvSpPr txBox="1"/>
          <p:nvPr/>
        </p:nvSpPr>
        <p:spPr>
          <a:xfrm>
            <a:off x="5303520" y="4645152"/>
            <a:ext cx="1828800" cy="384048"/>
          </a:xfrm>
          <a:prstGeom prst="rect">
            <a:avLst/>
          </a:prstGeom>
          <a:noFill/>
          <a:ln/>
        </p:spPr>
        <p:txBody>
          <a:bodyPr wrap="square" lIns="0" tIns="0" rIns="0" bIns="0" rtlCol="0" anchor="t"/>
          <a:lstStyle/>
          <a:p>
            <a:pPr indent="0" marL="0">
              <a:buNone/>
            </a:pPr>
            <a:r>
              <a:rPr lang="en-US" sz="1900" b="1" dirty="0">
                <a:solidFill>
                  <a:schemeClr val="tx2"/>
                </a:solidFill>
              </a:rPr>
              <a:t>Loyalty</a:t>
            </a:r>
            <a:endParaRPr lang="en-US" sz="1900" dirty="0"/>
          </a:p>
        </p:txBody>
      </p:sp>
      <p:sp>
        <p:nvSpPr>
          <p:cNvPr id="28" name="Loyalty detail"/>
          <p:cNvSpPr txBox="1"/>
          <p:nvPr/>
        </p:nvSpPr>
        <p:spPr>
          <a:xfrm>
            <a:off x="4480560" y="5166360"/>
            <a:ext cx="2331720" cy="731520"/>
          </a:xfrm>
          <a:prstGeom prst="rect">
            <a:avLst/>
          </a:prstGeom>
          <a:noFill/>
          <a:ln/>
        </p:spPr>
        <p:txBody>
          <a:bodyPr wrap="square" lIns="0" tIns="0" rIns="0" bIns="0" rtlCol="0" anchor="t"/>
          <a:lstStyle/>
          <a:p>
            <a:pPr indent="0" marL="0">
              <a:buNone/>
            </a:pPr>
            <a:r>
              <a:rPr lang="en-US" sz="1400" dirty="0">
                <a:solidFill>
                  <a:schemeClr val="tx1"/>
                </a:solidFill>
              </a:rPr>
              <a:t>Trust built through the loyalty program.</a:t>
            </a:r>
            <a:endParaRPr lang="en-US" sz="1400" dirty="0"/>
          </a:p>
        </p:txBody>
      </p:sp>
      <p:sp>
        <p:nvSpPr>
          <p:cNvPr id="29" name="Cycle hub"/>
          <p:cNvSpPr/>
          <p:nvPr/>
        </p:nvSpPr>
        <p:spPr>
          <a:xfrm>
            <a:off x="3451860" y="3406140"/>
            <a:ext cx="960120" cy="960120"/>
          </a:xfrm>
          <a:prstGeom prst="ellipse">
            <a:avLst/>
          </a:prstGeom>
          <a:solidFill>
            <a:schemeClr val="bg1"/>
          </a:solidFill>
          <a:ln w="25400">
            <a:solidFill>
              <a:schemeClr val="tx2"/>
            </a:solidFill>
            <a:prstDash val="solid"/>
          </a:ln>
          <a:effectLst>
            <a:outerShdw sx="100000" sy="100000" kx="0" ky="0" algn="bl" rotWithShape="0" blurRad="127000" dist="25400" dir="5400000">
              <a:srgbClr val="000000">
                <a:alpha val="12000"/>
              </a:srgbClr>
            </a:outerShdw>
          </a:effectLst>
        </p:spPr>
      </p:sp>
      <p:pic>
        <p:nvPicPr>
          <p:cNvPr id="30" name="Cycle icon" descr="Repeating cycle">    </p:cNvPr>
          <p:cNvPicPr>
            <a:picLocks noChangeAspect="1"/>
          </p:cNvPicPr>
          <p:nvPr/>
        </p:nvPicPr>
        <p:blipFill>
          <a:blip r:embed="rId5"/>
          <a:stretch>
            <a:fillRect/>
          </a:stretch>
        </p:blipFill>
        <p:spPr>
          <a:xfrm>
            <a:off x="3657600" y="3611880"/>
            <a:ext cx="548640" cy="548640"/>
          </a:xfrm>
          <a:prstGeom prst="rect">
            <a:avLst/>
          </a:prstGeom>
        </p:spPr>
      </p:pic>
      <p:sp>
        <p:nvSpPr>
          <p:cNvPr id="31" name="Loyalty card"/>
          <p:cNvSpPr/>
          <p:nvPr/>
        </p:nvSpPr>
        <p:spPr>
          <a:xfrm>
            <a:off x="7772400" y="1783080"/>
            <a:ext cx="3870655" cy="4206240"/>
          </a:xfrm>
          <a:prstGeom prst="roundRect">
            <a:avLst>
              <a:gd name="adj" fmla="val 4252"/>
            </a:avLst>
          </a:prstGeom>
          <a:solidFill>
            <a:schemeClr val="tx2"/>
          </a:solidFill>
          <a:ln/>
        </p:spPr>
      </p:sp>
      <p:sp>
        <p:nvSpPr>
          <p:cNvPr id="32" name="Loyalty label"/>
          <p:cNvSpPr txBox="1"/>
          <p:nvPr/>
        </p:nvSpPr>
        <p:spPr>
          <a:xfrm>
            <a:off x="8138160" y="2103120"/>
            <a:ext cx="3139135"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LOYALTY PROGRAM</a:t>
            </a:r>
            <a:endParaRPr lang="en-US" sz="1200" dirty="0"/>
          </a:p>
        </p:txBody>
      </p:sp>
      <p:sp>
        <p:nvSpPr>
          <p:cNvPr id="33" name="Loyalty offer"/>
          <p:cNvSpPr txBox="1"/>
          <p:nvPr/>
        </p:nvSpPr>
        <p:spPr>
          <a:xfrm>
            <a:off x="8138160" y="2423160"/>
            <a:ext cx="3139135" cy="594360"/>
          </a:xfrm>
          <a:prstGeom prst="rect">
            <a:avLst/>
          </a:prstGeom>
          <a:noFill/>
          <a:ln/>
        </p:spPr>
        <p:txBody>
          <a:bodyPr wrap="square" lIns="0" tIns="0" rIns="0" bIns="0" rtlCol="0" anchor="t"/>
          <a:lstStyle/>
          <a:p>
            <a:pPr indent="0" marL="0">
              <a:buNone/>
            </a:pPr>
            <a:r>
              <a:rPr lang="en-US" sz="3000" b="1" dirty="0">
                <a:solidFill>
                  <a:schemeClr val="bg1"/>
                </a:solidFill>
              </a:rPr>
              <a:t>Buy 9, get 1 free</a:t>
            </a:r>
            <a:endParaRPr lang="en-US" sz="3000" dirty="0"/>
          </a:p>
        </p:txBody>
      </p:sp>
      <p:sp>
        <p:nvSpPr>
          <p:cNvPr id="34" name="Pack 1 stamp"/>
          <p:cNvSpPr/>
          <p:nvPr/>
        </p:nvSpPr>
        <p:spPr>
          <a:xfrm>
            <a:off x="8138160" y="3337560"/>
            <a:ext cx="530352" cy="530352"/>
          </a:xfrm>
          <a:prstGeom prst="ellipse">
            <a:avLst/>
          </a:prstGeom>
          <a:solidFill>
            <a:schemeClr val="accent1"/>
          </a:solidFill>
          <a:ln/>
        </p:spPr>
      </p:sp>
      <p:pic>
        <p:nvPicPr>
          <p:cNvPr id="35" name="Pack 1 check" descr="Stamp">    </p:cNvPr>
          <p:cNvPicPr>
            <a:picLocks noChangeAspect="1"/>
          </p:cNvPicPr>
          <p:nvPr/>
        </p:nvPicPr>
        <p:blipFill>
          <a:blip r:embed="rId6"/>
          <a:stretch>
            <a:fillRect/>
          </a:stretch>
        </p:blipFill>
        <p:spPr>
          <a:xfrm>
            <a:off x="8281355" y="3480755"/>
            <a:ext cx="243962" cy="243962"/>
          </a:xfrm>
          <a:prstGeom prst="rect">
            <a:avLst/>
          </a:prstGeom>
        </p:spPr>
      </p:pic>
      <p:sp>
        <p:nvSpPr>
          <p:cNvPr id="36" name="Pack 2 stamp"/>
          <p:cNvSpPr/>
          <p:nvPr/>
        </p:nvSpPr>
        <p:spPr>
          <a:xfrm>
            <a:off x="8790356" y="3337560"/>
            <a:ext cx="530352" cy="530352"/>
          </a:xfrm>
          <a:prstGeom prst="ellipse">
            <a:avLst/>
          </a:prstGeom>
          <a:solidFill>
            <a:schemeClr val="accent1"/>
          </a:solidFill>
          <a:ln/>
        </p:spPr>
      </p:sp>
      <p:pic>
        <p:nvPicPr>
          <p:cNvPr id="37" name="Pack 2 check" descr="Stamp">    </p:cNvPr>
          <p:cNvPicPr>
            <a:picLocks noChangeAspect="1"/>
          </p:cNvPicPr>
          <p:nvPr/>
        </p:nvPicPr>
        <p:blipFill>
          <a:blip r:embed="rId7"/>
          <a:stretch>
            <a:fillRect/>
          </a:stretch>
        </p:blipFill>
        <p:spPr>
          <a:xfrm>
            <a:off x="8933551" y="3480755"/>
            <a:ext cx="243962" cy="243962"/>
          </a:xfrm>
          <a:prstGeom prst="rect">
            <a:avLst/>
          </a:prstGeom>
        </p:spPr>
      </p:pic>
      <p:sp>
        <p:nvSpPr>
          <p:cNvPr id="38" name="Pack 3 stamp"/>
          <p:cNvSpPr/>
          <p:nvPr/>
        </p:nvSpPr>
        <p:spPr>
          <a:xfrm>
            <a:off x="9442552" y="3337560"/>
            <a:ext cx="530352" cy="530352"/>
          </a:xfrm>
          <a:prstGeom prst="ellipse">
            <a:avLst/>
          </a:prstGeom>
          <a:solidFill>
            <a:schemeClr val="accent1"/>
          </a:solidFill>
          <a:ln/>
        </p:spPr>
      </p:sp>
      <p:pic>
        <p:nvPicPr>
          <p:cNvPr id="39" name="Pack 3 check" descr="Stamp">    </p:cNvPr>
          <p:cNvPicPr>
            <a:picLocks noChangeAspect="1"/>
          </p:cNvPicPr>
          <p:nvPr/>
        </p:nvPicPr>
        <p:blipFill>
          <a:blip r:embed="rId8"/>
          <a:stretch>
            <a:fillRect/>
          </a:stretch>
        </p:blipFill>
        <p:spPr>
          <a:xfrm>
            <a:off x="9585747" y="3480755"/>
            <a:ext cx="243962" cy="243962"/>
          </a:xfrm>
          <a:prstGeom prst="rect">
            <a:avLst/>
          </a:prstGeom>
        </p:spPr>
      </p:pic>
      <p:sp>
        <p:nvSpPr>
          <p:cNvPr id="40" name="Pack 4 stamp"/>
          <p:cNvSpPr/>
          <p:nvPr/>
        </p:nvSpPr>
        <p:spPr>
          <a:xfrm>
            <a:off x="10094747" y="3337560"/>
            <a:ext cx="530352" cy="530352"/>
          </a:xfrm>
          <a:prstGeom prst="ellipse">
            <a:avLst/>
          </a:prstGeom>
          <a:solidFill>
            <a:schemeClr val="accent1"/>
          </a:solidFill>
          <a:ln/>
        </p:spPr>
      </p:sp>
      <p:pic>
        <p:nvPicPr>
          <p:cNvPr id="41" name="Pack 4 check" descr="Stamp">    </p:cNvPr>
          <p:cNvPicPr>
            <a:picLocks noChangeAspect="1"/>
          </p:cNvPicPr>
          <p:nvPr/>
        </p:nvPicPr>
        <p:blipFill>
          <a:blip r:embed="rId9"/>
          <a:stretch>
            <a:fillRect/>
          </a:stretch>
        </p:blipFill>
        <p:spPr>
          <a:xfrm>
            <a:off x="10237942" y="3480755"/>
            <a:ext cx="243962" cy="243962"/>
          </a:xfrm>
          <a:prstGeom prst="rect">
            <a:avLst/>
          </a:prstGeom>
        </p:spPr>
      </p:pic>
      <p:sp>
        <p:nvSpPr>
          <p:cNvPr id="42" name="Pack 5 stamp"/>
          <p:cNvSpPr/>
          <p:nvPr/>
        </p:nvSpPr>
        <p:spPr>
          <a:xfrm>
            <a:off x="10746943" y="3337560"/>
            <a:ext cx="530352" cy="530352"/>
          </a:xfrm>
          <a:prstGeom prst="ellipse">
            <a:avLst/>
          </a:prstGeom>
          <a:solidFill>
            <a:schemeClr val="accent1"/>
          </a:solidFill>
          <a:ln/>
        </p:spPr>
      </p:sp>
      <p:pic>
        <p:nvPicPr>
          <p:cNvPr id="43" name="Pack 5 check" descr="Stamp">    </p:cNvPr>
          <p:cNvPicPr>
            <a:picLocks noChangeAspect="1"/>
          </p:cNvPicPr>
          <p:nvPr/>
        </p:nvPicPr>
        <p:blipFill>
          <a:blip r:embed="rId10"/>
          <a:stretch>
            <a:fillRect/>
          </a:stretch>
        </p:blipFill>
        <p:spPr>
          <a:xfrm>
            <a:off x="10890138" y="3480755"/>
            <a:ext cx="243962" cy="243962"/>
          </a:xfrm>
          <a:prstGeom prst="rect">
            <a:avLst/>
          </a:prstGeom>
        </p:spPr>
      </p:pic>
      <p:sp>
        <p:nvSpPr>
          <p:cNvPr id="44" name="Pack 6 stamp"/>
          <p:cNvSpPr/>
          <p:nvPr/>
        </p:nvSpPr>
        <p:spPr>
          <a:xfrm>
            <a:off x="8138160" y="4096512"/>
            <a:ext cx="530352" cy="530352"/>
          </a:xfrm>
          <a:prstGeom prst="ellipse">
            <a:avLst/>
          </a:prstGeom>
          <a:solidFill>
            <a:schemeClr val="accent1"/>
          </a:solidFill>
          <a:ln/>
        </p:spPr>
      </p:sp>
      <p:pic>
        <p:nvPicPr>
          <p:cNvPr id="45" name="Pack 6 check" descr="Stamp">    </p:cNvPr>
          <p:cNvPicPr>
            <a:picLocks noChangeAspect="1"/>
          </p:cNvPicPr>
          <p:nvPr/>
        </p:nvPicPr>
        <p:blipFill>
          <a:blip r:embed="rId11"/>
          <a:stretch>
            <a:fillRect/>
          </a:stretch>
        </p:blipFill>
        <p:spPr>
          <a:xfrm>
            <a:off x="8281355" y="4239707"/>
            <a:ext cx="243962" cy="243962"/>
          </a:xfrm>
          <a:prstGeom prst="rect">
            <a:avLst/>
          </a:prstGeom>
        </p:spPr>
      </p:pic>
      <p:sp>
        <p:nvSpPr>
          <p:cNvPr id="46" name="Pack 7 stamp"/>
          <p:cNvSpPr/>
          <p:nvPr/>
        </p:nvSpPr>
        <p:spPr>
          <a:xfrm>
            <a:off x="8790356" y="4096512"/>
            <a:ext cx="530352" cy="530352"/>
          </a:xfrm>
          <a:prstGeom prst="ellipse">
            <a:avLst/>
          </a:prstGeom>
          <a:solidFill>
            <a:schemeClr val="accent1"/>
          </a:solidFill>
          <a:ln/>
        </p:spPr>
      </p:sp>
      <p:pic>
        <p:nvPicPr>
          <p:cNvPr id="47" name="Pack 7 check" descr="Stamp">    </p:cNvPr>
          <p:cNvPicPr>
            <a:picLocks noChangeAspect="1"/>
          </p:cNvPicPr>
          <p:nvPr/>
        </p:nvPicPr>
        <p:blipFill>
          <a:blip r:embed="rId12"/>
          <a:stretch>
            <a:fillRect/>
          </a:stretch>
        </p:blipFill>
        <p:spPr>
          <a:xfrm>
            <a:off x="8933551" y="4239707"/>
            <a:ext cx="243962" cy="243962"/>
          </a:xfrm>
          <a:prstGeom prst="rect">
            <a:avLst/>
          </a:prstGeom>
        </p:spPr>
      </p:pic>
      <p:sp>
        <p:nvSpPr>
          <p:cNvPr id="48" name="Pack 8 stamp"/>
          <p:cNvSpPr/>
          <p:nvPr/>
        </p:nvSpPr>
        <p:spPr>
          <a:xfrm>
            <a:off x="9442552" y="4096512"/>
            <a:ext cx="530352" cy="530352"/>
          </a:xfrm>
          <a:prstGeom prst="ellipse">
            <a:avLst/>
          </a:prstGeom>
          <a:solidFill>
            <a:schemeClr val="accent1"/>
          </a:solidFill>
          <a:ln/>
        </p:spPr>
      </p:sp>
      <p:pic>
        <p:nvPicPr>
          <p:cNvPr id="49" name="Pack 8 check" descr="Stamp">    </p:cNvPr>
          <p:cNvPicPr>
            <a:picLocks noChangeAspect="1"/>
          </p:cNvPicPr>
          <p:nvPr/>
        </p:nvPicPr>
        <p:blipFill>
          <a:blip r:embed="rId13"/>
          <a:stretch>
            <a:fillRect/>
          </a:stretch>
        </p:blipFill>
        <p:spPr>
          <a:xfrm>
            <a:off x="9585747" y="4239707"/>
            <a:ext cx="243962" cy="243962"/>
          </a:xfrm>
          <a:prstGeom prst="rect">
            <a:avLst/>
          </a:prstGeom>
        </p:spPr>
      </p:pic>
      <p:sp>
        <p:nvSpPr>
          <p:cNvPr id="50" name="Pack 9 stamp"/>
          <p:cNvSpPr/>
          <p:nvPr/>
        </p:nvSpPr>
        <p:spPr>
          <a:xfrm>
            <a:off x="10094747" y="4096512"/>
            <a:ext cx="530352" cy="530352"/>
          </a:xfrm>
          <a:prstGeom prst="ellipse">
            <a:avLst/>
          </a:prstGeom>
          <a:solidFill>
            <a:schemeClr val="accent1"/>
          </a:solidFill>
          <a:ln/>
        </p:spPr>
      </p:sp>
      <p:pic>
        <p:nvPicPr>
          <p:cNvPr id="51" name="Pack 9 check" descr="Stamp">    </p:cNvPr>
          <p:cNvPicPr>
            <a:picLocks noChangeAspect="1"/>
          </p:cNvPicPr>
          <p:nvPr/>
        </p:nvPicPr>
        <p:blipFill>
          <a:blip r:embed="rId14"/>
          <a:stretch>
            <a:fillRect/>
          </a:stretch>
        </p:blipFill>
        <p:spPr>
          <a:xfrm>
            <a:off x="10237942" y="4239707"/>
            <a:ext cx="243962" cy="243962"/>
          </a:xfrm>
          <a:prstGeom prst="rect">
            <a:avLst/>
          </a:prstGeom>
        </p:spPr>
      </p:pic>
      <p:sp>
        <p:nvSpPr>
          <p:cNvPr id="52" name="Free pack stamp"/>
          <p:cNvSpPr/>
          <p:nvPr/>
        </p:nvSpPr>
        <p:spPr>
          <a:xfrm>
            <a:off x="10746943" y="4096512"/>
            <a:ext cx="530352" cy="530352"/>
          </a:xfrm>
          <a:prstGeom prst="ellipse">
            <a:avLst/>
          </a:prstGeom>
          <a:solidFill>
            <a:schemeClr val="accent3"/>
          </a:solidFill>
          <a:ln/>
        </p:spPr>
      </p:sp>
      <p:sp>
        <p:nvSpPr>
          <p:cNvPr id="53" name="Free stamp text"/>
          <p:cNvSpPr txBox="1"/>
          <p:nvPr/>
        </p:nvSpPr>
        <p:spPr>
          <a:xfrm>
            <a:off x="10746943" y="4096512"/>
            <a:ext cx="530352" cy="530352"/>
          </a:xfrm>
          <a:prstGeom prst="rect">
            <a:avLst/>
          </a:prstGeom>
          <a:noFill/>
          <a:ln/>
        </p:spPr>
        <p:txBody>
          <a:bodyPr wrap="square" lIns="0" tIns="0" rIns="0" bIns="0" rtlCol="0" anchor="ctr"/>
          <a:lstStyle/>
          <a:p>
            <a:pPr algn="ctr" indent="0" marL="0">
              <a:buNone/>
            </a:pPr>
            <a:r>
              <a:rPr lang="en-US" sz="1100" b="1" dirty="0">
                <a:solidFill>
                  <a:schemeClr val="tx2"/>
                </a:solidFill>
              </a:rPr>
              <a:t>FREE</a:t>
            </a:r>
            <a:endParaRPr lang="en-US" sz="1100" dirty="0"/>
          </a:p>
        </p:txBody>
      </p:sp>
      <p:sp>
        <p:nvSpPr>
          <p:cNvPr id="54" name="Loyalty caption"/>
          <p:cNvSpPr txBox="1"/>
          <p:nvPr/>
        </p:nvSpPr>
        <p:spPr>
          <a:xfrm>
            <a:off x="8138160" y="4846320"/>
            <a:ext cx="3139135" cy="914400"/>
          </a:xfrm>
          <a:prstGeom prst="rect">
            <a:avLst/>
          </a:prstGeom>
          <a:noFill/>
          <a:ln/>
        </p:spPr>
        <p:txBody>
          <a:bodyPr wrap="square" lIns="0" tIns="0" rIns="0" bIns="0" rtlCol="0" anchor="t"/>
          <a:lstStyle/>
          <a:p>
            <a:pPr indent="0" marL="0">
              <a:buNone/>
            </a:pPr>
            <a:r>
              <a:rPr lang="en-US" sz="1500" dirty="0">
                <a:solidFill>
                  <a:schemeClr val="bg1"/>
                </a:solidFill>
              </a:rPr>
              <a:t>Every tenth pack is on us. It builds trust and keeps customers coming back.</a:t>
            </a:r>
            <a:endParaRPr lang="en-US" sz="15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dot"/>
          <p:cNvSpPr/>
          <p:nvPr/>
        </p:nvSpPr>
        <p:spPr>
          <a:xfrm>
            <a:off x="548640" y="484632"/>
            <a:ext cx="146304" cy="146304"/>
          </a:xfrm>
          <a:prstGeom prst="ellipse">
            <a:avLst/>
          </a:prstGeom>
          <a:solidFill>
            <a:schemeClr val="accent1"/>
          </a:solidFill>
          <a:ln/>
        </p:spPr>
      </p:sp>
      <p:sp>
        <p:nvSpPr>
          <p:cNvPr id="3" name="Text 1"/>
          <p:cNvSpPr/>
          <p:nvPr>
            <p:ph idx="102" type="body" hasCustomPrompt="1"/>
          </p:nvPr>
        </p:nvSpPr>
        <p:spPr>
          <a:xfrm>
            <a:off x="804672" y="402336"/>
            <a:ext cx="8229600" cy="310896"/>
          </a:xfrm>
          <a:prstGeom prst="rect">
            <a:avLst/>
          </a:prstGeom>
          <a:noFill/>
          <a:ln/>
        </p:spPr>
        <p:txBody>
          <a:bodyPr wrap="square" lIns="0" tIns="0" rIns="0" bIns="0" rtlCol="0" anchor="ctr"/>
          <a:lstStyle/>
          <a:p>
            <a:pPr indent="0" marL="0">
              <a:buNone/>
            </a:pPr>
            <a:r>
              <a:rPr lang="en-US" sz="1200" b="1" spc="200" kern="0" dirty="0">
                <a:solidFill>
                  <a:schemeClr val="accent3"/>
                </a:solidFill>
              </a:rPr>
              <a:t>THE PLAN ON ONE PAGE</a:t>
            </a:r>
            <a:endParaRPr lang="en-US" sz="1200" dirty="0"/>
          </a:p>
        </p:txBody>
      </p:sp>
      <p:sp>
        <p:nvSpPr>
          <p:cNvPr id="4" name="Text 1"/>
          <p:cNvSpPr/>
          <p:nvPr>
            <p:ph idx="103" type="title" hasCustomPrompt="1"/>
          </p:nvPr>
        </p:nvSpPr>
        <p:spPr>
          <a:xfrm>
            <a:off x="548640" y="749808"/>
            <a:ext cx="11094415" cy="749808"/>
          </a:xfrm>
          <a:prstGeom prst="rect">
            <a:avLst/>
          </a:prstGeom>
          <a:noFill/>
          <a:ln/>
        </p:spPr>
        <p:txBody>
          <a:bodyPr wrap="square" lIns="0" tIns="0" rIns="0" bIns="0" rtlCol="0" anchor="t"/>
          <a:lstStyle/>
          <a:p>
            <a:pPr algn="l" indent="0" marL="0">
              <a:buNone/>
            </a:pPr>
            <a:r>
              <a:rPr lang="en-US" sz="3400" b="1" dirty="0">
                <a:solidFill>
                  <a:schemeClr val="bg1"/>
                </a:solidFill>
              </a:rPr>
              <a:t>Five moves to launch FitBite</a:t>
            </a:r>
            <a:endParaRPr lang="en-US" sz="3400" dirty="0"/>
          </a:p>
        </p:txBody>
      </p:sp>
      <p:sp>
        <p:nvSpPr>
          <p:cNvPr id="5" name="Move 1 card"/>
          <p:cNvSpPr/>
          <p:nvPr/>
        </p:nvSpPr>
        <p:spPr>
          <a:xfrm>
            <a:off x="548640" y="1874520"/>
            <a:ext cx="2036003" cy="4069080"/>
          </a:xfrm>
          <a:prstGeom prst="roundRect">
            <a:avLst>
              <a:gd name="adj" fmla="val 8084"/>
            </a:avLst>
          </a:prstGeom>
          <a:solidFill>
            <a:schemeClr val="bg1">
              <a:alpha val="10000"/>
            </a:schemeClr>
          </a:solidFill>
          <a:ln/>
        </p:spPr>
      </p:sp>
      <p:sp>
        <p:nvSpPr>
          <p:cNvPr id="6" name="Move 1 number"/>
          <p:cNvSpPr txBox="1"/>
          <p:nvPr/>
        </p:nvSpPr>
        <p:spPr>
          <a:xfrm>
            <a:off x="822960" y="2148840"/>
            <a:ext cx="914400" cy="411480"/>
          </a:xfrm>
          <a:prstGeom prst="rect">
            <a:avLst/>
          </a:prstGeom>
          <a:noFill/>
          <a:ln/>
        </p:spPr>
        <p:txBody>
          <a:bodyPr wrap="square" lIns="0" tIns="0" rIns="0" bIns="0" rtlCol="0" anchor="t"/>
          <a:lstStyle/>
          <a:p>
            <a:pPr indent="0" marL="0">
              <a:buNone/>
            </a:pPr>
            <a:r>
              <a:rPr lang="en-US" sz="1600" b="1" dirty="0">
                <a:solidFill>
                  <a:schemeClr val="accent3"/>
                </a:solidFill>
              </a:rPr>
              <a:t>01</a:t>
            </a:r>
            <a:endParaRPr lang="en-US" sz="1600" dirty="0"/>
          </a:p>
        </p:txBody>
      </p:sp>
      <p:sp>
        <p:nvSpPr>
          <p:cNvPr id="7" name="Move 1 circle"/>
          <p:cNvSpPr/>
          <p:nvPr/>
        </p:nvSpPr>
        <p:spPr>
          <a:xfrm>
            <a:off x="822960" y="2651760"/>
            <a:ext cx="777240" cy="777240"/>
          </a:xfrm>
          <a:prstGeom prst="ellipse">
            <a:avLst/>
          </a:prstGeom>
          <a:solidFill>
            <a:schemeClr val="accent1"/>
          </a:solidFill>
          <a:ln/>
        </p:spPr>
      </p:sp>
      <p:pic>
        <p:nvPicPr>
          <p:cNvPr id="8" name="Move 1 icon" descr="Move 1">    </p:cNvPr>
          <p:cNvPicPr>
            <a:picLocks noChangeAspect="1"/>
          </p:cNvPicPr>
          <p:nvPr/>
        </p:nvPicPr>
        <p:blipFill>
          <a:blip r:embed="rId1"/>
          <a:stretch>
            <a:fillRect/>
          </a:stretch>
        </p:blipFill>
        <p:spPr>
          <a:xfrm>
            <a:off x="1009498" y="2838298"/>
            <a:ext cx="404165" cy="404165"/>
          </a:xfrm>
          <a:prstGeom prst="rect">
            <a:avLst/>
          </a:prstGeom>
        </p:spPr>
      </p:pic>
      <p:sp>
        <p:nvSpPr>
          <p:cNvPr id="9" name="Move 1 title"/>
          <p:cNvSpPr txBox="1"/>
          <p:nvPr/>
        </p:nvSpPr>
        <p:spPr>
          <a:xfrm>
            <a:off x="822960" y="3657600"/>
            <a:ext cx="1578803" cy="731520"/>
          </a:xfrm>
          <a:prstGeom prst="rect">
            <a:avLst/>
          </a:prstGeom>
          <a:noFill/>
          <a:ln/>
        </p:spPr>
        <p:txBody>
          <a:bodyPr wrap="square" lIns="0" tIns="0" rIns="0" bIns="0" rtlCol="0" anchor="t"/>
          <a:lstStyle/>
          <a:p>
            <a:pPr indent="0" marL="0">
              <a:buNone/>
            </a:pPr>
            <a:r>
              <a:rPr lang="en-US" sz="1900" b="1" dirty="0">
                <a:solidFill>
                  <a:schemeClr val="bg1"/>
                </a:solidFill>
              </a:rPr>
              <a:t>Launch where students are</a:t>
            </a:r>
            <a:endParaRPr lang="en-US" sz="1900" dirty="0"/>
          </a:p>
        </p:txBody>
      </p:sp>
      <p:sp>
        <p:nvSpPr>
          <p:cNvPr id="10" name="Move 1 detail"/>
          <p:cNvSpPr txBox="1"/>
          <p:nvPr/>
        </p:nvSpPr>
        <p:spPr>
          <a:xfrm>
            <a:off x="822960" y="4434840"/>
            <a:ext cx="1578803" cy="1371600"/>
          </a:xfrm>
          <a:prstGeom prst="rect">
            <a:avLst/>
          </a:prstGeom>
          <a:noFill/>
          <a:ln/>
        </p:spPr>
        <p:txBody>
          <a:bodyPr wrap="square" lIns="0" tIns="0" rIns="0" bIns="0" rtlCol="0" anchor="t"/>
          <a:lstStyle/>
          <a:p>
            <a:pPr indent="0" marL="0">
              <a:buNone/>
            </a:pPr>
            <a:r>
              <a:rPr lang="en-US" sz="1500" dirty="0">
                <a:solidFill>
                  <a:schemeClr val="bg1"/>
                </a:solidFill>
              </a:rPr>
              <a:t>Universities, gyms and stores in Khartoum, Omdurman and Bahri.</a:t>
            </a:r>
            <a:endParaRPr lang="en-US" sz="1500" dirty="0"/>
          </a:p>
        </p:txBody>
      </p:sp>
      <p:sp>
        <p:nvSpPr>
          <p:cNvPr id="11" name="Move 2 card"/>
          <p:cNvSpPr/>
          <p:nvPr/>
        </p:nvSpPr>
        <p:spPr>
          <a:xfrm>
            <a:off x="2813243" y="1874520"/>
            <a:ext cx="2036003" cy="4069080"/>
          </a:xfrm>
          <a:prstGeom prst="roundRect">
            <a:avLst>
              <a:gd name="adj" fmla="val 8084"/>
            </a:avLst>
          </a:prstGeom>
          <a:solidFill>
            <a:schemeClr val="bg1">
              <a:alpha val="10000"/>
            </a:schemeClr>
          </a:solidFill>
          <a:ln/>
        </p:spPr>
      </p:sp>
      <p:sp>
        <p:nvSpPr>
          <p:cNvPr id="12" name="Move 2 number"/>
          <p:cNvSpPr txBox="1"/>
          <p:nvPr/>
        </p:nvSpPr>
        <p:spPr>
          <a:xfrm>
            <a:off x="3087563" y="2148840"/>
            <a:ext cx="914400" cy="411480"/>
          </a:xfrm>
          <a:prstGeom prst="rect">
            <a:avLst/>
          </a:prstGeom>
          <a:noFill/>
          <a:ln/>
        </p:spPr>
        <p:txBody>
          <a:bodyPr wrap="square" lIns="0" tIns="0" rIns="0" bIns="0" rtlCol="0" anchor="t"/>
          <a:lstStyle/>
          <a:p>
            <a:pPr indent="0" marL="0">
              <a:buNone/>
            </a:pPr>
            <a:r>
              <a:rPr lang="en-US" sz="1600" b="1" dirty="0">
                <a:solidFill>
                  <a:schemeClr val="accent3"/>
                </a:solidFill>
              </a:rPr>
              <a:t>02</a:t>
            </a:r>
            <a:endParaRPr lang="en-US" sz="1600" dirty="0"/>
          </a:p>
        </p:txBody>
      </p:sp>
      <p:sp>
        <p:nvSpPr>
          <p:cNvPr id="13" name="Move 2 circle"/>
          <p:cNvSpPr/>
          <p:nvPr/>
        </p:nvSpPr>
        <p:spPr>
          <a:xfrm>
            <a:off x="3087563" y="2651760"/>
            <a:ext cx="777240" cy="777240"/>
          </a:xfrm>
          <a:prstGeom prst="ellipse">
            <a:avLst/>
          </a:prstGeom>
          <a:solidFill>
            <a:schemeClr val="accent2"/>
          </a:solidFill>
          <a:ln/>
        </p:spPr>
      </p:sp>
      <p:pic>
        <p:nvPicPr>
          <p:cNvPr id="14" name="Move 2 icon" descr="Move 2">    </p:cNvPr>
          <p:cNvPicPr>
            <a:picLocks noChangeAspect="1"/>
          </p:cNvPicPr>
          <p:nvPr/>
        </p:nvPicPr>
        <p:blipFill>
          <a:blip r:embed="rId2"/>
          <a:stretch>
            <a:fillRect/>
          </a:stretch>
        </p:blipFill>
        <p:spPr>
          <a:xfrm>
            <a:off x="3274101" y="2838298"/>
            <a:ext cx="404165" cy="404165"/>
          </a:xfrm>
          <a:prstGeom prst="rect">
            <a:avLst/>
          </a:prstGeom>
        </p:spPr>
      </p:pic>
      <p:sp>
        <p:nvSpPr>
          <p:cNvPr id="15" name="Move 2 title"/>
          <p:cNvSpPr txBox="1"/>
          <p:nvPr/>
        </p:nvSpPr>
        <p:spPr>
          <a:xfrm>
            <a:off x="3087563" y="3657600"/>
            <a:ext cx="1578803" cy="731520"/>
          </a:xfrm>
          <a:prstGeom prst="rect">
            <a:avLst/>
          </a:prstGeom>
          <a:noFill/>
          <a:ln/>
        </p:spPr>
        <p:txBody>
          <a:bodyPr wrap="square" lIns="0" tIns="0" rIns="0" bIns="0" rtlCol="0" anchor="t"/>
          <a:lstStyle/>
          <a:p>
            <a:pPr indent="0" marL="0">
              <a:buNone/>
            </a:pPr>
            <a:r>
              <a:rPr lang="en-US" sz="1900" b="1" dirty="0">
                <a:solidFill>
                  <a:schemeClr val="bg1"/>
                </a:solidFill>
              </a:rPr>
              <a:t>Enter at 1,000 SDG</a:t>
            </a:r>
            <a:endParaRPr lang="en-US" sz="1900" dirty="0"/>
          </a:p>
        </p:txBody>
      </p:sp>
      <p:sp>
        <p:nvSpPr>
          <p:cNvPr id="16" name="Move 2 detail"/>
          <p:cNvSpPr txBox="1"/>
          <p:nvPr/>
        </p:nvSpPr>
        <p:spPr>
          <a:xfrm>
            <a:off x="3087563" y="4434840"/>
            <a:ext cx="1578803" cy="1371600"/>
          </a:xfrm>
          <a:prstGeom prst="rect">
            <a:avLst/>
          </a:prstGeom>
          <a:noFill/>
          <a:ln/>
        </p:spPr>
        <p:txBody>
          <a:bodyPr wrap="square" lIns="0" tIns="0" rIns="0" bIns="0" rtlCol="0" anchor="t"/>
          <a:lstStyle/>
          <a:p>
            <a:pPr indent="0" marL="0">
              <a:buNone/>
            </a:pPr>
            <a:r>
              <a:rPr lang="en-US" sz="1500" dirty="0">
                <a:solidFill>
                  <a:schemeClr val="bg1"/>
                </a:solidFill>
              </a:rPr>
              <a:t>Penetration pricing, with student and multipack discounts.</a:t>
            </a:r>
            <a:endParaRPr lang="en-US" sz="1500" dirty="0"/>
          </a:p>
        </p:txBody>
      </p:sp>
      <p:sp>
        <p:nvSpPr>
          <p:cNvPr id="17" name="Move 3 card"/>
          <p:cNvSpPr/>
          <p:nvPr/>
        </p:nvSpPr>
        <p:spPr>
          <a:xfrm>
            <a:off x="5077846" y="1874520"/>
            <a:ext cx="2036003" cy="4069080"/>
          </a:xfrm>
          <a:prstGeom prst="roundRect">
            <a:avLst>
              <a:gd name="adj" fmla="val 8084"/>
            </a:avLst>
          </a:prstGeom>
          <a:solidFill>
            <a:schemeClr val="bg1">
              <a:alpha val="10000"/>
            </a:schemeClr>
          </a:solidFill>
          <a:ln/>
        </p:spPr>
      </p:sp>
      <p:sp>
        <p:nvSpPr>
          <p:cNvPr id="18" name="Move 3 number"/>
          <p:cNvSpPr txBox="1"/>
          <p:nvPr/>
        </p:nvSpPr>
        <p:spPr>
          <a:xfrm>
            <a:off x="5352166" y="2148840"/>
            <a:ext cx="914400" cy="411480"/>
          </a:xfrm>
          <a:prstGeom prst="rect">
            <a:avLst/>
          </a:prstGeom>
          <a:noFill/>
          <a:ln/>
        </p:spPr>
        <p:txBody>
          <a:bodyPr wrap="square" lIns="0" tIns="0" rIns="0" bIns="0" rtlCol="0" anchor="t"/>
          <a:lstStyle/>
          <a:p>
            <a:pPr indent="0" marL="0">
              <a:buNone/>
            </a:pPr>
            <a:r>
              <a:rPr lang="en-US" sz="1600" b="1" dirty="0">
                <a:solidFill>
                  <a:schemeClr val="accent3"/>
                </a:solidFill>
              </a:rPr>
              <a:t>03</a:t>
            </a:r>
            <a:endParaRPr lang="en-US" sz="1600" dirty="0"/>
          </a:p>
        </p:txBody>
      </p:sp>
      <p:sp>
        <p:nvSpPr>
          <p:cNvPr id="19" name="Move 3 circle"/>
          <p:cNvSpPr/>
          <p:nvPr/>
        </p:nvSpPr>
        <p:spPr>
          <a:xfrm>
            <a:off x="5352166" y="2651760"/>
            <a:ext cx="777240" cy="777240"/>
          </a:xfrm>
          <a:prstGeom prst="ellipse">
            <a:avLst/>
          </a:prstGeom>
          <a:solidFill>
            <a:schemeClr val="accent3"/>
          </a:solidFill>
          <a:ln/>
        </p:spPr>
      </p:sp>
      <p:pic>
        <p:nvPicPr>
          <p:cNvPr id="20" name="Move 3 icon" descr="Move 3">    </p:cNvPr>
          <p:cNvPicPr>
            <a:picLocks noChangeAspect="1"/>
          </p:cNvPicPr>
          <p:nvPr/>
        </p:nvPicPr>
        <p:blipFill>
          <a:blip r:embed="rId3"/>
          <a:stretch>
            <a:fillRect/>
          </a:stretch>
        </p:blipFill>
        <p:spPr>
          <a:xfrm>
            <a:off x="5538704" y="2838298"/>
            <a:ext cx="404165" cy="404165"/>
          </a:xfrm>
          <a:prstGeom prst="rect">
            <a:avLst/>
          </a:prstGeom>
        </p:spPr>
      </p:pic>
      <p:sp>
        <p:nvSpPr>
          <p:cNvPr id="21" name="Move 3 title"/>
          <p:cNvSpPr txBox="1"/>
          <p:nvPr/>
        </p:nvSpPr>
        <p:spPr>
          <a:xfrm>
            <a:off x="5352166" y="3657600"/>
            <a:ext cx="1578803" cy="731520"/>
          </a:xfrm>
          <a:prstGeom prst="rect">
            <a:avLst/>
          </a:prstGeom>
          <a:noFill/>
          <a:ln/>
        </p:spPr>
        <p:txBody>
          <a:bodyPr wrap="square" lIns="0" tIns="0" rIns="0" bIns="0" rtlCol="0" anchor="t"/>
          <a:lstStyle/>
          <a:p>
            <a:pPr indent="0" marL="0">
              <a:buNone/>
            </a:pPr>
            <a:r>
              <a:rPr lang="en-US" sz="1900" b="1" dirty="0">
                <a:solidFill>
                  <a:schemeClr val="bg1"/>
                </a:solidFill>
              </a:rPr>
              <a:t>Drive trial</a:t>
            </a:r>
            <a:endParaRPr lang="en-US" sz="1900" dirty="0"/>
          </a:p>
        </p:txBody>
      </p:sp>
      <p:sp>
        <p:nvSpPr>
          <p:cNvPr id="22" name="Move 3 detail"/>
          <p:cNvSpPr txBox="1"/>
          <p:nvPr/>
        </p:nvSpPr>
        <p:spPr>
          <a:xfrm>
            <a:off x="5352166" y="4434840"/>
            <a:ext cx="1578803" cy="1371600"/>
          </a:xfrm>
          <a:prstGeom prst="rect">
            <a:avLst/>
          </a:prstGeom>
          <a:noFill/>
          <a:ln/>
        </p:spPr>
        <p:txBody>
          <a:bodyPr wrap="square" lIns="0" tIns="0" rIns="0" bIns="0" rtlCol="0" anchor="t"/>
          <a:lstStyle/>
          <a:p>
            <a:pPr indent="0" marL="0">
              <a:buNone/>
            </a:pPr>
            <a:r>
              <a:rPr lang="en-US" sz="1500" dirty="0">
                <a:solidFill>
                  <a:schemeClr val="bg1"/>
                </a:solidFill>
              </a:rPr>
              <a:t>Free samples, influencer reviews and social media advertising.</a:t>
            </a:r>
            <a:endParaRPr lang="en-US" sz="1500" dirty="0"/>
          </a:p>
        </p:txBody>
      </p:sp>
      <p:sp>
        <p:nvSpPr>
          <p:cNvPr id="23" name="Move 4 card"/>
          <p:cNvSpPr/>
          <p:nvPr/>
        </p:nvSpPr>
        <p:spPr>
          <a:xfrm>
            <a:off x="7342449" y="1874520"/>
            <a:ext cx="2036003" cy="4069080"/>
          </a:xfrm>
          <a:prstGeom prst="roundRect">
            <a:avLst>
              <a:gd name="adj" fmla="val 8084"/>
            </a:avLst>
          </a:prstGeom>
          <a:solidFill>
            <a:schemeClr val="bg1">
              <a:alpha val="10000"/>
            </a:schemeClr>
          </a:solidFill>
          <a:ln/>
        </p:spPr>
      </p:sp>
      <p:sp>
        <p:nvSpPr>
          <p:cNvPr id="24" name="Move 4 number"/>
          <p:cNvSpPr txBox="1"/>
          <p:nvPr/>
        </p:nvSpPr>
        <p:spPr>
          <a:xfrm>
            <a:off x="7616769" y="2148840"/>
            <a:ext cx="914400" cy="411480"/>
          </a:xfrm>
          <a:prstGeom prst="rect">
            <a:avLst/>
          </a:prstGeom>
          <a:noFill/>
          <a:ln/>
        </p:spPr>
        <p:txBody>
          <a:bodyPr wrap="square" lIns="0" tIns="0" rIns="0" bIns="0" rtlCol="0" anchor="t"/>
          <a:lstStyle/>
          <a:p>
            <a:pPr indent="0" marL="0">
              <a:buNone/>
            </a:pPr>
            <a:r>
              <a:rPr lang="en-US" sz="1600" b="1" dirty="0">
                <a:solidFill>
                  <a:schemeClr val="accent3"/>
                </a:solidFill>
              </a:rPr>
              <a:t>04</a:t>
            </a:r>
            <a:endParaRPr lang="en-US" sz="1600" dirty="0"/>
          </a:p>
        </p:txBody>
      </p:sp>
      <p:sp>
        <p:nvSpPr>
          <p:cNvPr id="25" name="Move 4 circle"/>
          <p:cNvSpPr/>
          <p:nvPr/>
        </p:nvSpPr>
        <p:spPr>
          <a:xfrm>
            <a:off x="7616769" y="2651760"/>
            <a:ext cx="777240" cy="777240"/>
          </a:xfrm>
          <a:prstGeom prst="ellipse">
            <a:avLst/>
          </a:prstGeom>
          <a:solidFill>
            <a:schemeClr val="accent4"/>
          </a:solidFill>
          <a:ln/>
        </p:spPr>
      </p:sp>
      <p:pic>
        <p:nvPicPr>
          <p:cNvPr id="26" name="Move 4 icon" descr="Move 4">    </p:cNvPr>
          <p:cNvPicPr>
            <a:picLocks noChangeAspect="1"/>
          </p:cNvPicPr>
          <p:nvPr/>
        </p:nvPicPr>
        <p:blipFill>
          <a:blip r:embed="rId4"/>
          <a:stretch>
            <a:fillRect/>
          </a:stretch>
        </p:blipFill>
        <p:spPr>
          <a:xfrm>
            <a:off x="7803307" y="2838298"/>
            <a:ext cx="404165" cy="404165"/>
          </a:xfrm>
          <a:prstGeom prst="rect">
            <a:avLst/>
          </a:prstGeom>
        </p:spPr>
      </p:pic>
      <p:sp>
        <p:nvSpPr>
          <p:cNvPr id="27" name="Move 4 title"/>
          <p:cNvSpPr txBox="1"/>
          <p:nvPr/>
        </p:nvSpPr>
        <p:spPr>
          <a:xfrm>
            <a:off x="7616769" y="3657600"/>
            <a:ext cx="1578803" cy="731520"/>
          </a:xfrm>
          <a:prstGeom prst="rect">
            <a:avLst/>
          </a:prstGeom>
          <a:noFill/>
          <a:ln/>
        </p:spPr>
        <p:txBody>
          <a:bodyPr wrap="square" lIns="0" tIns="0" rIns="0" bIns="0" rtlCol="0" anchor="t"/>
          <a:lstStyle/>
          <a:p>
            <a:pPr indent="0" marL="0">
              <a:buNone/>
            </a:pPr>
            <a:r>
              <a:rPr lang="en-US" sz="1900" b="1" dirty="0">
                <a:solidFill>
                  <a:schemeClr val="bg1"/>
                </a:solidFill>
              </a:rPr>
              <a:t>Reward loyalty</a:t>
            </a:r>
            <a:endParaRPr lang="en-US" sz="1900" dirty="0"/>
          </a:p>
        </p:txBody>
      </p:sp>
      <p:sp>
        <p:nvSpPr>
          <p:cNvPr id="28" name="Move 4 detail"/>
          <p:cNvSpPr txBox="1"/>
          <p:nvPr/>
        </p:nvSpPr>
        <p:spPr>
          <a:xfrm>
            <a:off x="7616769" y="4434840"/>
            <a:ext cx="1578803" cy="1371600"/>
          </a:xfrm>
          <a:prstGeom prst="rect">
            <a:avLst/>
          </a:prstGeom>
          <a:noFill/>
          <a:ln/>
        </p:spPr>
        <p:txBody>
          <a:bodyPr wrap="square" lIns="0" tIns="0" rIns="0" bIns="0" rtlCol="0" anchor="t"/>
          <a:lstStyle/>
          <a:p>
            <a:pPr indent="0" marL="0">
              <a:buNone/>
            </a:pPr>
            <a:r>
              <a:rPr lang="en-US" sz="1500" dirty="0">
                <a:solidFill>
                  <a:schemeClr val="bg1"/>
                </a:solidFill>
              </a:rPr>
              <a:t>Buy 9, get 1 free, plus special offers for regular buyers.</a:t>
            </a:r>
            <a:endParaRPr lang="en-US" sz="1500" dirty="0"/>
          </a:p>
        </p:txBody>
      </p:sp>
      <p:sp>
        <p:nvSpPr>
          <p:cNvPr id="29" name="Move 5 card"/>
          <p:cNvSpPr/>
          <p:nvPr/>
        </p:nvSpPr>
        <p:spPr>
          <a:xfrm>
            <a:off x="9607052" y="1874520"/>
            <a:ext cx="2036003" cy="4069080"/>
          </a:xfrm>
          <a:prstGeom prst="roundRect">
            <a:avLst>
              <a:gd name="adj" fmla="val 8084"/>
            </a:avLst>
          </a:prstGeom>
          <a:solidFill>
            <a:schemeClr val="bg1">
              <a:alpha val="10000"/>
            </a:schemeClr>
          </a:solidFill>
          <a:ln/>
        </p:spPr>
      </p:sp>
      <p:sp>
        <p:nvSpPr>
          <p:cNvPr id="30" name="Move 5 number"/>
          <p:cNvSpPr txBox="1"/>
          <p:nvPr/>
        </p:nvSpPr>
        <p:spPr>
          <a:xfrm>
            <a:off x="9881372" y="2148840"/>
            <a:ext cx="914400" cy="411480"/>
          </a:xfrm>
          <a:prstGeom prst="rect">
            <a:avLst/>
          </a:prstGeom>
          <a:noFill/>
          <a:ln/>
        </p:spPr>
        <p:txBody>
          <a:bodyPr wrap="square" lIns="0" tIns="0" rIns="0" bIns="0" rtlCol="0" anchor="t"/>
          <a:lstStyle/>
          <a:p>
            <a:pPr indent="0" marL="0">
              <a:buNone/>
            </a:pPr>
            <a:r>
              <a:rPr lang="en-US" sz="1600" b="1" dirty="0">
                <a:solidFill>
                  <a:schemeClr val="accent3"/>
                </a:solidFill>
              </a:rPr>
              <a:t>05</a:t>
            </a:r>
            <a:endParaRPr lang="en-US" sz="1600" dirty="0"/>
          </a:p>
        </p:txBody>
      </p:sp>
      <p:sp>
        <p:nvSpPr>
          <p:cNvPr id="31" name="Move 5 circle"/>
          <p:cNvSpPr/>
          <p:nvPr/>
        </p:nvSpPr>
        <p:spPr>
          <a:xfrm>
            <a:off x="9881372" y="2651760"/>
            <a:ext cx="777240" cy="777240"/>
          </a:xfrm>
          <a:prstGeom prst="ellipse">
            <a:avLst/>
          </a:prstGeom>
          <a:solidFill>
            <a:schemeClr val="accent5"/>
          </a:solidFill>
          <a:ln/>
        </p:spPr>
      </p:sp>
      <p:pic>
        <p:nvPicPr>
          <p:cNvPr id="32" name="Move 5 icon" descr="Move 5">    </p:cNvPr>
          <p:cNvPicPr>
            <a:picLocks noChangeAspect="1"/>
          </p:cNvPicPr>
          <p:nvPr/>
        </p:nvPicPr>
        <p:blipFill>
          <a:blip r:embed="rId5"/>
          <a:stretch>
            <a:fillRect/>
          </a:stretch>
        </p:blipFill>
        <p:spPr>
          <a:xfrm>
            <a:off x="10067910" y="2838298"/>
            <a:ext cx="404165" cy="404165"/>
          </a:xfrm>
          <a:prstGeom prst="rect">
            <a:avLst/>
          </a:prstGeom>
        </p:spPr>
      </p:pic>
      <p:sp>
        <p:nvSpPr>
          <p:cNvPr id="33" name="Move 5 title"/>
          <p:cNvSpPr txBox="1"/>
          <p:nvPr/>
        </p:nvSpPr>
        <p:spPr>
          <a:xfrm>
            <a:off x="9881372" y="3657600"/>
            <a:ext cx="1578803" cy="731520"/>
          </a:xfrm>
          <a:prstGeom prst="rect">
            <a:avLst/>
          </a:prstGeom>
          <a:noFill/>
          <a:ln/>
        </p:spPr>
        <p:txBody>
          <a:bodyPr wrap="square" lIns="0" tIns="0" rIns="0" bIns="0" rtlCol="0" anchor="t"/>
          <a:lstStyle/>
          <a:p>
            <a:pPr indent="0" marL="0">
              <a:buNone/>
            </a:pPr>
            <a:r>
              <a:rPr lang="en-US" sz="1900" b="1" dirty="0">
                <a:solidFill>
                  <a:schemeClr val="bg1"/>
                </a:solidFill>
              </a:rPr>
              <a:t>Validate and improve</a:t>
            </a:r>
            <a:endParaRPr lang="en-US" sz="1900" dirty="0"/>
          </a:p>
        </p:txBody>
      </p:sp>
      <p:sp>
        <p:nvSpPr>
          <p:cNvPr id="34" name="Move 5 detail"/>
          <p:cNvSpPr txBox="1"/>
          <p:nvPr/>
        </p:nvSpPr>
        <p:spPr>
          <a:xfrm>
            <a:off x="9881372" y="4434840"/>
            <a:ext cx="1578803" cy="1371600"/>
          </a:xfrm>
          <a:prstGeom prst="rect">
            <a:avLst/>
          </a:prstGeom>
          <a:noFill/>
          <a:ln/>
        </p:spPr>
        <p:txBody>
          <a:bodyPr wrap="square" lIns="0" tIns="0" rIns="0" bIns="0" rtlCol="0" anchor="t"/>
          <a:lstStyle/>
          <a:p>
            <a:pPr indent="0" marL="0">
              <a:buNone/>
            </a:pPr>
            <a:r>
              <a:rPr lang="en-US" sz="1500" dirty="0">
                <a:solidFill>
                  <a:schemeClr val="bg1"/>
                </a:solidFill>
              </a:rPr>
              <a:t>Confirm market size with research. Use feedback for new flavors.</a:t>
            </a:r>
            <a:endParaRPr lang="en-US" sz="1500" dirty="0"/>
          </a:p>
        </p:txBody>
      </p:sp>
      <p:sp>
        <p:nvSpPr>
          <p:cNvPr id="25" name="Slide Number Placeholder 0"/>
          <p:cNvSpPr>
            <a:spLocks noGrp="1"/>
          </p:cNvSpPr>
          <p:nvPr>
            <p:ph type="sldNum" sz="quarter" idx="4294967295"/>
          </p:nvPr>
        </p:nvSpPr>
        <p:spPr>
          <a:xfrm>
            <a:off x="10911535" y="6364224"/>
            <a:ext cx="731520" cy="310896"/>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15</a:t>
            </a:fld>
            <a:endParaRPr lang="en-US"/>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Decor green"/>
          <p:cNvSpPr/>
          <p:nvPr/>
        </p:nvSpPr>
        <p:spPr>
          <a:xfrm>
            <a:off x="822960" y="731520"/>
            <a:ext cx="822960" cy="822960"/>
          </a:xfrm>
          <a:prstGeom prst="ellipse">
            <a:avLst/>
          </a:prstGeom>
          <a:solidFill>
            <a:schemeClr val="accent2"/>
          </a:solidFill>
          <a:ln/>
        </p:spPr>
      </p:sp>
      <p:sp>
        <p:nvSpPr>
          <p:cNvPr id="3" name="Decor berry"/>
          <p:cNvSpPr/>
          <p:nvPr/>
        </p:nvSpPr>
        <p:spPr>
          <a:xfrm>
            <a:off x="10698480" y="1005840"/>
            <a:ext cx="457200" cy="457200"/>
          </a:xfrm>
          <a:prstGeom prst="ellipse">
            <a:avLst/>
          </a:prstGeom>
          <a:solidFill>
            <a:schemeClr val="accent4"/>
          </a:solidFill>
          <a:ln/>
        </p:spPr>
      </p:sp>
      <p:sp>
        <p:nvSpPr>
          <p:cNvPr id="4" name="Decor yellow"/>
          <p:cNvSpPr/>
          <p:nvPr/>
        </p:nvSpPr>
        <p:spPr>
          <a:xfrm>
            <a:off x="10241280" y="5120640"/>
            <a:ext cx="1005840" cy="1005840"/>
          </a:xfrm>
          <a:prstGeom prst="ellipse">
            <a:avLst/>
          </a:prstGeom>
          <a:solidFill>
            <a:schemeClr val="accent3"/>
          </a:solidFill>
          <a:ln/>
        </p:spPr>
      </p:sp>
      <p:sp>
        <p:nvSpPr>
          <p:cNvPr id="5" name="Decor orange"/>
          <p:cNvSpPr/>
          <p:nvPr/>
        </p:nvSpPr>
        <p:spPr>
          <a:xfrm>
            <a:off x="1463040" y="5486400"/>
            <a:ext cx="274320" cy="274320"/>
          </a:xfrm>
          <a:prstGeom prst="ellipse">
            <a:avLst/>
          </a:prstGeom>
          <a:solidFill>
            <a:schemeClr val="accent1"/>
          </a:solidFill>
          <a:ln/>
        </p:spPr>
      </p:sp>
      <p:pic>
        <p:nvPicPr>
          <p:cNvPr id="6" name="FitBite logo" descr="FitBite healthy snack logo">    </p:cNvPr>
          <p:cNvPicPr>
            <a:picLocks noChangeAspect="1"/>
          </p:cNvPicPr>
          <p:nvPr/>
        </p:nvPicPr>
        <p:blipFill>
          <a:blip r:embed="rId1"/>
          <a:stretch>
            <a:fillRect/>
          </a:stretch>
        </p:blipFill>
        <p:spPr>
          <a:xfrm>
            <a:off x="4449928" y="1188720"/>
            <a:ext cx="3291840" cy="2896819"/>
          </a:xfrm>
          <a:prstGeom prst="rect">
            <a:avLst/>
          </a:prstGeom>
        </p:spPr>
      </p:pic>
      <p:sp>
        <p:nvSpPr>
          <p:cNvPr id="7" name="Closing tagline"/>
          <p:cNvSpPr txBox="1"/>
          <p:nvPr/>
        </p:nvSpPr>
        <p:spPr>
          <a:xfrm>
            <a:off x="1371600" y="4389120"/>
            <a:ext cx="9448495" cy="640080"/>
          </a:xfrm>
          <a:prstGeom prst="rect">
            <a:avLst/>
          </a:prstGeom>
          <a:noFill/>
          <a:ln/>
        </p:spPr>
        <p:txBody>
          <a:bodyPr wrap="square" lIns="0" tIns="0" rIns="0" bIns="0" rtlCol="0" anchor="t"/>
          <a:lstStyle/>
          <a:p>
            <a:pPr algn="ctr" indent="0" marL="0">
              <a:buNone/>
            </a:pPr>
            <a:r>
              <a:rPr lang="en-US" sz="2800" b="1" dirty="0">
                <a:solidFill>
                  <a:schemeClr val="bg1"/>
                </a:solidFill>
              </a:rPr>
              <a:t>Great Taste, Convenient Energy, Ready for Your Day!</a:t>
            </a:r>
            <a:endParaRPr lang="en-US" sz="2800" dirty="0"/>
          </a:p>
        </p:txBody>
      </p:sp>
      <p:sp>
        <p:nvSpPr>
          <p:cNvPr id="8" name="Closing thanks"/>
          <p:cNvSpPr txBox="1"/>
          <p:nvPr/>
        </p:nvSpPr>
        <p:spPr>
          <a:xfrm>
            <a:off x="1371600" y="5120640"/>
            <a:ext cx="9448495" cy="457200"/>
          </a:xfrm>
          <a:prstGeom prst="rect">
            <a:avLst/>
          </a:prstGeom>
          <a:noFill/>
          <a:ln/>
        </p:spPr>
        <p:txBody>
          <a:bodyPr wrap="square" lIns="0" tIns="0" rIns="0" bIns="0" rtlCol="0" anchor="t"/>
          <a:lstStyle/>
          <a:p>
            <a:pPr algn="ctr" indent="0" marL="0">
              <a:buNone/>
            </a:pPr>
            <a:r>
              <a:rPr lang="en-US" sz="1800" dirty="0">
                <a:solidFill>
                  <a:schemeClr val="accent3"/>
                </a:solidFill>
              </a:rPr>
              <a:t>Thank you  ·  Questions and discussion</a:t>
            </a:r>
            <a:endParaRPr lang="en-US" sz="1800" dirty="0"/>
          </a:p>
        </p:txBody>
      </p:sp>
    </p:spTree>
  </p:cSld>
  <p:clrMapOvr>
    <a:masterClrMapping/>
  </p:clrMapOvr>
  <p:transition spd="slow">
    <p:fade/>
  </p:transition>
</p:sld>
</file>

<file path=ppt/theme/theme1.xml><?xml version="1.0" encoding="utf-8"?>
<a:theme xmlns:a="http://schemas.openxmlformats.org/drawingml/2006/main" name="FitBite">
  <a:themeElements>
    <a:clrScheme name="FitBite">
      <a:dk1>
        <a:srgbClr val="1E2B25"/>
      </a:dk1>
      <a:lt1>
        <a:srgbClr val="FFFFFF"/>
      </a:lt1>
      <a:dk2>
        <a:srgbClr val="0E3B2E"/>
      </a:dk2>
      <a:lt2>
        <a:srgbClr val="F2F6F3"/>
      </a:lt2>
      <a:accent1>
        <a:srgbClr val="FF7A1A"/>
      </a:accent1>
      <a:accent2>
        <a:srgbClr val="2E9E5B"/>
      </a:accent2>
      <a:accent3>
        <a:srgbClr val="FFC23C"/>
      </a:accent3>
      <a:accent4>
        <a:srgbClr val="E94F6E"/>
      </a:accent4>
      <a:accent5>
        <a:srgbClr val="1A9A93"/>
      </a:accent5>
      <a:accent6>
        <a:srgbClr val="5E6E66"/>
      </a:accent6>
      <a:hlink>
        <a:srgbClr val="1A9A93"/>
      </a:hlink>
      <a:folHlink>
        <a:srgbClr val="5E6E66"/>
      </a:folHlink>
    </a:clrScheme>
    <a:fontScheme name="FitB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FitBite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FitBite Healthy Snack: Marketing Strategy</dc:title>
  <dc:subject>Marketing strategy for FitBite Healthy Snack</dc:subject>
  <dc:creator>FitBite</dc:creator>
  <cp:lastModifiedBy>FitBite</cp:lastModifiedBy>
  <cp:revision>1</cp:revision>
  <dcterms:created xsi:type="dcterms:W3CDTF">2026-10-16T19:58:11Z</dcterms:created>
  <dcterms:modified xsi:type="dcterms:W3CDTF">2026-10-16T19:58:11Z</dcterms:modified>
</cp:coreProperties>
</file>